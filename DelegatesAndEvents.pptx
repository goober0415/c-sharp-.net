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4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  <p:sldMasterId id="2147483856" r:id="rId2"/>
    <p:sldMasterId id="2147483873" r:id="rId3"/>
    <p:sldMasterId id="2147483897" r:id="rId4"/>
    <p:sldMasterId id="2147483916" r:id="rId5"/>
  </p:sldMasterIdLst>
  <p:notesMasterIdLst>
    <p:notesMasterId r:id="rId21"/>
  </p:notesMasterIdLst>
  <p:sldIdLst>
    <p:sldId id="778" r:id="rId6"/>
    <p:sldId id="877" r:id="rId7"/>
    <p:sldId id="876" r:id="rId8"/>
    <p:sldId id="885" r:id="rId9"/>
    <p:sldId id="886" r:id="rId10"/>
    <p:sldId id="662" r:id="rId11"/>
    <p:sldId id="663" r:id="rId12"/>
    <p:sldId id="888" r:id="rId13"/>
    <p:sldId id="665" r:id="rId14"/>
    <p:sldId id="666" r:id="rId15"/>
    <p:sldId id="798" r:id="rId16"/>
    <p:sldId id="891" r:id="rId17"/>
    <p:sldId id="889" r:id="rId18"/>
    <p:sldId id="890" r:id="rId19"/>
    <p:sldId id="887" r:id="rId2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4E50839-FA0A-4F77-9FD1-47CA1D4522DD}">
          <p14:sldIdLst>
            <p14:sldId id="778"/>
            <p14:sldId id="877"/>
          </p14:sldIdLst>
        </p14:section>
        <p14:section name="Delegates" id="{68AF504E-A8CF-434C-94D3-098D5108C2F3}">
          <p14:sldIdLst>
            <p14:sldId id="876"/>
            <p14:sldId id="885"/>
            <p14:sldId id="886"/>
            <p14:sldId id="662"/>
            <p14:sldId id="663"/>
            <p14:sldId id="888"/>
            <p14:sldId id="665"/>
            <p14:sldId id="666"/>
            <p14:sldId id="798"/>
          </p14:sldIdLst>
        </p14:section>
        <p14:section name="Lambda Expressions" id="{58F0336F-28F3-4A50-9AD6-C3B824039C8E}">
          <p14:sldIdLst>
            <p14:sldId id="891"/>
            <p14:sldId id="889"/>
          </p14:sldIdLst>
        </p14:section>
        <p14:section name="Demo" id="{5B0EE20D-46A7-4E33-9967-3BF62E9EF123}">
          <p14:sldIdLst>
            <p14:sldId id="890"/>
          </p14:sldIdLst>
        </p14:section>
        <p14:section name="Summary" id="{CA2F4E2B-99D8-43C8-8F75-A9A3328C5C7C}">
          <p14:sldIdLst>
            <p14:sldId id="8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3366"/>
    <a:srgbClr val="663300"/>
    <a:srgbClr val="000000"/>
    <a:srgbClr val="669900"/>
    <a:srgbClr val="FFCC00"/>
    <a:srgbClr val="FFFF00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6" autoAdjust="0"/>
    <p:restoredTop sz="86384" autoAdjust="0"/>
  </p:normalViewPr>
  <p:slideViewPr>
    <p:cSldViewPr>
      <p:cViewPr varScale="1">
        <p:scale>
          <a:sx n="56" d="100"/>
          <a:sy n="56" d="100"/>
        </p:scale>
        <p:origin x="24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64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15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F32E2AD-656C-4895-AADC-8232F1D704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687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9A1A1777-47F0-4220-9122-7B73122571C8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341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0E85C6C7-8137-4C26-AD46-81B113738D91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3419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BDFA2829-6745-4C3F-A9FD-064CF385A5E6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9576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00F63428-EAB2-4598-8D3C-3CEA8F1D677B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621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FD77094-1169-47A2-A83F-7B527099D9B8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1301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129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5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1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6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8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8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10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3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350" smtClean="0"/>
              <a:pPr eaLnBrk="1" hangingPunct="1"/>
              <a:t>‹#›</a:t>
            </a:fld>
            <a:endParaRPr lang="en-US" sz="135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900905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6986174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2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35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C# Programming: From Problem Analysis to Program Design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347CE-C4F6-46CF-98E5-A2F239AC673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830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6232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25538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3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3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5660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8932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60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ü"/>
              <a:defRPr/>
            </a:lvl1pPr>
            <a:lvl2pPr marL="557213" indent="-214313">
              <a:buFont typeface="Wingdings" panose="05000000000000000000" pitchFamily="2" charset="2"/>
              <a:buChar char="ü"/>
              <a:defRPr/>
            </a:lvl2pPr>
            <a:lvl3pPr marL="857250" indent="-171450">
              <a:buFont typeface="Wingdings" panose="05000000000000000000" pitchFamily="2" charset="2"/>
              <a:buChar char="ü"/>
              <a:defRPr/>
            </a:lvl3pPr>
            <a:lvl4pPr marL="1200150" indent="-171450">
              <a:buFont typeface="Wingdings" panose="05000000000000000000" pitchFamily="2" charset="2"/>
              <a:buChar char="ü"/>
              <a:defRPr/>
            </a:lvl4pPr>
            <a:lvl5pPr marL="1543050" indent="-1714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AD347D-5ACD-4C99-B74B-A9C85AD731AF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2733262743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1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29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6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434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917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AD347D-5ACD-4C99-B74B-A9C85AD731AF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3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350" smtClean="0"/>
              <a:pPr eaLnBrk="1" hangingPunct="1"/>
              <a:t>‹#›</a:t>
            </a:fld>
            <a:endParaRPr lang="en-US" sz="135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9237497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AD347D-5ACD-4C99-B74B-A9C85AD731AF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702933956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139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311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C# Programming: From Problem Analysis to Program Design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347CE-C4F6-46CF-98E5-A2F239AC673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091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AD347D-5ACD-4C99-B74B-A9C85AD731AF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048488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AD347D-5ACD-4C99-B74B-A9C85AD731AF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151790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3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3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468514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15246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733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ü"/>
              <a:defRPr/>
            </a:lvl1pPr>
            <a:lvl2pPr marL="557213" indent="-214313">
              <a:buFont typeface="Wingdings" panose="05000000000000000000" pitchFamily="2" charset="2"/>
              <a:buChar char="ü"/>
              <a:defRPr/>
            </a:lvl2pPr>
            <a:lvl3pPr marL="857250" indent="-171450">
              <a:buFont typeface="Wingdings" panose="05000000000000000000" pitchFamily="2" charset="2"/>
              <a:buChar char="ü"/>
              <a:defRPr/>
            </a:lvl3pPr>
            <a:lvl4pPr marL="1200150" indent="-171450">
              <a:buFont typeface="Wingdings" panose="05000000000000000000" pitchFamily="2" charset="2"/>
              <a:buChar char="ü"/>
              <a:defRPr/>
            </a:lvl4pPr>
            <a:lvl5pPr marL="1543050" indent="-1714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AD347D-5ACD-4C99-B74B-A9C85AD731AF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3650875118"/>
      </p:ext>
    </p:extLst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016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26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823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528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783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AD347D-5ACD-4C99-B74B-A9C85AD731AF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3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350" smtClean="0"/>
              <a:pPr eaLnBrk="1" hangingPunct="1"/>
              <a:t>‹#›</a:t>
            </a:fld>
            <a:endParaRPr lang="en-US" sz="135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2331652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AD347D-5ACD-4C99-B74B-A9C85AD731AF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282667212"/>
      </p:ext>
    </p:extLst>
  </p:cSld>
  <p:clrMapOvr>
    <a:masterClrMapping/>
  </p:clrMapOvr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631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329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C# Programming: From Problem Analysis to Program Design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347CE-C4F6-46CF-98E5-A2F239AC673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3443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AD347D-5ACD-4C99-B74B-A9C85AD731AF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8333"/>
      </p:ext>
    </p:extLst>
  </p:cSld>
  <p:clrMapOvr>
    <a:masterClrMapping/>
  </p:clrMapOvr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AD347D-5ACD-4C99-B74B-A9C85AD731AF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116406"/>
      </p:ext>
    </p:extLst>
  </p:cSld>
  <p:clrMapOvr>
    <a:masterClrMapping/>
  </p:clrMapOvr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3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3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64862"/>
      </p:ext>
    </p:extLst>
  </p:cSld>
  <p:clrMapOvr>
    <a:masterClrMapping/>
  </p:clrMapOvr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7" y="6176963"/>
            <a:ext cx="1039706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www.socrative.com</a:t>
            </a:r>
            <a:r>
              <a:rPr lang="en-US" sz="2400" dirty="0"/>
              <a:t> and log into </a:t>
            </a:r>
            <a:r>
              <a:rPr lang="en-US" sz="2400" dirty="0" err="1"/>
              <a:t>CNMRobGarner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09953185"/>
      </p:ext>
    </p:extLst>
  </p:cSld>
  <p:clrMapOvr>
    <a:masterClrMapping/>
  </p:clrMapOvr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7" y="6176963"/>
            <a:ext cx="1039706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www.socrative.com</a:t>
            </a:r>
            <a:r>
              <a:rPr lang="en-US" sz="2400" dirty="0"/>
              <a:t> and log into </a:t>
            </a:r>
            <a:r>
              <a:rPr lang="en-US" sz="2400" dirty="0" err="1"/>
              <a:t>CNMRobGarner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53149461"/>
      </p:ext>
    </p:extLst>
  </p:cSld>
  <p:clrMapOvr>
    <a:masterClrMapping/>
  </p:clrMapOvr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7" y="6176963"/>
            <a:ext cx="1039706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www.socrative.com</a:t>
            </a:r>
            <a:r>
              <a:rPr lang="en-US" sz="2400" dirty="0"/>
              <a:t> and log into </a:t>
            </a:r>
            <a:r>
              <a:rPr lang="en-US" sz="2400" dirty="0" err="1"/>
              <a:t>CNMRobGarner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8410971"/>
      </p:ext>
    </p:extLst>
  </p:cSld>
  <p:clrMapOvr>
    <a:masterClrMapping/>
  </p:clrMapOvr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7" y="6176963"/>
            <a:ext cx="1039706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www.socrative.com</a:t>
            </a:r>
            <a:r>
              <a:rPr lang="en-US" sz="2400" dirty="0"/>
              <a:t> and log into </a:t>
            </a:r>
            <a:r>
              <a:rPr lang="en-US" sz="2400" dirty="0" err="1"/>
              <a:t>CNMRobGarner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8207798"/>
      </p:ext>
    </p:extLst>
  </p:cSld>
  <p:clrMapOvr>
    <a:masterClrMapping/>
  </p:clrMapOvr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7" y="6176963"/>
            <a:ext cx="1039706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www.socrative.com</a:t>
            </a:r>
            <a:r>
              <a:rPr lang="en-US" sz="2400" dirty="0"/>
              <a:t> and log into </a:t>
            </a:r>
            <a:r>
              <a:rPr lang="en-US" sz="2400" dirty="0" err="1"/>
              <a:t>CNMRobGarner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1747709"/>
      </p:ext>
    </p:extLst>
  </p:cSld>
  <p:clrMapOvr>
    <a:masterClrMapping/>
  </p:clrMapOvr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7" y="6176963"/>
            <a:ext cx="1039706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www.socrative.com</a:t>
            </a:r>
            <a:r>
              <a:rPr lang="en-US" sz="2400" dirty="0"/>
              <a:t> and log into </a:t>
            </a:r>
            <a:r>
              <a:rPr lang="en-US" sz="2400" dirty="0" err="1"/>
              <a:t>CNMRobGarner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47388433"/>
      </p:ext>
    </p:extLst>
  </p:cSld>
  <p:clrMapOvr>
    <a:masterClrMapping/>
  </p:clrMapOvr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7" y="6176963"/>
            <a:ext cx="1039706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www.socrative.com</a:t>
            </a:r>
            <a:r>
              <a:rPr lang="en-US" sz="2400" dirty="0"/>
              <a:t> and log into </a:t>
            </a:r>
            <a:r>
              <a:rPr lang="en-US" sz="2400" dirty="0" err="1"/>
              <a:t>CNMRobGarner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0220314"/>
      </p:ext>
    </p:extLst>
  </p:cSld>
  <p:clrMapOvr>
    <a:masterClrMapping/>
  </p:clrMapOvr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598258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4223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ü"/>
              <a:defRPr/>
            </a:lvl1pPr>
            <a:lvl2pPr marL="557213" indent="-214313">
              <a:buFont typeface="Wingdings" panose="05000000000000000000" pitchFamily="2" charset="2"/>
              <a:buChar char="ü"/>
              <a:defRPr/>
            </a:lvl2pPr>
            <a:lvl3pPr marL="857250" indent="-171450">
              <a:buFont typeface="Wingdings" panose="05000000000000000000" pitchFamily="2" charset="2"/>
              <a:buChar char="ü"/>
              <a:defRPr/>
            </a:lvl3pPr>
            <a:lvl4pPr marL="1200150" indent="-171450">
              <a:buFont typeface="Wingdings" panose="05000000000000000000" pitchFamily="2" charset="2"/>
              <a:buChar char="ü"/>
              <a:defRPr/>
            </a:lvl4pPr>
            <a:lvl5pPr marL="1543050" indent="-1714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3515651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913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6628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127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434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2003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3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350" smtClean="0"/>
              <a:pPr eaLnBrk="1" hangingPunct="1"/>
              <a:t>‹#›</a:t>
            </a:fld>
            <a:endParaRPr lang="en-US" sz="135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91944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75847560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060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232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C# Programming: From Problem Analysis to Program Design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6A073-DECD-4DBA-98A6-0C311E541EB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2802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171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772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3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3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0852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26545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125" dirty="0"/>
              <a:t>Go to </a:t>
            </a:r>
            <a:r>
              <a:rPr lang="en-US" sz="1125" dirty="0">
                <a:hlinkClick r:id="rId2"/>
              </a:rPr>
              <a:t>www.socrative.com</a:t>
            </a:r>
            <a:r>
              <a:rPr lang="en-US" sz="1125" dirty="0"/>
              <a:t> and log into &lt;instructor</a:t>
            </a:r>
            <a:r>
              <a:rPr lang="en-US" sz="1125" baseline="0" dirty="0"/>
              <a:t> account name&gt;</a:t>
            </a:r>
            <a:endParaRPr lang="en-US" sz="1125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02771512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467" y="6176963"/>
            <a:ext cx="1039706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www.socrative.com</a:t>
            </a:r>
            <a:r>
              <a:rPr lang="en-US" sz="2400" dirty="0"/>
              <a:t> and log into </a:t>
            </a:r>
            <a:r>
              <a:rPr lang="en-US" sz="2400" dirty="0" err="1"/>
              <a:t>CNMRobGarner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24947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5"/>
            <a:ext cx="10058400" cy="2593975"/>
          </a:xfrm>
        </p:spPr>
        <p:txBody>
          <a:bodyPr anchor="b"/>
          <a:lstStyle>
            <a:lvl1pPr>
              <a:defRPr sz="44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07848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4872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0"/>
            <a:ext cx="10212916" cy="1168400"/>
          </a:xfrm>
        </p:spPr>
        <p:txBody>
          <a:bodyPr anchor="t"/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3"/>
            <a:ext cx="8180916" cy="16335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489540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90188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700295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935044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95767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1379200" cy="594360"/>
          </a:xfrm>
        </p:spPr>
        <p:txBody>
          <a:bodyPr anchor="b"/>
          <a:lstStyle>
            <a:lvl1pPr algn="ctr">
              <a:defRPr sz="1238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2" y="6096000"/>
            <a:ext cx="11379201" cy="609600"/>
          </a:xfr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1379200" cy="49428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50469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70" y="1584960"/>
            <a:ext cx="2438399" cy="487680"/>
          </a:xfrm>
          <a:prstGeom prst="rect">
            <a:avLst/>
          </a:prstGeom>
        </p:spPr>
        <p:txBody>
          <a:bodyPr/>
          <a:lstStyle/>
          <a:p>
            <a:fld id="{6F8B1E7F-8A42-40E4-9CF3-CF643FA4249D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10510429" y="3987800"/>
            <a:ext cx="2367281" cy="4876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01E7E831-D999-4C39-9960-F100EE735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9240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www.socrative.com</a:t>
            </a:r>
            <a:r>
              <a:rPr lang="en-US" sz="2400" dirty="0"/>
              <a:t> and log into CNMROBGARNER</a:t>
            </a:r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80259368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350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C# Programming: From Problem Analysis to Program Design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6A073-DECD-4DBA-98A6-0C311E541EB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6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stemulus_cnm_logos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5833244"/>
            <a:ext cx="10961801" cy="85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31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ts val="0"/>
        </a:spcBef>
        <a:spcAft>
          <a:spcPts val="90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ts val="0"/>
        </a:spcBef>
        <a:spcAft>
          <a:spcPts val="90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ts val="0"/>
        </a:spcBef>
        <a:spcAft>
          <a:spcPts val="90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ts val="0"/>
        </a:spcBef>
        <a:spcAft>
          <a:spcPts val="90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ts val="0"/>
        </a:spcBef>
        <a:spcAft>
          <a:spcPts val="90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8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Slides based on material from:</a:t>
            </a:r>
            <a:r>
              <a:rPr lang="en-US" sz="1050" baseline="0" dirty="0"/>
              <a:t> </a:t>
            </a:r>
            <a:r>
              <a:rPr lang="en-US" sz="1050" u="sng" dirty="0"/>
              <a:t>Professional C# 5.0 and .NET 4.5.1.</a:t>
            </a:r>
            <a:r>
              <a:rPr lang="en-US" sz="1050" u="none" dirty="0"/>
              <a:t> Nagel,</a:t>
            </a:r>
            <a:r>
              <a:rPr lang="en-US" sz="105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80472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8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Slides based on material from:</a:t>
            </a:r>
            <a:r>
              <a:rPr lang="en-US" sz="1050" baseline="0" dirty="0"/>
              <a:t> </a:t>
            </a:r>
            <a:r>
              <a:rPr lang="en-US" sz="1050" u="sng" dirty="0"/>
              <a:t>Professional C# 5.0 and .NET 4.5.1.</a:t>
            </a:r>
            <a:r>
              <a:rPr lang="en-US" sz="1050" u="none" dirty="0"/>
              <a:t> Nagel,</a:t>
            </a:r>
            <a:r>
              <a:rPr lang="en-US" sz="105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892963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888" r:id="rId15"/>
    <p:sldLayoutId id="2147483889" r:id="rId16"/>
    <p:sldLayoutId id="2147483890" r:id="rId17"/>
    <p:sldLayoutId id="2147483891" r:id="rId18"/>
    <p:sldLayoutId id="2147483892" r:id="rId19"/>
    <p:sldLayoutId id="2147483893" r:id="rId20"/>
    <p:sldLayoutId id="2147483894" r:id="rId21"/>
    <p:sldLayoutId id="2147483895" r:id="rId22"/>
    <p:sldLayoutId id="2147483896" r:id="rId2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8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Slides based on material from:</a:t>
            </a:r>
            <a:r>
              <a:rPr lang="en-US" sz="1050" baseline="0" dirty="0"/>
              <a:t> </a:t>
            </a:r>
            <a:r>
              <a:rPr lang="en-US" sz="1050" u="sng" dirty="0"/>
              <a:t>Professional C# 5.0 and .NET 4.5.1.</a:t>
            </a:r>
            <a:r>
              <a:rPr lang="en-US" sz="1050" u="none" dirty="0"/>
              <a:t> Nagel,</a:t>
            </a:r>
            <a:r>
              <a:rPr lang="en-US" sz="105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69677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  <p:sldLayoutId id="2147483911" r:id="rId14"/>
    <p:sldLayoutId id="2147483912" r:id="rId15"/>
    <p:sldLayoutId id="2147483913" r:id="rId16"/>
    <p:sldLayoutId id="2147483914" r:id="rId17"/>
    <p:sldLayoutId id="2147483915" r:id="rId1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 l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10972800" cy="4800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534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</p:sldLayoutIdLst>
  <p:txStyles>
    <p:titleStyle>
      <a:lvl1pPr algn="l" defTabSz="514350" rtl="0" eaLnBrk="1" latinLnBrk="0" hangingPunct="1">
        <a:spcBef>
          <a:spcPct val="0"/>
        </a:spcBef>
        <a:buNone/>
        <a:defRPr sz="4000" kern="1200" cap="none" spc="-56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192881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56578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87439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977265" indent="-102870" algn="l" defTabSz="51435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788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080135" indent="-102870" algn="l" defTabSz="51435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183005" indent="-102870" algn="l" defTabSz="51435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1285875" indent="-102870" algn="l" defTabSz="51435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Delegates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Programming with Delegates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Delegates</a:t>
            </a:r>
          </a:p>
          <a:p>
            <a:r>
              <a:rPr lang="en-US" dirty="0"/>
              <a:t>Lambda Expressions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420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Delegates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Describe how delegates are defined and used in C#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69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Delegate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altLang="en-US" sz="4000" dirty="0"/>
              <a:t>A delegate is an object of a delegate class that contains a reference to a method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03812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delegate can be passed as a parameter to a method.</a:t>
            </a:r>
          </a:p>
          <a:p>
            <a:r>
              <a:rPr lang="en-US" altLang="en-US" dirty="0"/>
              <a:t>After you have instantiated a C# delegate, you can pass this object to a method, which can then call the method referenced within the delegate.</a:t>
            </a:r>
          </a:p>
          <a:p>
            <a:r>
              <a:rPr lang="en-US" altLang="en-US" dirty="0"/>
              <a:t>This provides the capability to define a class that will execute actions that will be defined at a later time or by a different programmer.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542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Delegates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Declaration for a delegate looks more like a method declaration than a class definition </a:t>
            </a:r>
          </a:p>
          <a:p>
            <a:pPr lvl="1"/>
            <a:r>
              <a:rPr lang="en-US" altLang="en-US"/>
              <a:t>Except, delegate declaration has no body </a:t>
            </a:r>
          </a:p>
          <a:p>
            <a:pPr lvl="1"/>
            <a:r>
              <a:rPr lang="en-US" altLang="en-US"/>
              <a:t>Declaration begins with the keyword delegate </a:t>
            </a:r>
          </a:p>
          <a:p>
            <a:pPr lvl="2"/>
            <a:r>
              <a:rPr lang="en-US" altLang="en-US"/>
              <a:t>Declaration ends with a parenthesized list of parameters</a:t>
            </a:r>
          </a:p>
          <a:p>
            <a:pPr lvl="2"/>
            <a:r>
              <a:rPr lang="en-US" altLang="en-US"/>
              <a:t>Unlike a method, the return type of a delegate becomes part of its identifying signature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Defining Delegates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ct val="35000"/>
              </a:spcBef>
            </a:pPr>
            <a:r>
              <a:rPr lang="en-US" altLang="en-US" dirty="0"/>
              <a:t>Delegate declaration example</a:t>
            </a:r>
          </a:p>
          <a:p>
            <a:pPr lvl="1">
              <a:spcBef>
                <a:spcPct val="35000"/>
              </a:spcBef>
              <a:buNone/>
            </a:pPr>
            <a:r>
              <a:rPr lang="en-US" altLang="en-US" dirty="0">
                <a:solidFill>
                  <a:srgbClr val="0000FF"/>
                </a:solidFill>
                <a:latin typeface="Courier"/>
              </a:rPr>
              <a:t>delegate</a:t>
            </a:r>
            <a:r>
              <a:rPr lang="en-US" altLang="en-US" dirty="0">
                <a:latin typeface="Courier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Courier"/>
              </a:rPr>
              <a:t>string</a:t>
            </a:r>
            <a:r>
              <a:rPr lang="en-US" altLang="en-US" dirty="0">
                <a:latin typeface="Courier"/>
              </a:rPr>
              <a:t> </a:t>
            </a:r>
            <a:r>
              <a:rPr lang="en-US" altLang="en-US" dirty="0" err="1">
                <a:latin typeface="Courier"/>
              </a:rPr>
              <a:t>ReturnsSimpleString</a:t>
            </a:r>
            <a:r>
              <a:rPr lang="en-US" altLang="en-US" dirty="0">
                <a:latin typeface="Courier"/>
              </a:rPr>
              <a:t>( );</a:t>
            </a:r>
          </a:p>
          <a:p>
            <a:pPr>
              <a:spcBef>
                <a:spcPct val="35000"/>
              </a:spcBef>
            </a:pPr>
            <a:r>
              <a:rPr lang="en-US" altLang="en-US" dirty="0"/>
              <a:t>Delegate signature</a:t>
            </a:r>
          </a:p>
          <a:p>
            <a:pPr lvl="1">
              <a:spcBef>
                <a:spcPct val="35000"/>
              </a:spcBef>
            </a:pPr>
            <a:r>
              <a:rPr lang="en-US" altLang="en-US" dirty="0"/>
              <a:t>Identifies what types of methods the delegate represents </a:t>
            </a:r>
          </a:p>
          <a:p>
            <a:pPr>
              <a:spcBef>
                <a:spcPct val="35000"/>
              </a:spcBef>
            </a:pPr>
            <a:r>
              <a:rPr lang="en-US" altLang="en-US" dirty="0"/>
              <a:t>The following are examples of methods that could be represented as a </a:t>
            </a:r>
            <a:r>
              <a:rPr lang="en-US" altLang="en-US" dirty="0" err="1"/>
              <a:t>ReturnSimpleString</a:t>
            </a:r>
            <a:r>
              <a:rPr lang="en-US" altLang="en-US" dirty="0"/>
              <a:t> delegates:</a:t>
            </a:r>
          </a:p>
          <a:p>
            <a:pPr lvl="1">
              <a:spcBef>
                <a:spcPct val="35000"/>
              </a:spcBef>
              <a:buNone/>
            </a:pPr>
            <a:r>
              <a:rPr lang="en-US" altLang="en-US" dirty="0">
                <a:solidFill>
                  <a:srgbClr val="0000FF"/>
                </a:solidFill>
                <a:latin typeface="Courier"/>
              </a:rPr>
              <a:t>static string </a:t>
            </a:r>
            <a:r>
              <a:rPr lang="en-US" altLang="en-US" dirty="0" err="1">
                <a:latin typeface="Courier"/>
              </a:rPr>
              <a:t>EndStatement</a:t>
            </a:r>
            <a:r>
              <a:rPr lang="en-US" altLang="en-US" dirty="0">
                <a:latin typeface="Courier"/>
              </a:rPr>
              <a:t>( ) </a:t>
            </a:r>
          </a:p>
          <a:p>
            <a:pPr lvl="1">
              <a:spcBef>
                <a:spcPct val="35000"/>
              </a:spcBef>
              <a:buNone/>
            </a:pPr>
            <a:r>
              <a:rPr lang="en-US" altLang="en-US" dirty="0">
                <a:solidFill>
                  <a:srgbClr val="0000FF"/>
                </a:solidFill>
                <a:latin typeface="Courier"/>
              </a:rPr>
              <a:t>static string </a:t>
            </a:r>
            <a:r>
              <a:rPr lang="en-US" altLang="en-US" dirty="0" err="1">
                <a:latin typeface="Courier"/>
              </a:rPr>
              <a:t>ToString</a:t>
            </a:r>
            <a:r>
              <a:rPr lang="en-US" altLang="en-US" dirty="0">
                <a:latin typeface="Courier"/>
              </a:rPr>
              <a:t>( )</a:t>
            </a:r>
          </a:p>
          <a:p>
            <a:pPr lvl="1">
              <a:spcBef>
                <a:spcPct val="35000"/>
              </a:spcBef>
              <a:buNone/>
            </a:pPr>
            <a:r>
              <a:rPr lang="en-US" altLang="en-US" dirty="0">
                <a:solidFill>
                  <a:srgbClr val="0000FF"/>
                </a:solidFill>
                <a:latin typeface="Courier"/>
              </a:rPr>
              <a:t>static string </a:t>
            </a:r>
            <a:r>
              <a:rPr lang="en-US" altLang="en-US" dirty="0" err="1">
                <a:latin typeface="Courier"/>
              </a:rPr>
              <a:t>ReturnSaying</a:t>
            </a:r>
            <a:r>
              <a:rPr lang="en-US" altLang="en-US" dirty="0">
                <a:latin typeface="Courier"/>
              </a:rPr>
              <a:t>( 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delegate called “</a:t>
            </a:r>
            <a:r>
              <a:rPr lang="en-US" dirty="0" err="1"/>
              <a:t>DispStrDelegate</a:t>
            </a:r>
            <a:r>
              <a:rPr lang="en-US" dirty="0"/>
              <a:t>” that has a void return and takes a string as a parameter. Call the parameter “</a:t>
            </a:r>
            <a:r>
              <a:rPr lang="en-US" dirty="0" err="1"/>
              <a:t>param</a:t>
            </a:r>
            <a:r>
              <a:rPr lang="en-US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87739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Creating Delegate Instances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9600" y="1536192"/>
            <a:ext cx="3810000" cy="4590288"/>
          </a:xfrm>
        </p:spPr>
        <p:txBody>
          <a:bodyPr>
            <a:normAutofit/>
          </a:bodyPr>
          <a:lstStyle/>
          <a:p>
            <a:r>
              <a:rPr lang="en-US" altLang="en-US" dirty="0"/>
              <a:t>Define a method like you normally would.</a:t>
            </a:r>
          </a:p>
          <a:p>
            <a:r>
              <a:rPr lang="en-US" altLang="en-US" dirty="0"/>
              <a:t>Associate delegate with method(s) by creating delegate instance(s)</a:t>
            </a:r>
          </a:p>
          <a:p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6913880" cy="4590288"/>
          </a:xfrm>
        </p:spPr>
        <p:txBody>
          <a:bodyPr>
            <a:normAutofit/>
          </a:bodyPr>
          <a:lstStyle/>
          <a:p>
            <a:pPr marL="64293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Method that capitalizes a string.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293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Capitalize(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text)</a:t>
            </a:r>
          </a:p>
          <a:p>
            <a:pPr marL="64293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64293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.WriteLine(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text.ToUpper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64293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64293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293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marL="64293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293" indent="0">
              <a:buNone/>
            </a:pP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DispStrDelegate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sayings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DispStrDelegate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(Capitalize);</a:t>
            </a:r>
            <a:endParaRPr lang="en-US" sz="1600" dirty="0"/>
          </a:p>
        </p:txBody>
      </p:sp>
      <p:sp>
        <p:nvSpPr>
          <p:cNvPr id="3" name="Rectangular Callout 2"/>
          <p:cNvSpPr/>
          <p:nvPr/>
        </p:nvSpPr>
        <p:spPr>
          <a:xfrm>
            <a:off x="3352800" y="5181600"/>
            <a:ext cx="6629400" cy="990600"/>
          </a:xfrm>
          <a:prstGeom prst="wedgeRectCallout">
            <a:avLst>
              <a:gd name="adj1" fmla="val 55079"/>
              <a:gd name="adj2" fmla="val -1541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Constructor for delegate of the delegate class always takes just one parameter:</a:t>
            </a:r>
          </a:p>
          <a:p>
            <a:pPr algn="ctr"/>
            <a:r>
              <a:rPr lang="en-US" dirty="0"/>
              <a:t> Name of a method for the constructor to reference 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" y="3505200"/>
            <a:ext cx="1097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>
              <a:spcBef>
                <a:spcPct val="60000"/>
              </a:spcBef>
            </a:pPr>
            <a:endParaRPr lang="en-US" altLang="en-US" sz="2000" dirty="0">
              <a:latin typeface="Couri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Delegates</a:t>
            </a:r>
            <a:endParaRPr lang="en-US" alt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9600" y="1536192"/>
            <a:ext cx="4648200" cy="4590288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Delegate identifier references the method sent as argument to constructor</a:t>
            </a:r>
          </a:p>
          <a:p>
            <a:r>
              <a:rPr lang="en-US" altLang="en-US" dirty="0"/>
              <a:t>Any use of delegate identifier now calls the method </a:t>
            </a:r>
          </a:p>
          <a:p>
            <a:r>
              <a:rPr lang="en-US" altLang="en-US" dirty="0"/>
              <a:t>Methods are said to be wrapped by the delegate </a:t>
            </a:r>
          </a:p>
          <a:p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562600" y="1524000"/>
            <a:ext cx="5999480" cy="4590288"/>
          </a:xfrm>
        </p:spPr>
        <p:txBody>
          <a:bodyPr>
            <a:normAutofit lnSpcReduction="10000"/>
          </a:bodyPr>
          <a:lstStyle/>
          <a:p>
            <a:pPr marL="6429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sayings(text);</a:t>
            </a:r>
          </a:p>
          <a:p>
            <a:pPr marL="6429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sayings(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 world!"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64293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Multicast or Composed Delegates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3352800" cy="4590288"/>
          </a:xfrm>
        </p:spPr>
        <p:txBody>
          <a:bodyPr>
            <a:normAutofit fontScale="70000" lnSpcReduction="20000"/>
          </a:bodyPr>
          <a:lstStyle/>
          <a:p>
            <a:pPr marL="157162" indent="0">
              <a:spcBef>
                <a:spcPct val="60000"/>
              </a:spcBef>
              <a:buNone/>
              <a:defRPr/>
            </a:pPr>
            <a:r>
              <a:rPr lang="en-US" altLang="en-US" dirty="0"/>
              <a:t>Delegate can wrap more than one method</a:t>
            </a:r>
            <a:r>
              <a:rPr lang="en-US" altLang="en-US" dirty="0">
                <a:cs typeface="Times New Roman" pitchFamily="18" charset="0"/>
              </a:rPr>
              <a:t>, </a:t>
            </a:r>
            <a:r>
              <a:rPr lang="en-US" altLang="en-US" dirty="0"/>
              <a:t>called a multicast or composed delegate:</a:t>
            </a:r>
          </a:p>
          <a:p>
            <a:pPr lvl="1">
              <a:spcBef>
                <a:spcPct val="60000"/>
              </a:spcBef>
              <a:defRPr/>
            </a:pPr>
            <a:r>
              <a:rPr lang="en-US" altLang="en-US" dirty="0"/>
              <a:t>When a delegate is used, multiple methods are called, one after the other.</a:t>
            </a:r>
          </a:p>
          <a:p>
            <a:pPr lvl="1">
              <a:spcBef>
                <a:spcPct val="60000"/>
              </a:spcBef>
              <a:defRPr/>
            </a:pPr>
            <a:r>
              <a:rPr lang="en-US" altLang="en-US" dirty="0"/>
              <a:t>+= and -= operators are used to add/remove methods to/ from the delegate chain or invocation list</a:t>
            </a:r>
          </a:p>
          <a:p>
            <a:pPr lvl="1">
              <a:spcBef>
                <a:spcPct val="60000"/>
              </a:spcBef>
              <a:defRPr/>
            </a:pPr>
            <a:r>
              <a:rPr lang="en-US" altLang="en-US" dirty="0"/>
              <a:t>Multicast delegates must have a return type of void  </a:t>
            </a:r>
          </a:p>
          <a:p>
            <a:pPr lvl="1">
              <a:spcBef>
                <a:spcPct val="60000"/>
              </a:spcBef>
              <a:defRPr/>
            </a:pPr>
            <a:endParaRPr lang="en-US" altLang="en-US" dirty="0"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524000"/>
            <a:ext cx="7294880" cy="4590288"/>
          </a:xfrm>
        </p:spPr>
        <p:txBody>
          <a:bodyPr>
            <a:normAutofit fontScale="70000" lnSpcReduction="20000"/>
          </a:bodyPr>
          <a:lstStyle/>
          <a:p>
            <a:pPr marL="64293" indent="0">
              <a:buNone/>
            </a:pPr>
            <a:r>
              <a:rPr lang="en-US" sz="2900" dirty="0">
                <a:solidFill>
                  <a:srgbClr val="008000"/>
                </a:solidFill>
                <a:latin typeface="Consolas" panose="020B0609020204030204" pitchFamily="49" charset="0"/>
              </a:rPr>
              <a:t>//Make a new delegate object and concatenate delegates</a:t>
            </a:r>
            <a:endParaRPr lang="en-US" sz="2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293" indent="0">
              <a:buNone/>
            </a:pPr>
            <a:r>
              <a:rPr lang="en-US" sz="2900" dirty="0" err="1">
                <a:solidFill>
                  <a:srgbClr val="2B91AF"/>
                </a:solidFill>
                <a:latin typeface="Consolas" panose="020B0609020204030204" pitchFamily="49" charset="0"/>
              </a:rPr>
              <a:t>DispStrDelegate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sayings = </a:t>
            </a:r>
            <a:r>
              <a:rPr lang="en-US" sz="2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 err="1">
                <a:solidFill>
                  <a:srgbClr val="2B91AF"/>
                </a:solidFill>
                <a:latin typeface="Consolas" panose="020B0609020204030204" pitchFamily="49" charset="0"/>
              </a:rPr>
              <a:t>DispStrDelegate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(Capitalize);</a:t>
            </a:r>
          </a:p>
          <a:p>
            <a:pPr marL="64293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sayings += </a:t>
            </a:r>
            <a:r>
              <a:rPr lang="en-US" sz="2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 err="1">
                <a:solidFill>
                  <a:srgbClr val="2B91AF"/>
                </a:solidFill>
                <a:latin typeface="Consolas" panose="020B0609020204030204" pitchFamily="49" charset="0"/>
              </a:rPr>
              <a:t>DispStrDelegate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900" dirty="0" err="1">
                <a:solidFill>
                  <a:srgbClr val="000000"/>
                </a:solidFill>
                <a:latin typeface="Consolas" panose="020B0609020204030204" pitchFamily="49" charset="0"/>
              </a:rPr>
              <a:t>LowerCased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64293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sayings += </a:t>
            </a:r>
            <a:r>
              <a:rPr lang="en-US" sz="2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 err="1">
                <a:solidFill>
                  <a:srgbClr val="2B91AF"/>
                </a:solidFill>
                <a:latin typeface="Consolas" panose="020B0609020204030204" pitchFamily="49" charset="0"/>
              </a:rPr>
              <a:t>DispStrDelegate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900" dirty="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.WriteLine);</a:t>
            </a:r>
            <a:endParaRPr lang="en-US" sz="2900" dirty="0"/>
          </a:p>
          <a:p>
            <a:pPr marL="64293" indent="0">
              <a:buNone/>
            </a:pPr>
            <a:endParaRPr lang="en-US" sz="2800" dirty="0"/>
          </a:p>
          <a:p>
            <a:pPr marL="64293" indent="0">
              <a:buNone/>
            </a:pP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//Call the one delegate and run all three methods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293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sayings(text);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Expression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a lambda expression is and how to use it.</a:t>
            </a:r>
          </a:p>
        </p:txBody>
      </p:sp>
    </p:spTree>
    <p:extLst>
      <p:ext uri="{BB962C8B-B14F-4D97-AF65-F5344CB8AC3E}">
        <p14:creationId xmlns:p14="http://schemas.microsoft.com/office/powerpoint/2010/main" val="2266791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3657600" cy="45902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short hand way to write a delegate.</a:t>
            </a:r>
          </a:p>
          <a:p>
            <a:r>
              <a:rPr lang="en-US" dirty="0"/>
              <a:t>You can omit the type if it can be inferred.</a:t>
            </a:r>
          </a:p>
          <a:p>
            <a:r>
              <a:rPr lang="en-US" dirty="0"/>
              <a:t>You can omit the parenthesis if you only have one parameters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24000"/>
            <a:ext cx="7142480" cy="4590288"/>
          </a:xfrm>
        </p:spPr>
        <p:txBody>
          <a:bodyPr>
            <a:normAutofit lnSpcReduction="10000"/>
          </a:bodyPr>
          <a:lstStyle/>
          <a:p>
            <a:pPr marL="64293" indent="0">
              <a:buNone/>
            </a:pP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t) =&gt; { </a:t>
            </a:r>
            <a:r>
              <a:rPr lang="fr-FR" sz="1800" dirty="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.WriteLine(</a:t>
            </a:r>
            <a:r>
              <a:rPr lang="fr-FR" sz="1800" dirty="0">
                <a:solidFill>
                  <a:srgbClr val="A31515"/>
                </a:solidFill>
                <a:latin typeface="Consolas" panose="020B0609020204030204" pitchFamily="49" charset="0"/>
              </a:rPr>
              <a:t>"Lambda: "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+ t);}</a:t>
            </a:r>
          </a:p>
          <a:p>
            <a:pPr marL="64293" indent="0">
              <a:buNone/>
            </a:pPr>
            <a:endParaRPr lang="fr-F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293" indent="0">
              <a:buNone/>
            </a:pPr>
            <a:endParaRPr lang="fr-F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293" indent="0">
              <a:buNone/>
            </a:pPr>
            <a:endParaRPr lang="fr-F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293" indent="0">
              <a:buNone/>
            </a:pP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(t) =&gt; { </a:t>
            </a:r>
            <a:r>
              <a:rPr lang="fr-FR" sz="1800" dirty="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.WriteLine(</a:t>
            </a:r>
            <a:r>
              <a:rPr lang="fr-FR" sz="1800" dirty="0">
                <a:solidFill>
                  <a:srgbClr val="A31515"/>
                </a:solidFill>
                <a:latin typeface="Consolas" panose="020B0609020204030204" pitchFamily="49" charset="0"/>
              </a:rPr>
              <a:t>"Lambda: "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+ t);}</a:t>
            </a:r>
          </a:p>
          <a:p>
            <a:pPr marL="64293" indent="0">
              <a:buNone/>
            </a:pPr>
            <a:endParaRPr lang="fr-F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293" indent="0">
              <a:buNone/>
            </a:pPr>
            <a:endParaRPr lang="fr-F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293" indent="0">
              <a:buNone/>
            </a:pPr>
            <a:endParaRPr lang="fr-F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293" indent="0">
              <a:buNone/>
            </a:pP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t =&gt; { </a:t>
            </a:r>
            <a:r>
              <a:rPr lang="fr-FR" sz="1800" dirty="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.WriteLine(</a:t>
            </a:r>
            <a:r>
              <a:rPr lang="fr-FR" sz="1800" dirty="0">
                <a:solidFill>
                  <a:srgbClr val="A31515"/>
                </a:solidFill>
                <a:latin typeface="Consolas" panose="020B0609020204030204" pitchFamily="49" charset="0"/>
              </a:rPr>
              <a:t>"Lambda: "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+ t);}</a:t>
            </a:r>
          </a:p>
          <a:p>
            <a:pPr marL="64293" indent="0">
              <a:buNone/>
            </a:pPr>
            <a:endParaRPr lang="fr-F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07377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Demonstrate how to write a delegate.</a:t>
            </a:r>
          </a:p>
          <a:p>
            <a:pPr lvl="0"/>
            <a:r>
              <a:rPr lang="en-US" dirty="0"/>
              <a:t>Demonstrate how to pass a delegate as a method parameter.</a:t>
            </a:r>
          </a:p>
          <a:p>
            <a:r>
              <a:rPr lang="en-US" dirty="0"/>
              <a:t>Demonstrate how to define and use lambda expressions.</a:t>
            </a:r>
          </a:p>
        </p:txBody>
      </p:sp>
    </p:spTree>
    <p:extLst>
      <p:ext uri="{BB962C8B-B14F-4D97-AF65-F5344CB8AC3E}">
        <p14:creationId xmlns:p14="http://schemas.microsoft.com/office/powerpoint/2010/main" val="89996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Delegates</a:t>
            </a:r>
          </a:p>
          <a:p>
            <a:r>
              <a:rPr lang="en-US"/>
              <a:t>Lambda Expressions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151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STEMulus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 anchorCtr="1">
        <a:normAutofit fontScale="85000" lnSpcReduction="10000"/>
      </a:bodyPr>
      <a:lstStyle>
        <a:defPPr>
          <a:defRPr sz="6000"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TEMulusTheme" id="{361E028A-05B0-4328-9984-9DE9F3EB5AEC}" vid="{D4349974-E7A5-492E-9A5D-8CB66D127A4B}"/>
    </a:ext>
  </a:extLst>
</a:theme>
</file>

<file path=ppt/theme/theme2.xml><?xml version="1.0" encoding="utf-8"?>
<a:theme xmlns:a="http://schemas.openxmlformats.org/drawingml/2006/main" name="Generic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enericTheme" id="{05FD65AE-DB87-4839-B04A-C3F3B9C91C6E}" vid="{73340265-D181-4240-AB7E-F31EC520ECCF}"/>
    </a:ext>
  </a:extLst>
</a:theme>
</file>

<file path=ppt/theme/theme3.xml><?xml version="1.0" encoding="utf-8"?>
<a:theme xmlns:a="http://schemas.openxmlformats.org/drawingml/2006/main" name="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71E423-0761-4C62-861C-CCE0A0AF0F79}" vid="{E74B5E27-0562-43F4-BF48-C899AA94ED1A}"/>
    </a:ext>
  </a:extLst>
</a:theme>
</file>

<file path=ppt/theme/theme4.xml><?xml version="1.0" encoding="utf-8"?>
<a:theme xmlns:a="http://schemas.openxmlformats.org/drawingml/2006/main" name="1_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310378-7C67-4D39-BE8C-4B5D7B7C9646}" vid="{D62DC210-79D2-435F-90C7-822FFC9D4BD4}"/>
    </a:ext>
  </a:extLst>
</a:theme>
</file>

<file path=ppt/theme/theme5.xml><?xml version="1.0" encoding="utf-8"?>
<a:theme xmlns:a="http://schemas.openxmlformats.org/drawingml/2006/main" name="2_Fib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8496B0"/>
      </a:accent2>
      <a:accent3>
        <a:srgbClr val="8496B0"/>
      </a:accent3>
      <a:accent4>
        <a:srgbClr val="ADB9CA"/>
      </a:accent4>
      <a:accent5>
        <a:srgbClr val="D6DCE4"/>
      </a:accent5>
      <a:accent6>
        <a:srgbClr val="D6DCE4"/>
      </a:accent6>
      <a:hlink>
        <a:srgbClr val="0070C0"/>
      </a:hlink>
      <a:folHlink>
        <a:srgbClr val="7030A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bTheme" id="{FB228B94-9174-4A84-8B9C-56843C22FF37}" vid="{498E3D67-B2F1-4125-9069-AEB53E6EAC14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STEMulusTheme</Template>
  <TotalTime>19577</TotalTime>
  <Words>563</Words>
  <Application>Microsoft Office PowerPoint</Application>
  <PresentationFormat>Widescreen</PresentationFormat>
  <Paragraphs>93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32" baseType="lpstr">
      <vt:lpstr>Arial Unicode MS</vt:lpstr>
      <vt:lpstr>Arial</vt:lpstr>
      <vt:lpstr>Arial Black</vt:lpstr>
      <vt:lpstr>Arial Narrow</vt:lpstr>
      <vt:lpstr>Calibri</vt:lpstr>
      <vt:lpstr>Cambria</vt:lpstr>
      <vt:lpstr>Consolas</vt:lpstr>
      <vt:lpstr>Courier</vt:lpstr>
      <vt:lpstr>Edwardian Script ITC</vt:lpstr>
      <vt:lpstr>Times New Roman</vt:lpstr>
      <vt:lpstr>Webdings</vt:lpstr>
      <vt:lpstr>Wingdings</vt:lpstr>
      <vt:lpstr>STEMulusTheme</vt:lpstr>
      <vt:lpstr>GenericTheme</vt:lpstr>
      <vt:lpstr>FibTheme</vt:lpstr>
      <vt:lpstr>1_FibTheme</vt:lpstr>
      <vt:lpstr>2_FibTheme</vt:lpstr>
      <vt:lpstr>Delegates</vt:lpstr>
      <vt:lpstr>Overview</vt:lpstr>
      <vt:lpstr>Delegates</vt:lpstr>
      <vt:lpstr>What is a Delegate</vt:lpstr>
      <vt:lpstr>Purpose of Delegates</vt:lpstr>
      <vt:lpstr>Delegates</vt:lpstr>
      <vt:lpstr>Defining Delegates</vt:lpstr>
      <vt:lpstr>PowerPoint Presentation</vt:lpstr>
      <vt:lpstr>Creating Delegate Instances</vt:lpstr>
      <vt:lpstr>Using Delegates</vt:lpstr>
      <vt:lpstr>Multicast or Composed Delegates</vt:lpstr>
      <vt:lpstr>Lambda Expression</vt:lpstr>
      <vt:lpstr>Lambda Expressions</vt:lpstr>
      <vt:lpstr>Demonstration</vt:lpstr>
      <vt:lpstr>Summary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</dc:title>
  <dc:creator>Course Technology</dc:creator>
  <cp:lastModifiedBy>Robert Garner</cp:lastModifiedBy>
  <cp:revision>327</cp:revision>
  <dcterms:created xsi:type="dcterms:W3CDTF">2002-11-15T07:59:11Z</dcterms:created>
  <dcterms:modified xsi:type="dcterms:W3CDTF">2017-01-05T00:16:22Z</dcterms:modified>
</cp:coreProperties>
</file>