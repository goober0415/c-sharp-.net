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3" r:id="rId2"/>
    <p:sldMasterId id="2147483717" r:id="rId3"/>
    <p:sldMasterId id="2147483736" r:id="rId4"/>
  </p:sldMasterIdLst>
  <p:notesMasterIdLst>
    <p:notesMasterId r:id="rId18"/>
  </p:notesMasterIdLst>
  <p:sldIdLst>
    <p:sldId id="256" r:id="rId5"/>
    <p:sldId id="392" r:id="rId6"/>
    <p:sldId id="389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31" r:id="rId16"/>
    <p:sldId id="3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E95B87B-3ACB-472B-B75D-4CF3A3BE2AF8}">
          <p14:sldIdLst>
            <p14:sldId id="256"/>
            <p14:sldId id="392"/>
          </p14:sldIdLst>
        </p14:section>
        <p14:section name="Properties" id="{345B38DD-89DD-410F-BD06-18E27E7FDD08}">
          <p14:sldIdLst>
            <p14:sldId id="389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31"/>
          </p14:sldIdLst>
        </p14:section>
        <p14:section name="Summary" id="{9EE50756-9F11-4995-B49D-469BB8109D4A}">
          <p14:sldIdLst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81" autoAdjust="0"/>
    <p:restoredTop sz="93157" autoAdjust="0"/>
  </p:normalViewPr>
  <p:slideViewPr>
    <p:cSldViewPr snapToGrid="0">
      <p:cViewPr varScale="1">
        <p:scale>
          <a:sx n="60" d="100"/>
          <a:sy n="60" d="100"/>
        </p:scale>
        <p:origin x="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4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6-12-30T21:30:28.677"/>
    </inkml:context>
    <inkml:brush xml:id="br0">
      <inkml:brushProperty name="width" value="0.02857" units="cm"/>
      <inkml:brushProperty name="height" value="0.02857" units="cm"/>
    </inkml:brush>
  </inkml:definitions>
  <inkml:traceGroup>
    <inkml:annotationXML>
      <emma:emma xmlns:emma="http://www.w3.org/2003/04/emma" version="1.0">
        <emma:interpretation id="{9F72236F-6BE2-4282-A1A0-128E81BCFF73}" emma:medium="tactile" emma:mode="ink">
          <msink:context xmlns:msink="http://schemas.microsoft.com/ink/2010/main" type="writingRegion" rotatedBoundingBox="10487,7742 10548,7742 10548,7803 10487,7803"/>
        </emma:interpretation>
      </emma:emma>
    </inkml:annotationXML>
    <inkml:traceGroup>
      <inkml:annotationXML>
        <emma:emma xmlns:emma="http://www.w3.org/2003/04/emma" version="1.0">
          <emma:interpretation id="{99859638-CB34-4F36-9CBE-8FE77D1D1C95}" emma:medium="tactile" emma:mode="ink">
            <msink:context xmlns:msink="http://schemas.microsoft.com/ink/2010/main" type="paragraph" rotatedBoundingBox="10487,7742 10548,7742 10548,7803 10487,78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4F07289-AC08-43D3-BC16-912607FE28DB}" emma:medium="tactile" emma:mode="ink">
              <msink:context xmlns:msink="http://schemas.microsoft.com/ink/2010/main" type="line" rotatedBoundingBox="10487,7742 10548,7742 10548,7803 10487,7803"/>
            </emma:interpretation>
          </emma:emma>
        </inkml:annotationXML>
        <inkml:traceGroup>
          <inkml:annotationXML>
            <emma:emma xmlns:emma="http://www.w3.org/2003/04/emma" version="1.0">
              <emma:interpretation id="{BA5AEB31-3765-427D-BB60-FD2B3DF9DA60}" emma:medium="tactile" emma:mode="ink">
                <msink:context xmlns:msink="http://schemas.microsoft.com/ink/2010/main" type="inkWord" rotatedBoundingBox="10487,7742 10548,7742 10548,7803 10487,7803"/>
              </emma:interpretation>
              <emma:one-of disjunction-type="recognition" id="oneOf0">
                <emma:interpretation id="interp0" emma:lang="en-US" emma:confidence="0">
                  <emma:literal>•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4</emma:literal>
                </emma:interpretation>
                <emma:interpretation id="interp3" emma:lang="en-US" emma:confidence="0">
                  <emma:literal>X</emma:literal>
                </emma:interpretation>
                <emma:interpretation id="interp4" emma:lang="en-US" emma:confidence="0">
                  <emma:literal>I</emma:literal>
                </emma:interpretation>
              </emma:one-of>
            </emma:emma>
          </inkml:annotationXML>
          <inkml:trace contextRef="#ctx0" brushRef="#br0">8940 6100 10368,'-40'-40'5120,"20"19"-4992,20 21 5119,0 0-5759,0 0 0,0 0-2304,0 21 1,20-1 1919,-20 0 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Demo/Code Walkthrough auto implemented properties.</a:t>
            </a:r>
            <a:r>
              <a:rPr lang="en-US" baseline="0" dirty="0"/>
              <a:t> Show how get only doesn’t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8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5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720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3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92881" indent="-192881">
              <a:buFont typeface="Wingdings" panose="05000000000000000000" pitchFamily="2" charset="2"/>
              <a:buChar char="ü"/>
              <a:defRPr/>
            </a:lvl1pPr>
            <a:lvl2pPr marL="417910" indent="-160735">
              <a:buFont typeface="Wingdings" panose="05000000000000000000" pitchFamily="2" charset="2"/>
              <a:buChar char="ü"/>
              <a:defRPr/>
            </a:lvl2pPr>
            <a:lvl3pPr marL="642938" indent="-128588">
              <a:buFont typeface="Wingdings" panose="05000000000000000000" pitchFamily="2" charset="2"/>
              <a:buChar char="ü"/>
              <a:defRPr/>
            </a:lvl3pPr>
            <a:lvl4pPr marL="900113" indent="-128588">
              <a:buFont typeface="Wingdings" panose="05000000000000000000" pitchFamily="2" charset="2"/>
              <a:buChar char="ü"/>
              <a:defRPr/>
            </a:lvl4pPr>
            <a:lvl5pPr marL="1157288" indent="-128588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2475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003548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4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81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9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4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79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5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013" smtClean="0"/>
              <a:pPr eaLnBrk="1" hangingPunct="1"/>
              <a:t>‹#›</a:t>
            </a:fld>
            <a:endParaRPr lang="en-US" sz="1013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438582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2250" dirty="0"/>
              <a:t>Instructor </a:t>
            </a:r>
            <a:r>
              <a:rPr lang="es-ES" sz="2250" dirty="0" err="1"/>
              <a:t>Name</a:t>
            </a:r>
            <a:r>
              <a:rPr lang="es-ES" sz="225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4" y="873128"/>
            <a:ext cx="4692649" cy="784830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250" dirty="0"/>
              <a:t>Instructor ID #:</a:t>
            </a:r>
          </a:p>
          <a:p>
            <a:pPr eaLnBrk="1" hangingPunct="1"/>
            <a:r>
              <a:rPr lang="en-US" sz="2250" dirty="0"/>
              <a:t>Class ID #:  </a:t>
            </a:r>
            <a:endParaRPr lang="es-ES" sz="225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2480166" cy="9233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400" b="1" dirty="0">
                <a:latin typeface="Edwardian Script ITC" pitchFamily="66" charset="0"/>
              </a:rPr>
              <a:t>Thank you!</a:t>
            </a:r>
            <a:endParaRPr lang="es-ES" sz="54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04587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5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225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9191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6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04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92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67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383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5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5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5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655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96846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749599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3246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34420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632878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596074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393921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5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30015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633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92881" indent="-192881">
              <a:buFont typeface="Wingdings" panose="05000000000000000000" pitchFamily="2" charset="2"/>
              <a:buChar char="ü"/>
              <a:defRPr/>
            </a:lvl1pPr>
            <a:lvl2pPr marL="417910" indent="-160735">
              <a:buFont typeface="Wingdings" panose="05000000000000000000" pitchFamily="2" charset="2"/>
              <a:buChar char="ü"/>
              <a:defRPr/>
            </a:lvl2pPr>
            <a:lvl3pPr marL="642938" indent="-128588">
              <a:buFont typeface="Wingdings" panose="05000000000000000000" pitchFamily="2" charset="2"/>
              <a:buChar char="ü"/>
              <a:defRPr/>
            </a:lvl3pPr>
            <a:lvl4pPr marL="900113" indent="-128588">
              <a:buFont typeface="Wingdings" panose="05000000000000000000" pitchFamily="2" charset="2"/>
              <a:buChar char="ü"/>
              <a:defRPr/>
            </a:lvl4pPr>
            <a:lvl5pPr marL="1157288" indent="-128588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2475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746572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26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193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875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897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5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013" smtClean="0"/>
              <a:pPr eaLnBrk="1" hangingPunct="1"/>
              <a:t>‹#›</a:t>
            </a:fld>
            <a:endParaRPr lang="en-US" sz="1013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438582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2250" dirty="0"/>
              <a:t>Instructor </a:t>
            </a:r>
            <a:r>
              <a:rPr lang="es-ES" sz="2250" dirty="0" err="1"/>
              <a:t>Name</a:t>
            </a:r>
            <a:r>
              <a:rPr lang="es-ES" sz="225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4" y="873128"/>
            <a:ext cx="4692649" cy="784830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250" dirty="0"/>
              <a:t>Instructor ID #:</a:t>
            </a:r>
          </a:p>
          <a:p>
            <a:pPr eaLnBrk="1" hangingPunct="1"/>
            <a:r>
              <a:rPr lang="en-US" sz="2250" dirty="0"/>
              <a:t>Class ID #:  </a:t>
            </a:r>
            <a:endParaRPr lang="es-ES" sz="225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2480166" cy="9233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400" b="1" dirty="0">
                <a:latin typeface="Edwardian Script ITC" pitchFamily="66" charset="0"/>
              </a:rPr>
              <a:t>Thank you!</a:t>
            </a:r>
            <a:endParaRPr lang="es-ES" sz="54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56237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5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225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643512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813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32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376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542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832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5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5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5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247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2224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844" dirty="0"/>
              <a:t>Go to </a:t>
            </a:r>
            <a:r>
              <a:rPr lang="en-US" sz="844" dirty="0">
                <a:hlinkClick r:id="rId2"/>
              </a:rPr>
              <a:t>www.socrative.com</a:t>
            </a:r>
            <a:r>
              <a:rPr lang="en-US" sz="844" dirty="0"/>
              <a:t> and log into &lt;instructor</a:t>
            </a:r>
            <a:r>
              <a:rPr lang="en-US" sz="844" baseline="0" dirty="0"/>
              <a:t> account name&gt;</a:t>
            </a:r>
            <a:endParaRPr lang="en-US" sz="844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2466300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63513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7"/>
            <a:ext cx="10058400" cy="2593975"/>
          </a:xfrm>
        </p:spPr>
        <p:txBody>
          <a:bodyPr anchor="b"/>
          <a:lstStyle>
            <a:lvl1pPr>
              <a:defRPr sz="33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096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715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68249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276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92342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3792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8175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929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4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15880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1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30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495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CNMROBGARNER</a:t>
            </a:r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8497681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020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0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0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8" dirty="0"/>
              <a:t>Slides based on material from:</a:t>
            </a:r>
            <a:r>
              <a:rPr lang="en-US" sz="788" baseline="0" dirty="0"/>
              <a:t> </a:t>
            </a:r>
            <a:r>
              <a:rPr lang="en-US" sz="788" u="sng" dirty="0"/>
              <a:t>Professional C# 5.0 and .NET 4.5.1.</a:t>
            </a:r>
            <a:r>
              <a:rPr lang="en-US" sz="788" u="none" dirty="0"/>
              <a:t> Nagel,</a:t>
            </a:r>
            <a:r>
              <a:rPr lang="en-US" sz="788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422492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1800">
          <a:solidFill>
            <a:srgbClr val="004990"/>
          </a:solidFill>
          <a:latin typeface="+mn-lt"/>
          <a:ea typeface="+mn-ea"/>
          <a:cs typeface="+mn-cs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Char char="–"/>
        <a:defRPr sz="1575">
          <a:solidFill>
            <a:srgbClr val="004990"/>
          </a:solidFill>
          <a:latin typeface="Arial" charset="0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rgbClr val="004990"/>
          </a:solidFill>
          <a:latin typeface="Arial" charset="0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rgbClr val="004990"/>
          </a:solidFill>
          <a:latin typeface="Arial Narrow" pitchFamily="34" charset="0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0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8" dirty="0"/>
              <a:t>Slides based on material from:</a:t>
            </a:r>
            <a:r>
              <a:rPr lang="en-US" sz="788" baseline="0" dirty="0"/>
              <a:t> </a:t>
            </a:r>
            <a:r>
              <a:rPr lang="en-US" sz="788" u="sng" dirty="0"/>
              <a:t>Professional C# 5.0 and .NET 4.5.1.</a:t>
            </a:r>
            <a:r>
              <a:rPr lang="en-US" sz="788" u="none" dirty="0"/>
              <a:t> Nagel,</a:t>
            </a:r>
            <a:r>
              <a:rPr lang="en-US" sz="788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97274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1800">
          <a:solidFill>
            <a:srgbClr val="004990"/>
          </a:solidFill>
          <a:latin typeface="+mn-lt"/>
          <a:ea typeface="+mn-ea"/>
          <a:cs typeface="+mn-cs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Char char="–"/>
        <a:defRPr sz="1575">
          <a:solidFill>
            <a:srgbClr val="004990"/>
          </a:solidFill>
          <a:latin typeface="Arial" charset="0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rgbClr val="004990"/>
          </a:solidFill>
          <a:latin typeface="Arial" charset="0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rgbClr val="004990"/>
          </a:solidFill>
          <a:latin typeface="Arial Narrow" pitchFamily="34" charset="0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9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l" defTabSz="385763" rtl="0" eaLnBrk="1" latinLnBrk="0" hangingPunct="1">
        <a:spcBef>
          <a:spcPct val="0"/>
        </a:spcBef>
        <a:buNone/>
        <a:defRPr sz="3000" kern="1200" cap="none" spc="-42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44661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34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424339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8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655796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32949" indent="-77153" algn="l" defTabSz="38576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59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810101" indent="-77153" algn="l" defTabSz="385763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7pPr>
      <a:lvl8pPr marL="887254" indent="-77153" algn="l" defTabSz="385763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8pPr>
      <a:lvl9pPr marL="964406" indent="-77153" algn="l" defTabSz="385763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Properties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5299498" y="2787285"/>
              <a:ext cx="22423" cy="22423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3249" y="2781137"/>
                <a:ext cx="32348" cy="329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5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declare and use properties.</a:t>
            </a:r>
          </a:p>
        </p:txBody>
      </p:sp>
    </p:spTree>
    <p:extLst>
      <p:ext uri="{BB962C8B-B14F-4D97-AF65-F5344CB8AC3E}">
        <p14:creationId xmlns:p14="http://schemas.microsoft.com/office/powerpoint/2010/main" val="400443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gives us a shortcut to writing get and set methods called properties</a:t>
            </a:r>
          </a:p>
          <a:p>
            <a:r>
              <a:rPr lang="en-US" dirty="0"/>
              <a:t>Properties allow us to have </a:t>
            </a:r>
            <a:r>
              <a:rPr lang="en-US" dirty="0" err="1"/>
              <a:t>accessor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 that we can access like variables!</a:t>
            </a:r>
          </a:p>
          <a:p>
            <a:r>
              <a:rPr lang="en-US" dirty="0"/>
              <a:t>Properties are invoked using the assignment operator = instead of method calls.</a:t>
            </a:r>
          </a:p>
        </p:txBody>
      </p:sp>
    </p:spTree>
    <p:extLst>
      <p:ext uri="{BB962C8B-B14F-4D97-AF65-F5344CB8AC3E}">
        <p14:creationId xmlns:p14="http://schemas.microsoft.com/office/powerpoint/2010/main" val="237206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57400"/>
            <a:ext cx="8229600" cy="1225868"/>
          </a:xfrm>
        </p:spPr>
        <p:txBody>
          <a:bodyPr/>
          <a:lstStyle/>
          <a:p>
            <a:r>
              <a:rPr lang="en-US" dirty="0"/>
              <a:t>The Height property of the </a:t>
            </a:r>
            <a:r>
              <a:rPr lang="en-US" dirty="0" err="1"/>
              <a:t>System.Windows.Forms</a:t>
            </a:r>
            <a:r>
              <a:rPr lang="en-US" dirty="0"/>
              <a:t> class is used like a variable but actually calls a method that sets the height of the form: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7011" y="3574733"/>
            <a:ext cx="7126605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sz="2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mainForm</a:t>
            </a:r>
            <a:r>
              <a:rPr lang="en-US" sz="2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of type </a:t>
            </a:r>
            <a:r>
              <a:rPr lang="en-US" sz="2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System.Windows.Forms</a:t>
            </a:r>
            <a:endParaRPr lang="en-US" sz="2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mainForm.Height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400;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75322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35886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L="4822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SomeProperty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is the property value."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whatever needs to be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// done to set the property.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syntax than a method</a:t>
            </a:r>
          </a:p>
          <a:p>
            <a:r>
              <a:rPr lang="en-US" dirty="0"/>
              <a:t>No parameter list</a:t>
            </a:r>
          </a:p>
          <a:p>
            <a:r>
              <a:rPr lang="en-US" dirty="0"/>
              <a:t>Place get method code in get block</a:t>
            </a:r>
          </a:p>
          <a:p>
            <a:r>
              <a:rPr lang="en-US" dirty="0"/>
              <a:t>Place set method code in set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836409" y="1577912"/>
            <a:ext cx="1451733" cy="255392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6767993" y="2184394"/>
            <a:ext cx="389552" cy="225477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6771956" y="3361492"/>
            <a:ext cx="399102" cy="192506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810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2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age; </a:t>
            </a:r>
          </a:p>
          <a:p>
            <a:pPr marL="4822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age;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age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4822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Property declared with access </a:t>
            </a:r>
            <a:r>
              <a:rPr lang="en-US" dirty="0" err="1"/>
              <a:t>modifier,type</a:t>
            </a:r>
            <a:r>
              <a:rPr lang="en-US" dirty="0"/>
              <a:t> and identifier</a:t>
            </a:r>
          </a:p>
          <a:p>
            <a:r>
              <a:rPr lang="en-US" dirty="0"/>
              <a:t>Private backing field declared like any variable.</a:t>
            </a:r>
          </a:p>
          <a:p>
            <a:r>
              <a:rPr lang="en-US" dirty="0"/>
              <a:t>Get block just returns the backing field.</a:t>
            </a:r>
          </a:p>
          <a:p>
            <a:r>
              <a:rPr lang="en-US" dirty="0"/>
              <a:t>Set block assigns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/>
              <a:t> into backing field.</a:t>
            </a:r>
          </a:p>
          <a:p>
            <a:r>
              <a:rPr lang="en-US" dirty="0">
                <a:cs typeface="Courier New" panose="02070309020205020404" pitchFamily="49" charset="0"/>
              </a:rPr>
              <a:t>C# assumes set methods need one parameter.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/>
              <a:t> is a keyword that represents that parameter. When you assign a value to a property C# passes it in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value.</a:t>
            </a:r>
            <a:r>
              <a:rPr lang="en-US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6312877" y="1606609"/>
            <a:ext cx="2234774" cy="29253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7435171" y="3780485"/>
            <a:ext cx="1564088" cy="311339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459026" y="5254465"/>
            <a:ext cx="1647205" cy="283618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ounded Rectangular Callout 8"/>
          <p:cNvSpPr/>
          <p:nvPr/>
        </p:nvSpPr>
        <p:spPr>
          <a:xfrm>
            <a:off x="8078946" y="187361"/>
            <a:ext cx="2116094" cy="1305153"/>
          </a:xfrm>
          <a:prstGeom prst="wedgeRoundRectCallout">
            <a:avLst>
              <a:gd name="adj1" fmla="val -62148"/>
              <a:gd name="adj2" fmla="val 5147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100" dirty="0"/>
              <a:t>Backing field uses camel case (starts with a lower case) </a:t>
            </a:r>
          </a:p>
          <a:p>
            <a:pPr algn="ctr"/>
            <a:endParaRPr lang="en-US" sz="2100" dirty="0"/>
          </a:p>
          <a:p>
            <a:pPr algn="ctr"/>
            <a:r>
              <a:rPr lang="en-US" sz="2100" dirty="0"/>
              <a:t>This is where data is actually stored!</a:t>
            </a:r>
          </a:p>
        </p:txBody>
      </p:sp>
      <p:cxnSp>
        <p:nvCxnSpPr>
          <p:cNvPr id="18" name="Connector: Curved 17"/>
          <p:cNvCxnSpPr>
            <a:cxnSpLocks/>
            <a:stCxn id="5" idx="3"/>
            <a:endCxn id="7" idx="3"/>
          </p:cNvCxnSpPr>
          <p:nvPr/>
        </p:nvCxnSpPr>
        <p:spPr>
          <a:xfrm>
            <a:off x="8547651" y="1752874"/>
            <a:ext cx="451608" cy="2183281"/>
          </a:xfrm>
          <a:prstGeom prst="curvedConnector3">
            <a:avLst>
              <a:gd name="adj1" fmla="val 432111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>
          <a:xfrm>
            <a:off x="7528806" y="2763178"/>
            <a:ext cx="2116094" cy="709800"/>
          </a:xfrm>
          <a:prstGeom prst="wedgeRoundRectCallout">
            <a:avLst>
              <a:gd name="adj1" fmla="val -29397"/>
              <a:gd name="adj2" fmla="val -6584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2100" dirty="0"/>
              <a:t>Property uses </a:t>
            </a:r>
            <a:r>
              <a:rPr lang="en-US" sz="2100" dirty="0" err="1"/>
              <a:t>pascal</a:t>
            </a:r>
            <a:r>
              <a:rPr lang="en-US" sz="2100" dirty="0"/>
              <a:t> case (starts with a capital)</a:t>
            </a:r>
          </a:p>
        </p:txBody>
      </p:sp>
      <p:cxnSp>
        <p:nvCxnSpPr>
          <p:cNvPr id="22" name="Connector: Curved 21"/>
          <p:cNvCxnSpPr>
            <a:cxnSpLocks/>
            <a:stCxn id="8" idx="3"/>
            <a:endCxn id="5" idx="3"/>
          </p:cNvCxnSpPr>
          <p:nvPr/>
        </p:nvCxnSpPr>
        <p:spPr>
          <a:xfrm flipH="1" flipV="1">
            <a:off x="8547651" y="1752874"/>
            <a:ext cx="558580" cy="3643400"/>
          </a:xfrm>
          <a:prstGeom prst="curvedConnector3">
            <a:avLst>
              <a:gd name="adj1" fmla="val -402264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317273" y="2321169"/>
            <a:ext cx="2017836" cy="28575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96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45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2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 </a:t>
            </a:r>
          </a:p>
          <a:p>
            <a:pPr marL="4822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</a:t>
            </a:r>
          </a:p>
          <a:p>
            <a:pPr marL="4822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 } </a:t>
            </a:r>
          </a:p>
          <a:p>
            <a:pPr marL="4822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4822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Read-Only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434840"/>
          </a:xfrm>
        </p:spPr>
        <p:txBody>
          <a:bodyPr/>
          <a:lstStyle/>
          <a:p>
            <a:r>
              <a:rPr lang="en-US" dirty="0"/>
              <a:t>To make a read-only property just omit the set method.</a:t>
            </a:r>
          </a:p>
          <a:p>
            <a:r>
              <a:rPr lang="en-US" dirty="0"/>
              <a:t>Name property can be accessed outside the class to view Name property.</a:t>
            </a:r>
          </a:p>
          <a:p>
            <a:r>
              <a:rPr lang="en-US" dirty="0"/>
              <a:t>To set name you use the name backing field.</a:t>
            </a:r>
          </a:p>
        </p:txBody>
      </p:sp>
    </p:spTree>
    <p:extLst>
      <p:ext uri="{BB962C8B-B14F-4D97-AF65-F5344CB8AC3E}">
        <p14:creationId xmlns:p14="http://schemas.microsoft.com/office/powerpoint/2010/main" val="356735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Write-Only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can make a write-only property by omitting the get method.</a:t>
            </a:r>
          </a:p>
          <a:p>
            <a:r>
              <a:rPr lang="en-US"/>
              <a:t>However, this is considered as poor programming practice because it could be confusing to the authors of client code.</a:t>
            </a:r>
          </a:p>
          <a:p>
            <a:r>
              <a:rPr lang="en-US"/>
              <a:t>In general, it is recommended that if you are tempted to do this, you should use a method instead.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2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69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_name; </a:t>
            </a: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_name;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_name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4822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Get and Private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 to read-only property but you can set value using property from within the class. </a:t>
            </a:r>
          </a:p>
          <a:p>
            <a:r>
              <a:rPr lang="en-US" dirty="0"/>
              <a:t>Get is public because it inherits property's access modifier.</a:t>
            </a:r>
          </a:p>
          <a:p>
            <a:r>
              <a:rPr lang="en-US" dirty="0"/>
              <a:t>Set is made private so that it can only be accessed from within the class.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348543" y="2266682"/>
            <a:ext cx="786548" cy="2179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6829576" y="2936643"/>
            <a:ext cx="407115" cy="22219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6837109" y="4562612"/>
            <a:ext cx="1415582" cy="24953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306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69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Age1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Age2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Age3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Auto-Implemented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662902"/>
          </a:xfrm>
        </p:spPr>
        <p:txBody>
          <a:bodyPr>
            <a:normAutofit/>
          </a:bodyPr>
          <a:lstStyle/>
          <a:p>
            <a:r>
              <a:rPr lang="en-US" dirty="0"/>
              <a:t>C# provides a short cut to create properties called Auto-Implemented properties.</a:t>
            </a:r>
          </a:p>
          <a:p>
            <a:r>
              <a:rPr lang="en-US" dirty="0"/>
              <a:t>No backing field!</a:t>
            </a:r>
          </a:p>
          <a:p>
            <a:r>
              <a:rPr lang="en-US" dirty="0"/>
              <a:t>C# provides an anonymous backing field for you.</a:t>
            </a:r>
          </a:p>
          <a:p>
            <a:r>
              <a:rPr lang="en-US" dirty="0"/>
              <a:t>Therefore can’t use get-only format.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6232686" y="2388930"/>
            <a:ext cx="3284734" cy="76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Demonstrate how to use Auto-Implemented Properties.</a:t>
            </a:r>
          </a:p>
          <a:p>
            <a:r>
              <a:rPr lang="en-US" dirty="0"/>
              <a:t>Demonstrate how to use public get and private set properties.</a:t>
            </a:r>
          </a:p>
          <a:p>
            <a:r>
              <a:rPr lang="en-US" dirty="0"/>
              <a:t>Demonstrate how to use Read-Only properties.</a:t>
            </a:r>
          </a:p>
        </p:txBody>
      </p:sp>
    </p:spTree>
    <p:extLst>
      <p:ext uri="{BB962C8B-B14F-4D97-AF65-F5344CB8AC3E}">
        <p14:creationId xmlns:p14="http://schemas.microsoft.com/office/powerpoint/2010/main" val="423915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910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enericTheme">
  <a:themeElements>
    <a:clrScheme name="Custom 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00206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2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71E423-0761-4C62-861C-CCE0A0AF0F79}" vid="{E74B5E27-0562-43F4-BF48-C899AA94ED1A}"/>
    </a:ext>
  </a:extLst>
</a:theme>
</file>

<file path=ppt/theme/theme3.xml><?xml version="1.0" encoding="utf-8"?>
<a:theme xmlns:a="http://schemas.openxmlformats.org/drawingml/2006/main" name="1_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2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6199</TotalTime>
  <Words>579</Words>
  <Application>Microsoft Office PowerPoint</Application>
  <PresentationFormat>Widescreen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 Unicode MS</vt:lpstr>
      <vt:lpstr>Arial</vt:lpstr>
      <vt:lpstr>Arial Black</vt:lpstr>
      <vt:lpstr>Arial Narrow</vt:lpstr>
      <vt:lpstr>Calibri</vt:lpstr>
      <vt:lpstr>Cambria</vt:lpstr>
      <vt:lpstr>Consolas</vt:lpstr>
      <vt:lpstr>Courier New</vt:lpstr>
      <vt:lpstr>Edwardian Script ITC</vt:lpstr>
      <vt:lpstr>Webdings</vt:lpstr>
      <vt:lpstr>Wingdings</vt:lpstr>
      <vt:lpstr>GenericTheme</vt:lpstr>
      <vt:lpstr>FibTheme</vt:lpstr>
      <vt:lpstr>1_FibTheme</vt:lpstr>
      <vt:lpstr>2_FibTheme</vt:lpstr>
      <vt:lpstr>Properties</vt:lpstr>
      <vt:lpstr>Overview</vt:lpstr>
      <vt:lpstr>Properties</vt:lpstr>
      <vt:lpstr>Properties</vt:lpstr>
      <vt:lpstr>Properties</vt:lpstr>
      <vt:lpstr>Properties Syntax</vt:lpstr>
      <vt:lpstr>Properties</vt:lpstr>
      <vt:lpstr>Read-Only Properties</vt:lpstr>
      <vt:lpstr>Write-Only Properties</vt:lpstr>
      <vt:lpstr>Public Get and Private Set</vt:lpstr>
      <vt:lpstr>Auto-Implemented Properties</vt:lpstr>
      <vt:lpstr>Demo/Code 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194</cp:revision>
  <dcterms:created xsi:type="dcterms:W3CDTF">2015-05-10T23:35:32Z</dcterms:created>
  <dcterms:modified xsi:type="dcterms:W3CDTF">2017-01-05T05:00:15Z</dcterms:modified>
</cp:coreProperties>
</file>