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5" r:id="rId2"/>
  </p:sldMasterIdLst>
  <p:notesMasterIdLst>
    <p:notesMasterId r:id="rId16"/>
  </p:notesMasterIdLst>
  <p:sldIdLst>
    <p:sldId id="256" r:id="rId3"/>
    <p:sldId id="392" r:id="rId4"/>
    <p:sldId id="390" r:id="rId5"/>
    <p:sldId id="332" r:id="rId6"/>
    <p:sldId id="333" r:id="rId7"/>
    <p:sldId id="334" r:id="rId8"/>
    <p:sldId id="335" r:id="rId9"/>
    <p:sldId id="336" r:id="rId10"/>
    <p:sldId id="394" r:id="rId11"/>
    <p:sldId id="343" r:id="rId12"/>
    <p:sldId id="344" r:id="rId13"/>
    <p:sldId id="345" r:id="rId14"/>
    <p:sldId id="3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E95B87B-3ACB-472B-B75D-4CF3A3BE2AF8}">
          <p14:sldIdLst>
            <p14:sldId id="256"/>
            <p14:sldId id="392"/>
          </p14:sldIdLst>
        </p14:section>
        <p14:section name="Constructors" id="{037552C8-8829-4942-A0F5-3DE7380C1A58}">
          <p14:sldIdLst>
            <p14:sldId id="390"/>
            <p14:sldId id="332"/>
            <p14:sldId id="333"/>
            <p14:sldId id="334"/>
            <p14:sldId id="335"/>
            <p14:sldId id="336"/>
          </p14:sldIdLst>
        </p14:section>
        <p14:section name="Constructor Chaining" id="{48E0FB4F-3F31-42A5-AAA0-79761A25AD95}">
          <p14:sldIdLst>
            <p14:sldId id="394"/>
            <p14:sldId id="343"/>
            <p14:sldId id="344"/>
          </p14:sldIdLst>
        </p14:section>
        <p14:section name="Demo" id="{AF6696F7-D0AE-408F-8B48-C08EF6B9A09E}">
          <p14:sldIdLst>
            <p14:sldId id="345"/>
          </p14:sldIdLst>
        </p14:section>
        <p14:section name="Summary" id="{DCEC2B06-8CF5-4C98-BDE4-3234C735A927}">
          <p14:sldIdLst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3157" autoAdjust="0"/>
  </p:normalViewPr>
  <p:slideViewPr>
    <p:cSldViewPr snapToGrid="0">
      <p:cViewPr varScale="1">
        <p:scale>
          <a:sx n="55" d="100"/>
          <a:sy n="55" d="100"/>
        </p:scale>
        <p:origin x="720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58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2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9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68" indent="-257168">
              <a:buFont typeface="Wingdings" panose="05000000000000000000" pitchFamily="2" charset="2"/>
              <a:buChar char="ü"/>
              <a:defRPr/>
            </a:lvl1pPr>
            <a:lvl2pPr marL="557199" indent="-214308">
              <a:buFont typeface="Wingdings" panose="05000000000000000000" pitchFamily="2" charset="2"/>
              <a:buChar char="ü"/>
              <a:defRPr/>
            </a:lvl2pPr>
            <a:lvl3pPr marL="857229" indent="-171446">
              <a:buFont typeface="Wingdings" panose="05000000000000000000" pitchFamily="2" charset="2"/>
              <a:buChar char="ü"/>
              <a:defRPr/>
            </a:lvl3pPr>
            <a:lvl4pPr marL="1200121" indent="-171446">
              <a:buFont typeface="Wingdings" panose="05000000000000000000" pitchFamily="2" charset="2"/>
              <a:buChar char="ü"/>
              <a:defRPr/>
            </a:lvl4pPr>
            <a:lvl5pPr marL="1543012" indent="-171446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7" y="873131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6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9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1" rIns="68580" bIns="34291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6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9"/>
            <a:ext cx="10058400" cy="2593975"/>
          </a:xfrm>
        </p:spPr>
        <p:txBody>
          <a:bodyPr anchor="b"/>
          <a:lstStyle>
            <a:lvl1pPr>
              <a:defRPr sz="495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546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035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9975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97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b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b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5941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0681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484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651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096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336" y="5519341"/>
            <a:ext cx="10363200" cy="594626"/>
          </a:xfrm>
        </p:spPr>
        <p:txBody>
          <a:bodyPr anchor="b"/>
          <a:lstStyle>
            <a:lvl1pPr algn="ctr">
              <a:defRPr sz="1651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000" y="24063"/>
            <a:ext cx="11277600" cy="5486400"/>
          </a:xfrm>
          <a:noFill/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0336" y="6120063"/>
            <a:ext cx="10363200" cy="612648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83186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264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45720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57209"/>
            <a:ext cx="8026400" cy="585152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0994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984DF66A-1A5A-4D03-BFA3-ED7BBAACC0BB}" type="slidenum">
              <a:rPr lang="es-ES" altLang="en-US" smtClean="0"/>
              <a:pPr/>
              <a:t>‹#›</a:t>
            </a:fld>
            <a:endParaRPr lang="es-ES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/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0" name="Title 1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SOCRATIVE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469" y="6176963"/>
            <a:ext cx="10397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Go to </a:t>
            </a:r>
            <a:r>
              <a:rPr lang="en-US" sz="1800" dirty="0">
                <a:hlinkClick r:id="rId2"/>
              </a:rPr>
              <a:t>www.socrative.com</a:t>
            </a:r>
            <a:r>
              <a:rPr lang="en-US" sz="1800" dirty="0"/>
              <a:t> and log into </a:t>
            </a:r>
            <a:r>
              <a:rPr lang="en-US" sz="1800" dirty="0" err="1"/>
              <a:t>CNMRobGarner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34545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3" y="1584960"/>
            <a:ext cx="2438399" cy="487680"/>
          </a:xfrm>
          <a:prstGeom prst="rect">
            <a:avLst/>
          </a:prstGeom>
        </p:spPr>
        <p:txBody>
          <a:bodyPr/>
          <a:lstStyle/>
          <a:p>
            <a:endParaRPr lang="es-E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32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984DF66A-1A5A-4D03-BFA3-ED7BBAACC0BB}" type="slidenum">
              <a:rPr lang="es-ES" altLang="en-US" smtClean="0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3531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7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4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1" dirty="0"/>
              <a:t>Slides based on material from:</a:t>
            </a:r>
            <a:r>
              <a:rPr lang="en-US" sz="1051" baseline="0" dirty="0"/>
              <a:t> </a:t>
            </a:r>
            <a:r>
              <a:rPr lang="en-US" sz="1051" u="sng" dirty="0"/>
              <a:t>Professional C# 5.0 and .NET 4.5.1.</a:t>
            </a:r>
            <a:r>
              <a:rPr lang="en-US" sz="1051" u="none" dirty="0"/>
              <a:t> Nagel,</a:t>
            </a:r>
            <a:r>
              <a:rPr lang="en-US" sz="1051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891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783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674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566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7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txStyles>
    <p:titleStyle>
      <a:lvl1pPr algn="l" defTabSz="685783" rtl="0" eaLnBrk="1" latinLnBrk="0" hangingPunct="1">
        <a:spcBef>
          <a:spcPct val="0"/>
        </a:spcBef>
        <a:buNone/>
        <a:defRPr sz="3451" kern="1200" cap="none" spc="-75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57168" indent="-171446" algn="l" defTabSz="68578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48" indent="-171446" algn="l" defTabSz="68578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54361" indent="-171446" algn="l" defTabSz="68578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960096" indent="-171446" algn="l" defTabSz="68578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31" indent="-171446" algn="l" defTabSz="68578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02987" indent="-137157" algn="l" defTabSz="68578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05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440144" indent="-137157" algn="l" defTabSz="685783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7pPr>
      <a:lvl8pPr marL="1577301" indent="-137157" algn="l" defTabSz="685783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8pPr>
      <a:lvl9pPr marL="1714457" indent="-137157" algn="l" defTabSz="685783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23133"/>
            <a:ext cx="7772400" cy="1102519"/>
          </a:xfrm>
        </p:spPr>
        <p:txBody>
          <a:bodyPr/>
          <a:lstStyle/>
          <a:p>
            <a:r>
              <a:rPr lang="en-US" dirty="0"/>
              <a:t>Chapter 3 Objects and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  <a:p>
            <a:r>
              <a:rPr lang="en-US" dirty="0"/>
              <a:t>Constructor Chaining</a:t>
            </a:r>
          </a:p>
        </p:txBody>
      </p:sp>
    </p:spTree>
    <p:extLst>
      <p:ext uri="{BB962C8B-B14F-4D97-AF65-F5344CB8AC3E}">
        <p14:creationId xmlns:p14="http://schemas.microsoft.com/office/powerpoint/2010/main" val="16282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define and use constructors.</a:t>
            </a:r>
          </a:p>
        </p:txBody>
      </p:sp>
    </p:spTree>
    <p:extLst>
      <p:ext uri="{BB962C8B-B14F-4D97-AF65-F5344CB8AC3E}">
        <p14:creationId xmlns:p14="http://schemas.microsoft.com/office/powerpoint/2010/main" val="197810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 are methods that execute automatically when you instantiate your class.</a:t>
            </a:r>
          </a:p>
          <a:p>
            <a:r>
              <a:rPr lang="en-US" dirty="0"/>
              <a:t>Typically used to initialize fields that need to start with something other than default (zero) values.</a:t>
            </a:r>
          </a:p>
          <a:p>
            <a:r>
              <a:rPr lang="en-US" dirty="0"/>
              <a:t>C# will provide a default constructor if you don’t write one.</a:t>
            </a:r>
          </a:p>
        </p:txBody>
      </p:sp>
    </p:spTree>
    <p:extLst>
      <p:ext uri="{BB962C8B-B14F-4D97-AF65-F5344CB8AC3E}">
        <p14:creationId xmlns:p14="http://schemas.microsoft.com/office/powerpoint/2010/main" val="91245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Similar to a method except:</a:t>
            </a:r>
          </a:p>
          <a:p>
            <a:r>
              <a:rPr lang="en-US" sz="2800" dirty="0"/>
              <a:t>Name of constructor must be same as class name</a:t>
            </a:r>
          </a:p>
          <a:p>
            <a:r>
              <a:rPr lang="en-US" sz="2800" dirty="0"/>
              <a:t>No return type!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0" y="2137419"/>
            <a:ext cx="457200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//rest of class definition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548578" y="2770742"/>
            <a:ext cx="894383" cy="24384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Rectangle 6"/>
          <p:cNvSpPr/>
          <p:nvPr/>
        </p:nvSpPr>
        <p:spPr>
          <a:xfrm>
            <a:off x="7741111" y="2195622"/>
            <a:ext cx="1013422" cy="251246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902201" y="3014583"/>
            <a:ext cx="2573867" cy="1080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8557550" y="4301308"/>
            <a:ext cx="1805651" cy="620436"/>
          </a:xfrm>
          <a:prstGeom prst="wedgeRoundRectCallout">
            <a:avLst>
              <a:gd name="adj1" fmla="val -96117"/>
              <a:gd name="adj2" fmla="val -125440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sz="2100" dirty="0" err="1"/>
              <a:t>Initilialization</a:t>
            </a:r>
            <a:r>
              <a:rPr lang="en-US" sz="2100" dirty="0"/>
              <a:t> code goes here.</a:t>
            </a:r>
          </a:p>
        </p:txBody>
      </p:sp>
    </p:spTree>
    <p:extLst>
      <p:ext uri="{BB962C8B-B14F-4D97-AF65-F5344CB8AC3E}">
        <p14:creationId xmlns:p14="http://schemas.microsoft.com/office/powerpoint/2010/main" val="13416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Parameters To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Constructors can use all the parameter passing techniques discussed before</a:t>
            </a:r>
          </a:p>
          <a:p>
            <a:r>
              <a:rPr lang="en-US" dirty="0"/>
              <a:t>Value</a:t>
            </a:r>
          </a:p>
          <a:p>
            <a:r>
              <a:rPr lang="en-US" dirty="0"/>
              <a:t>Reference</a:t>
            </a:r>
          </a:p>
          <a:p>
            <a:r>
              <a:rPr lang="en-US" dirty="0"/>
              <a:t>Out</a:t>
            </a:r>
          </a:p>
          <a:p>
            <a:r>
              <a:rPr lang="en-US" dirty="0"/>
              <a:t>Named Arguments</a:t>
            </a:r>
          </a:p>
          <a:p>
            <a:r>
              <a:rPr lang="en-US" dirty="0"/>
              <a:t>Optional Arguments</a:t>
            </a:r>
          </a:p>
          <a:p>
            <a:r>
              <a:rPr lang="en-US" dirty="0"/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420227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Overloaded constructors is a common way to offer multiple ways to instantiate an object from you class.</a:t>
            </a:r>
          </a:p>
          <a:p>
            <a:r>
              <a:rPr lang="en-US" dirty="0"/>
              <a:t>Simply write multiple constructor methods with different parameter lists.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2" indent="0">
              <a:buNone/>
            </a:pP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//zero parameter constructor</a:t>
            </a:r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85722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construction code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85722" indent="0">
              <a:buNone/>
            </a:pP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another overload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85722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number) </a:t>
            </a: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construction code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85722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8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and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Normally your constructors will be public so that code outside the class can instantiate objects from it.</a:t>
            </a:r>
          </a:p>
          <a:p>
            <a:r>
              <a:rPr lang="en-US" dirty="0"/>
              <a:t>There are cases where you may make constructors private.</a:t>
            </a:r>
          </a:p>
          <a:p>
            <a:pPr lvl="1"/>
            <a:r>
              <a:rPr lang="en-US" dirty="0"/>
              <a:t>If you class serves as only a container for static members in which case you can make the constructor private to prevent it from ever being instantiated.</a:t>
            </a:r>
          </a:p>
          <a:p>
            <a:pPr lvl="1"/>
            <a:r>
              <a:rPr lang="en-US" dirty="0"/>
              <a:t>If you want the class to only ever be instantiated by calling a static member function (this is called a “class factory” pattern to object instantiation).</a:t>
            </a:r>
          </a:p>
          <a:p>
            <a:pPr lvl="1"/>
            <a:r>
              <a:rPr lang="en-US" dirty="0"/>
              <a:t>Most of the time public constructors will be the pattern that you will use.</a:t>
            </a:r>
          </a:p>
        </p:txBody>
      </p:sp>
    </p:spTree>
    <p:extLst>
      <p:ext uri="{BB962C8B-B14F-4D97-AF65-F5344CB8AC3E}">
        <p14:creationId xmlns:p14="http://schemas.microsoft.com/office/powerpoint/2010/main" val="242742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Chaining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implement constructor chaining.</a:t>
            </a:r>
          </a:p>
        </p:txBody>
      </p:sp>
    </p:spTree>
    <p:extLst>
      <p:ext uri="{BB962C8B-B14F-4D97-AF65-F5344CB8AC3E}">
        <p14:creationId xmlns:p14="http://schemas.microsoft.com/office/powerpoint/2010/main" val="63917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Chaining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34963" y="1396082"/>
            <a:ext cx="3224979" cy="4590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Constructors can call other constructors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/>
              <a:t> keyword.</a:t>
            </a:r>
          </a:p>
          <a:p>
            <a:r>
              <a:rPr lang="en-US" dirty="0"/>
              <a:t>Using a colon and this keyword causes execution to temporarily move to the constructor that has the specified parameter signature.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151399" y="1398639"/>
            <a:ext cx="7182736" cy="4590288"/>
          </a:xfrm>
        </p:spPr>
        <p:txBody>
          <a:bodyPr>
            <a:normAutofit lnSpcReduction="10000"/>
          </a:bodyPr>
          <a:lstStyle/>
          <a:p>
            <a:pPr marL="85722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description;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nWheels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Car(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nWheels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.description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description;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.nWheels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nWheels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Car(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description):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(description, 4)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etc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85722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  <a:p>
            <a:pPr marL="85722" indent="0">
              <a:buNone/>
            </a:pP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8784675" y="4100515"/>
            <a:ext cx="1753047" cy="250259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 flipV="1">
            <a:off x="7757652" y="2809568"/>
            <a:ext cx="1408471" cy="12609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9007272" y="2817600"/>
            <a:ext cx="1316599" cy="12529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>
          <a:xfrm>
            <a:off x="2294860" y="4519700"/>
            <a:ext cx="1679830" cy="715977"/>
          </a:xfrm>
          <a:prstGeom prst="wedgeRoundRectCallout">
            <a:avLst>
              <a:gd name="adj1" fmla="val 100416"/>
              <a:gd name="adj2" fmla="val -210650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2100" dirty="0"/>
              <a:t>Executed first.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7212724" y="4968868"/>
            <a:ext cx="1798540" cy="760880"/>
          </a:xfrm>
          <a:prstGeom prst="wedgeRoundRectCallout">
            <a:avLst>
              <a:gd name="adj1" fmla="val -163038"/>
              <a:gd name="adj2" fmla="val -78271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2100" dirty="0"/>
              <a:t>Executed second.</a:t>
            </a:r>
          </a:p>
        </p:txBody>
      </p:sp>
    </p:spTree>
    <p:extLst>
      <p:ext uri="{BB962C8B-B14F-4D97-AF65-F5344CB8AC3E}">
        <p14:creationId xmlns:p14="http://schemas.microsoft.com/office/powerpoint/2010/main" val="183363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constructor chaining to avoid duplicating code as much as possible.</a:t>
            </a:r>
          </a:p>
          <a:p>
            <a:r>
              <a:rPr lang="en-US" dirty="0"/>
              <a:t>Write the multi-parameter constructor first.</a:t>
            </a:r>
          </a:p>
          <a:p>
            <a:r>
              <a:rPr lang="en-US" dirty="0"/>
              <a:t>Make all other constructors use the multi-parameter constructor to do as much initialization as possible.</a:t>
            </a:r>
          </a:p>
        </p:txBody>
      </p:sp>
    </p:spTree>
    <p:extLst>
      <p:ext uri="{BB962C8B-B14F-4D97-AF65-F5344CB8AC3E}">
        <p14:creationId xmlns:p14="http://schemas.microsoft.com/office/powerpoint/2010/main" val="3494365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write constructors.</a:t>
            </a:r>
          </a:p>
          <a:p>
            <a:r>
              <a:rPr lang="en-US" dirty="0"/>
              <a:t>Demonstrate how to implement constructor chaining.</a:t>
            </a:r>
          </a:p>
        </p:txBody>
      </p:sp>
    </p:spTree>
    <p:extLst>
      <p:ext uri="{BB962C8B-B14F-4D97-AF65-F5344CB8AC3E}">
        <p14:creationId xmlns:p14="http://schemas.microsoft.com/office/powerpoint/2010/main" val="428403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  <a:p>
            <a:r>
              <a:rPr lang="en-US"/>
              <a:t>Constructor Chaining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7874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eneric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2.xml><?xml version="1.0" encoding="utf-8"?>
<a:theme xmlns:a="http://schemas.openxmlformats.org/drawingml/2006/main" name="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5723</TotalTime>
  <Words>450</Words>
  <Application>Microsoft Office PowerPoint</Application>
  <PresentationFormat>Widescreen</PresentationFormat>
  <Paragraphs>84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 Unicode MS</vt:lpstr>
      <vt:lpstr>Arial</vt:lpstr>
      <vt:lpstr>Arial Black</vt:lpstr>
      <vt:lpstr>Arial Narrow</vt:lpstr>
      <vt:lpstr>Calibri</vt:lpstr>
      <vt:lpstr>Cambria</vt:lpstr>
      <vt:lpstr>Consolas</vt:lpstr>
      <vt:lpstr>Courier New</vt:lpstr>
      <vt:lpstr>Edwardian Script ITC</vt:lpstr>
      <vt:lpstr>Webdings</vt:lpstr>
      <vt:lpstr>Wingdings</vt:lpstr>
      <vt:lpstr>GenericTheme</vt:lpstr>
      <vt:lpstr>FibTheme</vt:lpstr>
      <vt:lpstr>Chapter 3 Objects and Types</vt:lpstr>
      <vt:lpstr>Overview</vt:lpstr>
      <vt:lpstr>Constructors</vt:lpstr>
      <vt:lpstr>Constructors</vt:lpstr>
      <vt:lpstr>Constructor Syntax</vt:lpstr>
      <vt:lpstr>Passing Parameters To Constructors</vt:lpstr>
      <vt:lpstr>Overloaded Constructors</vt:lpstr>
      <vt:lpstr>Constructors and Encapsulation</vt:lpstr>
      <vt:lpstr>Constructor Chaining</vt:lpstr>
      <vt:lpstr>Constructor Chaining</vt:lpstr>
      <vt:lpstr>Constructor Chaining</vt:lpstr>
      <vt:lpstr>Demo/Code 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186</cp:revision>
  <dcterms:created xsi:type="dcterms:W3CDTF">2015-05-10T23:35:32Z</dcterms:created>
  <dcterms:modified xsi:type="dcterms:W3CDTF">2017-01-11T06:29:09Z</dcterms:modified>
</cp:coreProperties>
</file>