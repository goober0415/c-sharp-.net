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693" r:id="rId2"/>
    <p:sldMasterId id="2147483711" r:id="rId3"/>
  </p:sldMasterIdLst>
  <p:notesMasterIdLst>
    <p:notesMasterId r:id="rId21"/>
  </p:notesMasterIdLst>
  <p:sldIdLst>
    <p:sldId id="256" r:id="rId4"/>
    <p:sldId id="392" r:id="rId5"/>
    <p:sldId id="378" r:id="rId6"/>
    <p:sldId id="394" r:id="rId7"/>
    <p:sldId id="395" r:id="rId8"/>
    <p:sldId id="397" r:id="rId9"/>
    <p:sldId id="396" r:id="rId10"/>
    <p:sldId id="361" r:id="rId11"/>
    <p:sldId id="362" r:id="rId12"/>
    <p:sldId id="363" r:id="rId13"/>
    <p:sldId id="365" r:id="rId14"/>
    <p:sldId id="366" r:id="rId15"/>
    <p:sldId id="360" r:id="rId16"/>
    <p:sldId id="398" r:id="rId17"/>
    <p:sldId id="364" r:id="rId18"/>
    <p:sldId id="399" r:id="rId19"/>
    <p:sldId id="39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CE95B87B-3ACB-472B-B75D-4CF3A3BE2AF8}">
          <p14:sldIdLst>
            <p14:sldId id="256"/>
            <p14:sldId id="392"/>
          </p14:sldIdLst>
        </p14:section>
        <p14:section name="The Object Class" id="{6C24AD32-1876-4527-9F1B-1E3F873E21ED}">
          <p14:sldIdLst>
            <p14:sldId id="378"/>
            <p14:sldId id="394"/>
            <p14:sldId id="395"/>
          </p14:sldIdLst>
        </p14:section>
        <p14:section name="Object Class Members" id="{D8DEFE7A-2826-4B99-868C-7F5FDBFE454C}">
          <p14:sldIdLst>
            <p14:sldId id="397"/>
            <p14:sldId id="396"/>
            <p14:sldId id="361"/>
            <p14:sldId id="362"/>
            <p14:sldId id="363"/>
            <p14:sldId id="365"/>
            <p14:sldId id="366"/>
            <p14:sldId id="360"/>
          </p14:sldIdLst>
        </p14:section>
        <p14:section name="Overiding ToString Method" id="{7A41C06F-E37C-4776-94B1-12BB675F376F}">
          <p14:sldIdLst>
            <p14:sldId id="398"/>
            <p14:sldId id="364"/>
          </p14:sldIdLst>
        </p14:section>
        <p14:section name="Demo" id="{DE1FCD15-40EC-4E3D-BEF0-EC187B9D558E}">
          <p14:sldIdLst>
            <p14:sldId id="399"/>
          </p14:sldIdLst>
        </p14:section>
        <p14:section name="Summary" id="{C2FEA952-13BC-4ED1-9179-87501EBFA121}">
          <p14:sldIdLst>
            <p14:sldId id="3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3157" autoAdjust="0"/>
  </p:normalViewPr>
  <p:slideViewPr>
    <p:cSldViewPr snapToGrid="0">
      <p:cViewPr varScale="1">
        <p:scale>
          <a:sx n="61" d="100"/>
          <a:sy n="61" d="100"/>
        </p:scale>
        <p:origin x="928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526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28AEDA-69F3-4BD8-A62F-AB69D1B5AE71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92D35B-DA1B-4438-A15B-857732987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105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92D35B-DA1B-4438-A15B-85773298702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103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www.socrative.com/" TargetMode="Externa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47803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38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5" descr="CNM logo_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3"/>
            <a:ext cx="34036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6422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405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Che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57175" indent="-257175">
              <a:buFont typeface="Wingdings" panose="05000000000000000000" pitchFamily="2" charset="2"/>
              <a:buChar char="ü"/>
              <a:defRPr/>
            </a:lvl1pPr>
            <a:lvl2pPr marL="557213" indent="-214313">
              <a:buFont typeface="Wingdings" panose="05000000000000000000" pitchFamily="2" charset="2"/>
              <a:buChar char="ü"/>
              <a:defRPr/>
            </a:lvl2pPr>
            <a:lvl3pPr marL="857250" indent="-171450">
              <a:buFont typeface="Wingdings" panose="05000000000000000000" pitchFamily="2" charset="2"/>
              <a:buChar char="ü"/>
              <a:defRPr/>
            </a:lvl3pPr>
            <a:lvl4pPr marL="1200150" indent="-171450">
              <a:buFont typeface="Wingdings" panose="05000000000000000000" pitchFamily="2" charset="2"/>
              <a:buChar char="ü"/>
              <a:defRPr/>
            </a:lvl4pPr>
            <a:lvl5pPr marL="1543050" indent="-171450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09600" y="471948"/>
            <a:ext cx="10972800" cy="1128250"/>
          </a:xfrm>
          <a:prstGeom prst="rect">
            <a:avLst/>
          </a:prstGeom>
          <a:noFill/>
          <a:ln>
            <a:noFill/>
          </a:ln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lvl="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pPr lvl="0"/>
            <a:r>
              <a:rPr lang="en-US" sz="3300" dirty="0"/>
              <a:t>Quality Check Items</a:t>
            </a:r>
          </a:p>
        </p:txBody>
      </p:sp>
    </p:spTree>
    <p:extLst>
      <p:ext uri="{BB962C8B-B14F-4D97-AF65-F5344CB8AC3E}">
        <p14:creationId xmlns:p14="http://schemas.microsoft.com/office/powerpoint/2010/main" val="2070901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8161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6197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8731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3650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447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800" y="152401"/>
            <a:ext cx="5283200" cy="553998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ES" sz="3000" dirty="0"/>
              <a:t>Instructor </a:t>
            </a:r>
            <a:r>
              <a:rPr lang="es-ES" sz="3000" dirty="0" err="1"/>
              <a:t>Name</a:t>
            </a:r>
            <a:r>
              <a:rPr lang="es-ES" sz="3000" dirty="0"/>
              <a:t>: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85753" y="873128"/>
            <a:ext cx="4692649" cy="1015663"/>
          </a:xfrm>
          <a:prstGeom prst="rect">
            <a:avLst/>
          </a:prstGeom>
          <a:solidFill>
            <a:schemeClr val="bg1">
              <a:alpha val="67058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3000" dirty="0"/>
              <a:t>Instructor ID #:</a:t>
            </a:r>
          </a:p>
          <a:p>
            <a:pPr eaLnBrk="1" hangingPunct="1"/>
            <a:r>
              <a:rPr lang="en-US" sz="3000" dirty="0"/>
              <a:t>Class ID #:  </a:t>
            </a:r>
            <a:endParaRPr lang="es-ES" sz="300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48000" y="4038603"/>
            <a:ext cx="3249608" cy="1200329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7200" b="1" dirty="0">
                <a:latin typeface="Edwardian Script ITC" pitchFamily="66" charset="0"/>
              </a:rPr>
              <a:t>Thank you!</a:t>
            </a:r>
            <a:endParaRPr lang="es-ES" sz="7200" b="1" dirty="0">
              <a:latin typeface="Edwardian Script ITC" pitchFamily="66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588000" y="3048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080000" y="9906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60800" y="16002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7623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 bwMode="auto">
          <a:xfrm>
            <a:off x="1016000" y="4419603"/>
            <a:ext cx="10363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r>
              <a:rPr lang="en-US" sz="3000" kern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416491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5931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654784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2125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62214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32363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600203"/>
            <a:ext cx="98552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177931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4780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0386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257175" indent="0" algn="ctr">
              <a:buNone/>
              <a:defRPr/>
            </a:lvl2pPr>
            <a:lvl3pPr marL="514350" indent="0" algn="ctr">
              <a:buNone/>
              <a:defRPr/>
            </a:lvl3pPr>
            <a:lvl4pPr marL="771525" indent="0" algn="ctr">
              <a:buNone/>
              <a:defRPr/>
            </a:lvl4pPr>
            <a:lvl5pPr marL="1028700" indent="0" algn="ctr">
              <a:buNone/>
              <a:defRPr/>
            </a:lvl5pPr>
            <a:lvl6pPr marL="1285875" indent="0" algn="ctr">
              <a:buNone/>
              <a:defRPr/>
            </a:lvl6pPr>
            <a:lvl7pPr marL="1543050" indent="0" algn="ctr">
              <a:buNone/>
              <a:defRPr/>
            </a:lvl7pPr>
            <a:lvl8pPr marL="1800225" indent="0" algn="ctr">
              <a:buNone/>
              <a:defRPr/>
            </a:lvl8pPr>
            <a:lvl9pPr marL="20574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60D0765-55E8-4909-ADBD-5B947302B82B}" type="datetimeFigureOut">
              <a:rPr lang="en-US" smtClean="0"/>
              <a:t>04-Jan-17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pic>
        <p:nvPicPr>
          <p:cNvPr id="6" name="Picture 5" descr="CNM logo_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8800" y="5"/>
            <a:ext cx="3403600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64195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60D0765-55E8-4909-ADBD-5B947302B82B}" type="datetimeFigureOut">
              <a:rPr lang="en-US" smtClean="0"/>
              <a:t>04-Jan-17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87776A4-8A95-4ECE-98A9-5641BF2F9C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5142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Che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192881" indent="-192881">
              <a:buFont typeface="Wingdings" panose="05000000000000000000" pitchFamily="2" charset="2"/>
              <a:buChar char="ü"/>
              <a:defRPr/>
            </a:lvl1pPr>
            <a:lvl2pPr marL="417910" indent="-160735">
              <a:buFont typeface="Wingdings" panose="05000000000000000000" pitchFamily="2" charset="2"/>
              <a:buChar char="ü"/>
              <a:defRPr/>
            </a:lvl2pPr>
            <a:lvl3pPr marL="642938" indent="-128588">
              <a:buFont typeface="Wingdings" panose="05000000000000000000" pitchFamily="2" charset="2"/>
              <a:buChar char="ü"/>
              <a:defRPr/>
            </a:lvl3pPr>
            <a:lvl4pPr marL="900113" indent="-128588">
              <a:buFont typeface="Wingdings" panose="05000000000000000000" pitchFamily="2" charset="2"/>
              <a:buChar char="ü"/>
              <a:defRPr/>
            </a:lvl4pPr>
            <a:lvl5pPr marL="1157288" indent="-128588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44B790D-B89D-43B7-BDD8-C6FEBD1A797B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1516C32-2EEE-4D37-A3D7-4BF53FB583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471948"/>
            <a:ext cx="10972800" cy="1128250"/>
          </a:xfrm>
          <a:prstGeom prst="rect">
            <a:avLst/>
          </a:prstGeom>
          <a:noFill/>
          <a:ln>
            <a:noFill/>
          </a:ln>
        </p:spPr>
        <p:txBody>
          <a:bodyPr vert="horz" wrap="square" lIns="51435" tIns="25718" rIns="51435" bIns="25718" numCol="1" anchor="ctr" anchorCtr="0" compatLnSpc="1">
            <a:prstTxWarp prst="textNoShape">
              <a:avLst/>
            </a:prstTxWarp>
          </a:bodyPr>
          <a:lstStyle>
            <a:lvl1pPr lvl="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pPr lvl="0"/>
            <a:r>
              <a:rPr lang="en-US" sz="2475" dirty="0"/>
              <a:t>Quality Check Items</a:t>
            </a:r>
          </a:p>
        </p:txBody>
      </p:sp>
    </p:spTree>
    <p:extLst>
      <p:ext uri="{BB962C8B-B14F-4D97-AF65-F5344CB8AC3E}">
        <p14:creationId xmlns:p14="http://schemas.microsoft.com/office/powerpoint/2010/main" val="1157275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225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125"/>
            </a:lvl1pPr>
            <a:lvl2pPr marL="257175" indent="0">
              <a:buNone/>
              <a:defRPr sz="1013"/>
            </a:lvl2pPr>
            <a:lvl3pPr marL="514350" indent="0">
              <a:buNone/>
              <a:defRPr sz="900"/>
            </a:lvl3pPr>
            <a:lvl4pPr marL="771525" indent="0">
              <a:buNone/>
              <a:defRPr sz="788"/>
            </a:lvl4pPr>
            <a:lvl5pPr marL="1028700" indent="0">
              <a:buNone/>
              <a:defRPr sz="788"/>
            </a:lvl5pPr>
            <a:lvl6pPr marL="1285875" indent="0">
              <a:buNone/>
              <a:defRPr sz="788"/>
            </a:lvl6pPr>
            <a:lvl7pPr marL="1543050" indent="0">
              <a:buNone/>
              <a:defRPr sz="788"/>
            </a:lvl7pPr>
            <a:lvl8pPr marL="1800225" indent="0">
              <a:buNone/>
              <a:defRPr sz="788"/>
            </a:lvl8pPr>
            <a:lvl9pPr marL="2057400" indent="0">
              <a:buNone/>
              <a:defRPr sz="788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60D0765-55E8-4909-ADBD-5B947302B82B}" type="datetimeFigureOut">
              <a:rPr lang="en-US" smtClean="0"/>
              <a:t>04-Jan-17</a:t>
            </a:fld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87776A4-8A95-4ECE-98A9-5641BF2F9C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1514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>
            <a:lvl1pPr>
              <a:defRPr sz="1575"/>
            </a:lvl1pPr>
            <a:lvl2pPr>
              <a:defRPr sz="1350"/>
            </a:lvl2pPr>
            <a:lvl3pPr>
              <a:defRPr sz="1125"/>
            </a:lvl3pPr>
            <a:lvl4pPr>
              <a:defRPr sz="1013"/>
            </a:lvl4pPr>
            <a:lvl5pPr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60D0765-55E8-4909-ADBD-5B947302B82B}" type="datetimeFigureOut">
              <a:rPr lang="en-US" smtClean="0"/>
              <a:t>04-Jan-17</a:t>
            </a:fld>
            <a:endParaRPr lang="en-US" dirty="0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87776A4-8A95-4ECE-98A9-5641BF2F9C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6369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1350"/>
            </a:lvl1pPr>
            <a:lvl2pPr>
              <a:defRPr sz="1125"/>
            </a:lvl2pPr>
            <a:lvl3pPr>
              <a:defRPr sz="1013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60D0765-55E8-4909-ADBD-5B947302B82B}" type="datetimeFigureOut">
              <a:rPr lang="en-US" smtClean="0"/>
              <a:t>04-Jan-17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87776A4-8A95-4ECE-98A9-5641BF2F9C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2607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60D0765-55E8-4909-ADBD-5B947302B82B}" type="datetimeFigureOut">
              <a:rPr lang="en-US" smtClean="0"/>
              <a:t>04-Jan-17</a:t>
            </a:fld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87776A4-8A95-4ECE-98A9-5641BF2F9C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5452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60D0765-55E8-4909-ADBD-5B947302B82B}" type="datetimeFigureOut">
              <a:rPr lang="en-US" smtClean="0"/>
              <a:t>04-Jan-17</a:t>
            </a:fld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87776A4-8A95-4ECE-98A9-5641BF2F9C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6194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60D0765-55E8-4909-ADBD-5B947302B82B}" type="datetimeFigureOut">
              <a:rPr lang="en-US" smtClean="0"/>
              <a:t>04-Jan-17</a:t>
            </a:fld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87776A4-8A95-4ECE-98A9-5641BF2F9C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Slide Number Placeholder 1"/>
          <p:cNvSpPr txBox="1">
            <a:spLocks/>
          </p:cNvSpPr>
          <p:nvPr/>
        </p:nvSpPr>
        <p:spPr>
          <a:xfrm>
            <a:off x="609600" y="5943605"/>
            <a:ext cx="10972800" cy="777875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eaLnBrk="1" hangingPunct="1"/>
            <a:fld id="{BEC4B462-DC2D-47D4-8944-F81C2113999E}" type="slidenum">
              <a:rPr lang="en-US" sz="1013" smtClean="0"/>
              <a:pPr eaLnBrk="1" hangingPunct="1"/>
              <a:t>‹#›</a:t>
            </a:fld>
            <a:endParaRPr lang="en-US" sz="1013"/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4800" y="152401"/>
            <a:ext cx="5283200" cy="438582"/>
          </a:xfrm>
          <a:prstGeom prst="rect">
            <a:avLst/>
          </a:prstGeom>
          <a:solidFill>
            <a:schemeClr val="bg1">
              <a:alpha val="74901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ES" sz="2250" dirty="0"/>
              <a:t>Instructor </a:t>
            </a:r>
            <a:r>
              <a:rPr lang="es-ES" sz="2250" dirty="0" err="1"/>
              <a:t>Name</a:t>
            </a:r>
            <a:r>
              <a:rPr lang="es-ES" sz="2250" dirty="0"/>
              <a:t>: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85754" y="873128"/>
            <a:ext cx="4692649" cy="784830"/>
          </a:xfrm>
          <a:prstGeom prst="rect">
            <a:avLst/>
          </a:prstGeom>
          <a:solidFill>
            <a:schemeClr val="bg1">
              <a:alpha val="67058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250" dirty="0"/>
              <a:t>Instructor ID #:</a:t>
            </a:r>
          </a:p>
          <a:p>
            <a:pPr eaLnBrk="1" hangingPunct="1"/>
            <a:r>
              <a:rPr lang="en-US" sz="2250" dirty="0"/>
              <a:t>Class ID #:  </a:t>
            </a:r>
            <a:endParaRPr lang="es-ES" sz="2250" dirty="0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3048000" y="4038603"/>
            <a:ext cx="2480166" cy="923330"/>
          </a:xfrm>
          <a:prstGeom prst="rect">
            <a:avLst/>
          </a:prstGeom>
          <a:solidFill>
            <a:schemeClr val="bg1">
              <a:lumMod val="95000"/>
              <a:alpha val="51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5400" b="1" dirty="0">
                <a:latin typeface="Edwardian Script ITC" pitchFamily="66" charset="0"/>
              </a:rPr>
              <a:t>Thank you!</a:t>
            </a:r>
            <a:endParaRPr lang="es-ES" sz="5400" b="1" dirty="0">
              <a:latin typeface="Edwardian Script ITC" pitchFamily="66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588000" y="3048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5080000" y="9906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3860800" y="1600200"/>
            <a:ext cx="5791200" cy="533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68143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60D0765-55E8-4909-ADBD-5B947302B82B}" type="datetimeFigureOut">
              <a:rPr lang="en-US" smtClean="0"/>
              <a:t>04-Jan-17</a:t>
            </a:fld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87776A4-8A95-4ECE-98A9-5641BF2F9C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1016000" y="4419605"/>
            <a:ext cx="1036320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1435" tIns="25718" rIns="51435" bIns="25718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rgbClr val="004990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004990"/>
                </a:solidFill>
                <a:latin typeface="Arial Black" pitchFamily="34" charset="0"/>
              </a:defRPr>
            </a:lvl9pPr>
          </a:lstStyle>
          <a:p>
            <a:r>
              <a:rPr lang="en-US" sz="2250" kern="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7225608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60D0765-55E8-4909-ADBD-5B947302B82B}" type="datetimeFigureOut">
              <a:rPr lang="en-US" smtClean="0"/>
              <a:t>04-Jan-17</a:t>
            </a:fld>
            <a:endParaRPr lang="en-US" dirty="0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87776A4-8A95-4ECE-98A9-5641BF2F9C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3015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12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60D0765-55E8-4909-ADBD-5B947302B82B}" type="datetimeFigureOut">
              <a:rPr lang="en-US" smtClean="0"/>
              <a:t>04-Jan-17</a:t>
            </a:fld>
            <a:endParaRPr lang="en-US" dirty="0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87776A4-8A95-4ECE-98A9-5641BF2F9C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6774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60D0765-55E8-4909-ADBD-5B947302B82B}" type="datetimeFigureOut">
              <a:rPr lang="en-US" smtClean="0"/>
              <a:t>04-Jan-17</a:t>
            </a:fld>
            <a:endParaRPr lang="en-US" dirty="0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87776A4-8A95-4ECE-98A9-5641BF2F9C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1699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600200"/>
            <a:ext cx="5384800" cy="3962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60D0765-55E8-4909-ADBD-5B947302B82B}" type="datetimeFigureOut">
              <a:rPr lang="en-US" smtClean="0"/>
              <a:t>04-Jan-17</a:t>
            </a:fld>
            <a:endParaRPr lang="en-US" dirty="0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87776A4-8A95-4ECE-98A9-5641BF2F9C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0156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60D0765-55E8-4909-ADBD-5B947302B82B}" type="datetimeFigureOut">
              <a:rPr lang="en-US" smtClean="0"/>
              <a:t>04-Jan-17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9600" y="5943605"/>
            <a:ext cx="10972800" cy="777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87776A4-8A95-4ECE-98A9-5641BF2F9C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9664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7200" y="1600205"/>
            <a:ext cx="9855200" cy="45259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13"/>
          <p:cNvSpPr>
            <a:spLocks noGrp="1"/>
          </p:cNvSpPr>
          <p:nvPr>
            <p:ph type="ftr" sz="quarter" idx="10"/>
            <p:custDataLst>
              <p:tags r:id="rId1"/>
            </p:custDataLst>
          </p:nvPr>
        </p:nvSpPr>
        <p:spPr>
          <a:xfrm>
            <a:off x="2336800" y="6324605"/>
            <a:ext cx="6400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12"/>
          <p:cNvSpPr>
            <a:spLocks noGrp="1"/>
          </p:cNvSpPr>
          <p:nvPr>
            <p:ph type="sldNum" sz="quarter" idx="11"/>
            <p:custDataLst>
              <p:tags r:id="rId2"/>
            </p:custDataLst>
          </p:nvPr>
        </p:nvSpPr>
        <p:spPr>
          <a:xfrm>
            <a:off x="8636000" y="6400805"/>
            <a:ext cx="2844800" cy="365125"/>
          </a:xfrm>
          <a:prstGeom prst="rect">
            <a:avLst/>
          </a:prstGeom>
        </p:spPr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</a:defRPr>
            </a:lvl1pPr>
          </a:lstStyle>
          <a:p>
            <a:fld id="{187776A4-8A95-4ECE-98A9-5641BF2F9C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78405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ocr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3789" y="627745"/>
            <a:ext cx="7588075" cy="22224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844" dirty="0"/>
              <a:t>Go to </a:t>
            </a:r>
            <a:r>
              <a:rPr lang="en-US" sz="844" dirty="0">
                <a:hlinkClick r:id="rId2"/>
              </a:rPr>
              <a:t>www.socrative.com</a:t>
            </a:r>
            <a:r>
              <a:rPr lang="en-US" sz="844" dirty="0"/>
              <a:t> and log into &lt;instructor</a:t>
            </a:r>
            <a:r>
              <a:rPr lang="en-US" sz="844" baseline="0" dirty="0"/>
              <a:t> account name&gt;</a:t>
            </a:r>
            <a:endParaRPr lang="en-US" sz="844" dirty="0"/>
          </a:p>
        </p:txBody>
      </p:sp>
      <p:pic>
        <p:nvPicPr>
          <p:cNvPr id="1026" name="Picture 2" descr="https://socrative-production-static-web.s3.amazonaws.com/img/logo_new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33" y="412103"/>
            <a:ext cx="2922411" cy="7767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34926321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7"/>
            <a:ext cx="10058400" cy="2593975"/>
          </a:xfrm>
        </p:spPr>
        <p:txBody>
          <a:bodyPr anchor="b"/>
          <a:lstStyle>
            <a:lvl1pPr>
              <a:defRPr sz="3300">
                <a:ln>
                  <a:noFill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1928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857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786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9644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157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350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3967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1800"/>
            </a:lvl3pPr>
            <a:lvl4pPr>
              <a:defRPr sz="1500"/>
            </a:lvl4pPr>
            <a:lvl5pPr>
              <a:defRPr sz="135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4655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7" y="5486400"/>
            <a:ext cx="10212916" cy="1168400"/>
          </a:xfrm>
        </p:spPr>
        <p:txBody>
          <a:bodyPr anchor="t"/>
          <a:lstStyle>
            <a:lvl1pPr algn="l">
              <a:defRPr sz="21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7" y="3852863"/>
            <a:ext cx="8180916" cy="1633538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none"/>
        </p:style>
        <p:txBody>
          <a:bodyPr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192881" indent="0"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2pPr>
            <a:lvl3pPr marL="385763" indent="0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3pPr>
            <a:lvl4pPr marL="578644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4pPr>
            <a:lvl5pPr marL="771525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5pPr>
            <a:lvl6pPr marL="964406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6pPr>
            <a:lvl7pPr marL="1157288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7pPr>
            <a:lvl8pPr marL="1350169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8pPr>
            <a:lvl9pPr marL="1543050" indent="0"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526030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5364480" cy="4590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350"/>
            </a:lvl4pPr>
            <a:lvl5pPr>
              <a:defRPr sz="1350"/>
            </a:lvl5pPr>
            <a:lvl6pPr>
              <a:defRPr sz="760"/>
            </a:lvl6pPr>
            <a:lvl7pPr>
              <a:defRPr sz="760"/>
            </a:lvl7pPr>
            <a:lvl8pPr>
              <a:defRPr sz="760"/>
            </a:lvl8pPr>
            <a:lvl9pPr>
              <a:defRPr sz="76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364480" cy="4590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350"/>
            </a:lvl4pPr>
            <a:lvl5pPr>
              <a:defRPr sz="1350"/>
            </a:lvl5pPr>
            <a:lvl6pPr>
              <a:defRPr sz="760"/>
            </a:lvl6pPr>
            <a:lvl7pPr>
              <a:defRPr sz="760"/>
            </a:lvl7pPr>
            <a:lvl8pPr>
              <a:defRPr sz="760"/>
            </a:lvl8pPr>
            <a:lvl9pPr>
              <a:defRPr sz="76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22836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70038"/>
            <a:ext cx="5364480" cy="639762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09800"/>
            <a:ext cx="5364480" cy="3951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1570038"/>
            <a:ext cx="5364480" cy="639762"/>
          </a:xfrm>
          <a:noFill/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192881" indent="0">
              <a:buNone/>
              <a:defRPr sz="844" b="1"/>
            </a:lvl2pPr>
            <a:lvl3pPr marL="385763" indent="0">
              <a:buNone/>
              <a:defRPr sz="760" b="1"/>
            </a:lvl3pPr>
            <a:lvl4pPr marL="578644" indent="0">
              <a:buNone/>
              <a:defRPr sz="675" b="1"/>
            </a:lvl4pPr>
            <a:lvl5pPr marL="771525" indent="0">
              <a:buNone/>
              <a:defRPr sz="675" b="1"/>
            </a:lvl5pPr>
            <a:lvl6pPr marL="964406" indent="0">
              <a:buNone/>
              <a:defRPr sz="675" b="1"/>
            </a:lvl6pPr>
            <a:lvl7pPr marL="1157288" indent="0">
              <a:buNone/>
              <a:defRPr sz="675" b="1"/>
            </a:lvl7pPr>
            <a:lvl8pPr marL="1350169" indent="0">
              <a:buNone/>
              <a:defRPr sz="675" b="1"/>
            </a:lvl8pPr>
            <a:lvl9pPr marL="1543050" indent="0">
              <a:buNone/>
              <a:defRPr sz="675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2209800"/>
            <a:ext cx="5364480" cy="395128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675"/>
            </a:lvl6pPr>
            <a:lvl7pPr>
              <a:defRPr sz="675"/>
            </a:lvl7pPr>
            <a:lvl8pPr>
              <a:defRPr sz="675"/>
            </a:lvl8pPr>
            <a:lvl9pPr>
              <a:defRPr sz="675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818124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605615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2414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1379200" cy="594360"/>
          </a:xfrm>
        </p:spPr>
        <p:txBody>
          <a:bodyPr anchor="b"/>
          <a:lstStyle>
            <a:lvl1pPr algn="ctr">
              <a:defRPr sz="929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4" y="6096000"/>
            <a:ext cx="11379201" cy="609600"/>
          </a:xfr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 marL="0" indent="0" algn="ctr">
              <a:buNone/>
              <a:defRPr sz="675"/>
            </a:lvl1pPr>
            <a:lvl2pPr marL="192881" indent="0">
              <a:buNone/>
              <a:defRPr sz="506"/>
            </a:lvl2pPr>
            <a:lvl3pPr marL="385763" indent="0">
              <a:buNone/>
              <a:defRPr sz="422"/>
            </a:lvl3pPr>
            <a:lvl4pPr marL="578644" indent="0">
              <a:buNone/>
              <a:defRPr sz="380"/>
            </a:lvl4pPr>
            <a:lvl5pPr marL="771525" indent="0">
              <a:buNone/>
              <a:defRPr sz="380"/>
            </a:lvl5pPr>
            <a:lvl6pPr marL="964406" indent="0">
              <a:buNone/>
              <a:defRPr sz="380"/>
            </a:lvl6pPr>
            <a:lvl7pPr marL="1157288" indent="0">
              <a:buNone/>
              <a:defRPr sz="380"/>
            </a:lvl7pPr>
            <a:lvl8pPr marL="1350169" indent="0">
              <a:buNone/>
              <a:defRPr sz="380"/>
            </a:lvl8pPr>
            <a:lvl9pPr marL="1543050" indent="0">
              <a:buNone/>
              <a:defRPr sz="3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1379200" cy="494284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140935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10363200" cy="1981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 rot="16200000">
            <a:off x="10474871" y="1584960"/>
            <a:ext cx="2438399" cy="487680"/>
          </a:xfrm>
          <a:prstGeom prst="rect">
            <a:avLst/>
          </a:prstGeom>
        </p:spPr>
        <p:txBody>
          <a:bodyPr/>
          <a:lstStyle/>
          <a:p>
            <a:fld id="{6F8B1E7F-8A42-40E4-9CF3-CF643FA4249D}" type="datetimeFigureOut">
              <a:rPr lang="en-US" smtClean="0"/>
              <a:t>04-Jan-17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10510430" y="3987800"/>
            <a:ext cx="2367281" cy="48768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fld id="{01E7E831-D999-4C39-9960-F100EE735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914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cr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pPr>
              <a:defRPr/>
            </a:pPr>
            <a:fld id="{B98D8915-25D4-4658-BC43-48DE2220323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4530725"/>
          </a:xfrm>
        </p:spPr>
        <p:txBody>
          <a:bodyPr/>
          <a:lstStyle>
            <a:lvl1pPr marL="0" indent="0">
              <a:buFont typeface="+mj-lt"/>
              <a:buNone/>
              <a:defRPr/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  <a:p>
            <a:pPr marL="0" lvl="1" indent="0">
              <a:buNone/>
            </a:pPr>
            <a:r>
              <a:rPr lang="en-US"/>
              <a:t>Second level</a:t>
            </a:r>
          </a:p>
          <a:p>
            <a:pPr marL="0" lvl="2" indent="0">
              <a:buNone/>
            </a:pPr>
            <a:r>
              <a:rPr lang="en-US"/>
              <a:t>Third level</a:t>
            </a:r>
          </a:p>
          <a:p>
            <a:pPr marL="0" lvl="3" indent="0">
              <a:buNone/>
            </a:pPr>
            <a:r>
              <a:rPr lang="en-US"/>
              <a:t>Fourth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43789" y="627747"/>
            <a:ext cx="7588075" cy="32316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1500" dirty="0"/>
              <a:t>Go to </a:t>
            </a:r>
            <a:r>
              <a:rPr lang="en-US" sz="1500" dirty="0">
                <a:hlinkClick r:id="rId2"/>
              </a:rPr>
              <a:t>www.socrative.com</a:t>
            </a:r>
            <a:r>
              <a:rPr lang="en-US" sz="1500" dirty="0"/>
              <a:t> and log into &lt;instructor</a:t>
            </a:r>
            <a:r>
              <a:rPr lang="en-US" sz="1500" baseline="0" dirty="0"/>
              <a:t> account name&gt;</a:t>
            </a:r>
            <a:endParaRPr lang="en-US" sz="1500" dirty="0"/>
          </a:p>
        </p:txBody>
      </p:sp>
      <p:pic>
        <p:nvPicPr>
          <p:cNvPr id="1026" name="Picture 2" descr="https://socrative-production-static-web.s3.amazonaws.com/img/logo_new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33" y="412103"/>
            <a:ext cx="2922411" cy="7767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2302787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4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6211958"/>
            <a:ext cx="10972800" cy="455827"/>
          </a:xfrm>
          <a:prstGeom prst="rect">
            <a:avLst/>
          </a:prstGeom>
          <a:solidFill>
            <a:srgbClr val="3E3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Slides based on material from:</a:t>
            </a:r>
            <a:r>
              <a:rPr lang="en-US" sz="1050" baseline="0" dirty="0"/>
              <a:t> </a:t>
            </a:r>
            <a:r>
              <a:rPr lang="en-US" sz="1050" u="sng" dirty="0"/>
              <a:t>Professional C# 5.0 and .NET 4.5.1.</a:t>
            </a:r>
            <a:r>
              <a:rPr lang="en-US" sz="1050" u="none" dirty="0"/>
              <a:t> Nagel,</a:t>
            </a:r>
            <a:r>
              <a:rPr lang="en-US" sz="1050" dirty="0"/>
              <a:t> Christian; Glynn, Jay; Skinner, Morgan (2014-02-19). Wiley. </a:t>
            </a:r>
          </a:p>
        </p:txBody>
      </p:sp>
    </p:spTree>
    <p:extLst>
      <p:ext uri="{BB962C8B-B14F-4D97-AF65-F5344CB8AC3E}">
        <p14:creationId xmlns:p14="http://schemas.microsoft.com/office/powerpoint/2010/main" val="223003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rgbClr val="004990"/>
          </a:solidFill>
          <a:latin typeface="Arial Black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Webdings" pitchFamily="18" charset="2"/>
        <a:buChar char="4"/>
        <a:defRPr sz="2400">
          <a:solidFill>
            <a:srgbClr val="004990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sz="2100">
          <a:solidFill>
            <a:srgbClr val="004990"/>
          </a:solidFill>
          <a:latin typeface="Arial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rgbClr val="004990"/>
          </a:solidFill>
          <a:latin typeface="Arial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sz="1500">
          <a:solidFill>
            <a:srgbClr val="004990"/>
          </a:solidFill>
          <a:latin typeface="Arial Narrow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sz="1500">
          <a:solidFill>
            <a:srgbClr val="004990"/>
          </a:solidFill>
          <a:latin typeface="Arial Narrow" pitchFamily="34" charset="0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3"/>
            <a:ext cx="10972800" cy="449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6211960"/>
            <a:ext cx="10972800" cy="455827"/>
          </a:xfrm>
          <a:prstGeom prst="rect">
            <a:avLst/>
          </a:prstGeom>
          <a:solidFill>
            <a:srgbClr val="3E3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88" dirty="0"/>
              <a:t>Slides based on material from:</a:t>
            </a:r>
            <a:r>
              <a:rPr lang="en-US" sz="788" baseline="0" dirty="0"/>
              <a:t> </a:t>
            </a:r>
            <a:r>
              <a:rPr lang="en-US" sz="788" u="sng" dirty="0"/>
              <a:t>Professional C# 5.0 and .NET 4.5.1.</a:t>
            </a:r>
            <a:r>
              <a:rPr lang="en-US" sz="788" u="none" dirty="0"/>
              <a:t> Nagel,</a:t>
            </a:r>
            <a:r>
              <a:rPr lang="en-US" sz="788" dirty="0"/>
              <a:t> Christian; Glynn, Jay; Skinner, Morgan (2014-02-19). Wiley. </a:t>
            </a:r>
          </a:p>
        </p:txBody>
      </p:sp>
    </p:spTree>
    <p:extLst>
      <p:ext uri="{BB962C8B-B14F-4D97-AF65-F5344CB8AC3E}">
        <p14:creationId xmlns:p14="http://schemas.microsoft.com/office/powerpoint/2010/main" val="2337544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5pPr>
      <a:lvl6pPr marL="257175"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6pPr>
      <a:lvl7pPr marL="514350"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7pPr>
      <a:lvl8pPr marL="771525"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8pPr>
      <a:lvl9pPr marL="1028700" algn="ctr" rtl="0" eaLnBrk="1" fontAlgn="base" hangingPunct="1">
        <a:spcBef>
          <a:spcPct val="0"/>
        </a:spcBef>
        <a:spcAft>
          <a:spcPct val="0"/>
        </a:spcAft>
        <a:defRPr sz="2475">
          <a:solidFill>
            <a:srgbClr val="004990"/>
          </a:solidFill>
          <a:latin typeface="Arial Black" pitchFamily="34" charset="0"/>
        </a:defRPr>
      </a:lvl9pPr>
    </p:titleStyle>
    <p:bodyStyle>
      <a:lvl1pPr marL="192881" indent="-192881" algn="l" rtl="0" eaLnBrk="1" fontAlgn="base" hangingPunct="1">
        <a:spcBef>
          <a:spcPct val="20000"/>
        </a:spcBef>
        <a:spcAft>
          <a:spcPct val="0"/>
        </a:spcAft>
        <a:buFont typeface="Webdings" pitchFamily="18" charset="2"/>
        <a:buChar char="4"/>
        <a:defRPr sz="1800">
          <a:solidFill>
            <a:srgbClr val="004990"/>
          </a:solidFill>
          <a:latin typeface="+mn-lt"/>
          <a:ea typeface="+mn-ea"/>
          <a:cs typeface="+mn-cs"/>
        </a:defRPr>
      </a:lvl1pPr>
      <a:lvl2pPr marL="417910" indent="-160735" algn="l" rtl="0" eaLnBrk="1" fontAlgn="base" hangingPunct="1">
        <a:spcBef>
          <a:spcPct val="20000"/>
        </a:spcBef>
        <a:spcAft>
          <a:spcPct val="0"/>
        </a:spcAft>
        <a:buChar char="–"/>
        <a:defRPr sz="1575">
          <a:solidFill>
            <a:srgbClr val="004990"/>
          </a:solidFill>
          <a:latin typeface="Arial" charset="0"/>
        </a:defRPr>
      </a:lvl2pPr>
      <a:lvl3pPr marL="642938" indent="-128588" algn="l" rtl="0" eaLnBrk="1" fontAlgn="base" hangingPunct="1">
        <a:spcBef>
          <a:spcPct val="20000"/>
        </a:spcBef>
        <a:spcAft>
          <a:spcPct val="0"/>
        </a:spcAft>
        <a:buChar char="•"/>
        <a:defRPr sz="1350">
          <a:solidFill>
            <a:srgbClr val="004990"/>
          </a:solidFill>
          <a:latin typeface="Arial" charset="0"/>
        </a:defRPr>
      </a:lvl3pPr>
      <a:lvl4pPr marL="900113" indent="-128588" algn="l" rtl="0" eaLnBrk="1" fontAlgn="base" hangingPunct="1">
        <a:spcBef>
          <a:spcPct val="20000"/>
        </a:spcBef>
        <a:spcAft>
          <a:spcPct val="0"/>
        </a:spcAft>
        <a:buChar char="–"/>
        <a:defRPr sz="1125">
          <a:solidFill>
            <a:srgbClr val="004990"/>
          </a:solidFill>
          <a:latin typeface="Arial Narrow" pitchFamily="34" charset="0"/>
        </a:defRPr>
      </a:lvl4pPr>
      <a:lvl5pPr marL="1157288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rgbClr val="004990"/>
          </a:solidFill>
          <a:latin typeface="Arial Narrow" pitchFamily="34" charset="0"/>
        </a:defRPr>
      </a:lvl5pPr>
      <a:lvl6pPr marL="1414463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rgbClr val="004990"/>
          </a:solidFill>
          <a:latin typeface="Arial Narrow" pitchFamily="34" charset="0"/>
        </a:defRPr>
      </a:lvl6pPr>
      <a:lvl7pPr marL="1671638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rgbClr val="004990"/>
          </a:solidFill>
          <a:latin typeface="Arial Narrow" pitchFamily="34" charset="0"/>
        </a:defRPr>
      </a:lvl7pPr>
      <a:lvl8pPr marL="1928813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rgbClr val="004990"/>
          </a:solidFill>
          <a:latin typeface="Arial Narrow" pitchFamily="34" charset="0"/>
        </a:defRPr>
      </a:lvl8pPr>
      <a:lvl9pPr marL="2185988" indent="-128588" algn="l" rtl="0" eaLnBrk="1" fontAlgn="base" hangingPunct="1">
        <a:spcBef>
          <a:spcPct val="20000"/>
        </a:spcBef>
        <a:spcAft>
          <a:spcPct val="0"/>
        </a:spcAft>
        <a:buChar char="»"/>
        <a:defRPr sz="1125">
          <a:solidFill>
            <a:srgbClr val="004990"/>
          </a:solidFill>
          <a:latin typeface="Arial Narrow" pitchFamily="34" charset="0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 l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10972800" cy="48006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089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</p:sldLayoutIdLst>
  <p:txStyles>
    <p:titleStyle>
      <a:lvl1pPr algn="l" defTabSz="385763" rtl="0" eaLnBrk="1" latinLnBrk="0" hangingPunct="1">
        <a:spcBef>
          <a:spcPct val="0"/>
        </a:spcBef>
        <a:buNone/>
        <a:defRPr sz="3000" kern="1200" cap="none" spc="-42" baseline="0">
          <a:ln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</p:titleStyle>
    <p:bodyStyle>
      <a:lvl1pPr marL="144661" indent="-96441" algn="l" defTabSz="385763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34" indent="-96441" algn="l" defTabSz="385763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424339" indent="-96441" algn="l" defTabSz="385763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68" indent="-96441" algn="l" defTabSz="385763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655796" indent="-96441" algn="l" defTabSz="385763" rtl="0" eaLnBrk="1" latinLnBrk="0" hangingPunct="1">
        <a:spcBef>
          <a:spcPct val="20000"/>
        </a:spcBef>
        <a:buClrTx/>
        <a:buFont typeface="Wingdings" panose="05000000000000000000" pitchFamily="2" charset="2"/>
        <a:buChar char="§"/>
        <a:defRPr sz="135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732949" indent="-77153" algn="l" defTabSz="385763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591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810101" indent="-77153" algn="l" defTabSz="385763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591" kern="1200">
          <a:solidFill>
            <a:schemeClr val="tx1"/>
          </a:solidFill>
          <a:latin typeface="+mn-lt"/>
          <a:ea typeface="+mn-ea"/>
          <a:cs typeface="+mn-cs"/>
        </a:defRPr>
      </a:lvl7pPr>
      <a:lvl8pPr marL="887254" indent="-77153" algn="l" defTabSz="385763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591" kern="1200">
          <a:solidFill>
            <a:schemeClr val="tx1"/>
          </a:solidFill>
          <a:latin typeface="+mn-lt"/>
          <a:ea typeface="+mn-ea"/>
          <a:cs typeface="+mn-cs"/>
        </a:defRPr>
      </a:lvl8pPr>
      <a:lvl9pPr marL="964406" indent="-77153" algn="l" defTabSz="385763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59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msdn.microsoft.com/en-us/library/system.type(v=vs.110).aspx" TargetMode="External"/><Relationship Id="rId3" Type="http://schemas.openxmlformats.org/officeDocument/2006/relationships/hyperlink" Target="https://msdn.microsoft.com/en-us/library/bsc2ak47(v=vs.110).aspx" TargetMode="External"/><Relationship Id="rId7" Type="http://schemas.openxmlformats.org/officeDocument/2006/relationships/hyperlink" Target="https://msdn.microsoft.com/en-us/library/system.object.gettype(v=vs.110).asp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Relationship Id="rId6" Type="http://schemas.openxmlformats.org/officeDocument/2006/relationships/hyperlink" Target="https://msdn.microsoft.com/en-us/library/system.object.gethashcode(v=vs.110).aspx" TargetMode="External"/><Relationship Id="rId11" Type="http://schemas.openxmlformats.org/officeDocument/2006/relationships/hyperlink" Target="https://msdn.microsoft.com/en-us/library/system.object.tostring(v=vs.110).aspx" TargetMode="External"/><Relationship Id="rId5" Type="http://schemas.openxmlformats.org/officeDocument/2006/relationships/hyperlink" Target="https://msdn.microsoft.com/en-us/library/system.object.finalize(v=vs.110).aspx" TargetMode="External"/><Relationship Id="rId10" Type="http://schemas.openxmlformats.org/officeDocument/2006/relationships/hyperlink" Target="https://msdn.microsoft.com/en-us/library/system.object.referenceequals(v=vs.110).aspx" TargetMode="External"/><Relationship Id="rId4" Type="http://schemas.openxmlformats.org/officeDocument/2006/relationships/hyperlink" Target="https://msdn.microsoft.com/en-us/library/w4hkze5k(v=vs.110).aspx" TargetMode="External"/><Relationship Id="rId9" Type="http://schemas.openxmlformats.org/officeDocument/2006/relationships/hyperlink" Target="https://msdn.microsoft.com/en-us/library/system.object.memberwiseclone(v=vs.110).aspx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The Object Class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677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Object Class</a:t>
            </a:r>
          </a:p>
          <a:p>
            <a:r>
              <a:rPr lang="en-US" dirty="0"/>
              <a:t>Object Class Members</a:t>
            </a:r>
          </a:p>
          <a:p>
            <a:r>
              <a:rPr lang="en-US" dirty="0" err="1"/>
              <a:t>Overiding</a:t>
            </a:r>
            <a:r>
              <a:rPr lang="en-US" dirty="0"/>
              <a:t> </a:t>
            </a:r>
            <a:r>
              <a:rPr lang="en-US" dirty="0" err="1"/>
              <a:t>ToString</a:t>
            </a:r>
            <a:r>
              <a:rPr lang="en-US" dirty="0"/>
              <a:t> Method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097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Object Class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of and how to use the Object Class.</a:t>
            </a:r>
          </a:p>
        </p:txBody>
      </p:sp>
    </p:spTree>
    <p:extLst>
      <p:ext uri="{BB962C8B-B14F-4D97-AF65-F5344CB8AC3E}">
        <p14:creationId xmlns:p14="http://schemas.microsoft.com/office/powerpoint/2010/main" val="2320987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Object Class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364480" cy="4672048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pPr marL="4822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MyClass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//Derives from </a:t>
            </a:r>
            <a:r>
              <a:rPr lang="en-US" sz="16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System.Object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etc.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48220" indent="0">
              <a:buNone/>
            </a:pP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822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MyClass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//Derives from </a:t>
            </a:r>
            <a:r>
              <a:rPr lang="en-US" sz="16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System.Object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etc.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48220" indent="0">
              <a:buNone/>
            </a:pP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822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MyClass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//Derives from </a:t>
            </a:r>
            <a:r>
              <a:rPr lang="en-US" sz="1600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System.Object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etc.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6311900" y="1536192"/>
            <a:ext cx="5060293" cy="1287462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 C# classes implicitly inherit from object. </a:t>
            </a:r>
          </a:p>
          <a:p>
            <a:r>
              <a:rPr lang="en-US" dirty="0"/>
              <a:t>The three definitions here are the same!</a:t>
            </a:r>
          </a:p>
          <a:p>
            <a:r>
              <a:rPr lang="en-US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/>
              <a:t>is a C# keyword that is an alias for 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Object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r>
              <a:rPr lang="en-US" dirty="0"/>
              <a:t>Normally we use the top form.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714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Class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All classes automatically inherit from Object</a:t>
            </a:r>
          </a:p>
          <a:p>
            <a:r>
              <a:rPr lang="en-US" dirty="0"/>
              <a:t>Object provides all classes four members:</a:t>
            </a:r>
          </a:p>
          <a:p>
            <a:pPr lvl="1"/>
            <a:r>
              <a:rPr lang="en-US" dirty="0"/>
              <a:t>Equals</a:t>
            </a:r>
          </a:p>
          <a:p>
            <a:pPr lvl="1"/>
            <a:r>
              <a:rPr lang="en-US" dirty="0" err="1"/>
              <a:t>GetHashCode</a:t>
            </a:r>
            <a:endParaRPr lang="en-US" dirty="0"/>
          </a:p>
          <a:p>
            <a:pPr lvl="1"/>
            <a:r>
              <a:rPr lang="en-US" dirty="0" err="1"/>
              <a:t>GetType</a:t>
            </a:r>
            <a:endParaRPr lang="en-US" dirty="0"/>
          </a:p>
          <a:p>
            <a:pPr lvl="1"/>
            <a:r>
              <a:rPr lang="en-US" dirty="0" err="1"/>
              <a:t>ToString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55071" y="1536192"/>
            <a:ext cx="5135670" cy="459028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017099" y="5711396"/>
            <a:ext cx="1608814" cy="283941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017099" y="3952540"/>
            <a:ext cx="1608814" cy="283941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017099" y="4668421"/>
            <a:ext cx="1608814" cy="283941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017099" y="4996728"/>
            <a:ext cx="1608814" cy="283941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356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Object Class Members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and Explain Use of Object Class Members.</a:t>
            </a:r>
          </a:p>
        </p:txBody>
      </p:sp>
    </p:spTree>
    <p:extLst>
      <p:ext uri="{BB962C8B-B14F-4D97-AF65-F5344CB8AC3E}">
        <p14:creationId xmlns:p14="http://schemas.microsoft.com/office/powerpoint/2010/main" val="2553628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Class Members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/>
          </p:nvPr>
        </p:nvGraphicFramePr>
        <p:xfrm>
          <a:off x="609599" y="1745550"/>
          <a:ext cx="10979217" cy="4366491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3548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02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7385">
                <a:tc>
                  <a:txBody>
                    <a:bodyPr/>
                    <a:lstStyle/>
                    <a:p>
                      <a:pPr marL="0" marR="0">
                        <a:lnSpc>
                          <a:spcPts val="1055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sz="1800" dirty="0">
                          <a:effectLst/>
                        </a:rPr>
                        <a:t>Name</a:t>
                      </a:r>
                      <a:endParaRPr lang="en-US" sz="2400" dirty="0"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055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sz="1800">
                          <a:effectLst/>
                        </a:rPr>
                        <a:t>Description</a:t>
                      </a:r>
                      <a:endParaRPr lang="en-US" sz="2400"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545">
                <a:tc>
                  <a:txBody>
                    <a:bodyPr/>
                    <a:lstStyle/>
                    <a:p>
                      <a:pPr marL="0" marR="0">
                        <a:lnSpc>
                          <a:spcPts val="1055"/>
                        </a:lnSpc>
                        <a:spcBef>
                          <a:spcPts val="1500"/>
                        </a:spcBef>
                        <a:spcAft>
                          <a:spcPts val="1500"/>
                        </a:spcAft>
                      </a:pPr>
                      <a:r>
                        <a:rPr lang="en-US" sz="1800" u="none" strike="noStrike">
                          <a:effectLst/>
                          <a:hlinkClick r:id="rId3"/>
                        </a:rPr>
                        <a:t>Equals(Object)</a:t>
                      </a:r>
                      <a:endParaRPr lang="en-US" sz="2400"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95250" marB="952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Determines whether the specified object is equal to the current object.</a:t>
                      </a:r>
                      <a:endParaRPr lang="en-US" sz="2400"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95250" marB="952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545">
                <a:tc>
                  <a:txBody>
                    <a:bodyPr/>
                    <a:lstStyle/>
                    <a:p>
                      <a:pPr marL="0" marR="0">
                        <a:lnSpc>
                          <a:spcPts val="105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u="none" strike="noStrike" dirty="0">
                          <a:effectLst/>
                          <a:hlinkClick r:id="rId4"/>
                        </a:rPr>
                        <a:t>Equals(Object, Object)</a:t>
                      </a:r>
                      <a:endParaRPr lang="en-US" sz="2400" dirty="0"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95250" marB="952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Determines whether the specified object instances are considered equal.</a:t>
                      </a:r>
                      <a:endParaRPr lang="en-US" sz="2400"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95250" marB="952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291">
                <a:tc>
                  <a:txBody>
                    <a:bodyPr/>
                    <a:lstStyle/>
                    <a:p>
                      <a:pPr marL="0" marR="0">
                        <a:lnSpc>
                          <a:spcPts val="105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u="none" strike="noStrike" dirty="0">
                          <a:effectLst/>
                          <a:hlinkClick r:id="rId5"/>
                        </a:rPr>
                        <a:t>Finalize()</a:t>
                      </a:r>
                      <a:endParaRPr lang="en-US" sz="2400" dirty="0"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95250" marB="952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Allows an object to try to free resources and perform other cleanup operations before it is reclaimed by garbage collection.</a:t>
                      </a:r>
                      <a:endParaRPr lang="en-US" sz="2400" dirty="0"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95250" marB="952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545">
                <a:tc>
                  <a:txBody>
                    <a:bodyPr/>
                    <a:lstStyle/>
                    <a:p>
                      <a:pPr marL="0" marR="0">
                        <a:lnSpc>
                          <a:spcPts val="105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u="none" strike="noStrike">
                          <a:effectLst/>
                          <a:hlinkClick r:id="rId6"/>
                        </a:rPr>
                        <a:t>GetHashCode()</a:t>
                      </a:r>
                      <a:endParaRPr lang="en-US" sz="2400"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95250" marB="952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Serves as the default hash function.</a:t>
                      </a:r>
                      <a:endParaRPr lang="en-US" sz="2400"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95250" marB="952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545">
                <a:tc>
                  <a:txBody>
                    <a:bodyPr/>
                    <a:lstStyle/>
                    <a:p>
                      <a:pPr marL="0" marR="0">
                        <a:lnSpc>
                          <a:spcPts val="105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u="none" strike="noStrike">
                          <a:effectLst/>
                          <a:hlinkClick r:id="rId7"/>
                        </a:rPr>
                        <a:t>GetType()</a:t>
                      </a:r>
                      <a:endParaRPr lang="en-US" sz="2400"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95250" marB="952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Gets the </a:t>
                      </a:r>
                      <a:r>
                        <a:rPr lang="en-US" sz="1800" u="none" strike="noStrike">
                          <a:effectLst/>
                          <a:hlinkClick r:id="rId8"/>
                        </a:rPr>
                        <a:t>Type</a:t>
                      </a:r>
                      <a:r>
                        <a:rPr lang="en-US" sz="1800">
                          <a:effectLst/>
                        </a:rPr>
                        <a:t> of the current instance.</a:t>
                      </a:r>
                      <a:endParaRPr lang="en-US" sz="2400"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95250" marB="9525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545">
                <a:tc>
                  <a:txBody>
                    <a:bodyPr/>
                    <a:lstStyle/>
                    <a:p>
                      <a:pPr marL="0" marR="0">
                        <a:lnSpc>
                          <a:spcPts val="105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u="none" strike="noStrike">
                          <a:effectLst/>
                          <a:hlinkClick r:id="rId9"/>
                        </a:rPr>
                        <a:t>MemberwiseClone()</a:t>
                      </a:r>
                      <a:endParaRPr lang="en-US" sz="2400"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95250" marB="952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Creates a shallow copy of the current Object.</a:t>
                      </a:r>
                      <a:endParaRPr lang="en-US" sz="2400"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95250" marB="9525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545">
                <a:tc>
                  <a:txBody>
                    <a:bodyPr/>
                    <a:lstStyle/>
                    <a:p>
                      <a:pPr marL="0" marR="0">
                        <a:lnSpc>
                          <a:spcPts val="105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u="none" strike="noStrike">
                          <a:effectLst/>
                          <a:hlinkClick r:id="rId10"/>
                        </a:rPr>
                        <a:t>ReferenceEquals(Object, Object)</a:t>
                      </a:r>
                      <a:endParaRPr lang="en-US" sz="2400"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95250" marB="952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Determines whether the specified Object instances are the same instance.</a:t>
                      </a:r>
                      <a:endParaRPr lang="en-US" sz="2400"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95250" marB="9525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5545">
                <a:tc>
                  <a:txBody>
                    <a:bodyPr/>
                    <a:lstStyle/>
                    <a:p>
                      <a:pPr marL="0" marR="0">
                        <a:lnSpc>
                          <a:spcPts val="1055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u="none" strike="noStrike">
                          <a:effectLst/>
                          <a:hlinkClick r:id="rId11"/>
                        </a:rPr>
                        <a:t>ToString()</a:t>
                      </a:r>
                      <a:endParaRPr lang="en-US" sz="2400"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95250" marB="9525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3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Returns a string that represents the current object.</a:t>
                      </a:r>
                      <a:endParaRPr lang="en-US" sz="2400" dirty="0">
                        <a:effectLst/>
                        <a:latin typeface="Calibri Light" panose="020F0302020204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95250" marB="9525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4945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GetHashCode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when an object is placed in a data structure known as a map</a:t>
            </a:r>
          </a:p>
          <a:p>
            <a:r>
              <a:rPr lang="en-US" dirty="0"/>
              <a:t>These structures need each object to have a unique number identifying them</a:t>
            </a:r>
          </a:p>
          <a:p>
            <a:r>
              <a:rPr lang="en-US" dirty="0"/>
              <a:t>This function is called to implement that functionality</a:t>
            </a:r>
          </a:p>
          <a:p>
            <a:r>
              <a:rPr lang="en-US" dirty="0"/>
              <a:t>If you create a class that you want to use as a key for a dictionary you have to override this method</a:t>
            </a:r>
          </a:p>
          <a:p>
            <a:r>
              <a:rPr lang="en-US" dirty="0"/>
              <a:t>Covered in detail in Chapter 10 “Collections”</a:t>
            </a:r>
          </a:p>
        </p:txBody>
      </p:sp>
    </p:spTree>
    <p:extLst>
      <p:ext uri="{BB962C8B-B14F-4D97-AF65-F5344CB8AC3E}">
        <p14:creationId xmlns:p14="http://schemas.microsoft.com/office/powerpoint/2010/main" val="1015841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Equals()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function is called whenever equality is tested between two objects.</a:t>
            </a:r>
          </a:p>
          <a:p>
            <a:r>
              <a:rPr lang="en-US" dirty="0"/>
              <a:t>Equality is tested when various functions or the == operator is invoked.</a:t>
            </a:r>
          </a:p>
          <a:p>
            <a:r>
              <a:rPr lang="en-US" dirty="0"/>
              <a:t>By default objects are equal if they point to the same object.</a:t>
            </a:r>
          </a:p>
          <a:p>
            <a:r>
              <a:rPr lang="en-US" dirty="0"/>
              <a:t>If you want a different test for equality you can override this method.</a:t>
            </a:r>
          </a:p>
          <a:p>
            <a:r>
              <a:rPr lang="en-US" dirty="0"/>
              <a:t>Discussed in more detail in Chapter 7 Operators</a:t>
            </a:r>
          </a:p>
        </p:txBody>
      </p:sp>
    </p:spTree>
    <p:extLst>
      <p:ext uri="{BB962C8B-B14F-4D97-AF65-F5344CB8AC3E}">
        <p14:creationId xmlns:p14="http://schemas.microsoft.com/office/powerpoint/2010/main" val="1849861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Finalize()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Called by C# garbage collection to clean up resources.</a:t>
            </a:r>
          </a:p>
          <a:p>
            <a:r>
              <a:rPr lang="en-US" dirty="0"/>
              <a:t>The base class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System.Object</a:t>
            </a:r>
            <a:r>
              <a:rPr lang="en-US" dirty="0"/>
              <a:t> Finalize method normally doesn’t actually do anything unless you override it.</a:t>
            </a:r>
          </a:p>
          <a:p>
            <a:r>
              <a:rPr lang="en-US" dirty="0"/>
              <a:t>Can be overridden to clean up resources that should be removed when the object is deleted.</a:t>
            </a:r>
          </a:p>
          <a:p>
            <a:r>
              <a:rPr lang="en-US" dirty="0"/>
              <a:t>Covered in more detail in Chapter 13 “Asynchronous Programming”</a:t>
            </a:r>
          </a:p>
        </p:txBody>
      </p:sp>
    </p:spTree>
    <p:extLst>
      <p:ext uri="{BB962C8B-B14F-4D97-AF65-F5344CB8AC3E}">
        <p14:creationId xmlns:p14="http://schemas.microsoft.com/office/powerpoint/2010/main" val="405688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GetType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Returns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System.Type</a:t>
            </a:r>
            <a:r>
              <a:rPr lang="en-US" dirty="0"/>
              <a:t> object that contains information about the class including:</a:t>
            </a:r>
          </a:p>
          <a:p>
            <a:pPr lvl="1"/>
            <a:r>
              <a:rPr lang="en-US" dirty="0"/>
              <a:t>Class name</a:t>
            </a:r>
          </a:p>
          <a:p>
            <a:pPr lvl="1"/>
            <a:r>
              <a:rPr lang="en-US" dirty="0"/>
              <a:t>Base type</a:t>
            </a:r>
          </a:p>
          <a:p>
            <a:pPr lvl="1"/>
            <a:r>
              <a:rPr lang="en-US" dirty="0"/>
              <a:t>Methods</a:t>
            </a:r>
          </a:p>
          <a:p>
            <a:pPr lvl="1"/>
            <a:r>
              <a:rPr lang="en-US" dirty="0"/>
              <a:t>Properties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dirty="0"/>
              <a:t>Covered in more detail in Chapter 15</a:t>
            </a:r>
          </a:p>
        </p:txBody>
      </p:sp>
    </p:spTree>
    <p:extLst>
      <p:ext uri="{BB962C8B-B14F-4D97-AF65-F5344CB8AC3E}">
        <p14:creationId xmlns:p14="http://schemas.microsoft.com/office/powerpoint/2010/main" val="1650390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MemberwiseClone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Creates a shallow copy of the object and returns a reference to the new copy.</a:t>
            </a:r>
          </a:p>
          <a:p>
            <a:r>
              <a:rPr lang="en-US" dirty="0"/>
              <a:t>Shallow copy means that all value objects in the class will be copied to new locations. Reference objects will still point to the original. </a:t>
            </a:r>
          </a:p>
          <a:p>
            <a:r>
              <a:rPr lang="en-US" dirty="0"/>
              <a:t>Method is protected and cannot be called to copy external objects</a:t>
            </a:r>
          </a:p>
          <a:p>
            <a:r>
              <a:rPr lang="en-US" dirty="0"/>
              <a:t>Method is not virtual so you cannot override it (more on virtual in chapter 4)</a:t>
            </a:r>
          </a:p>
        </p:txBody>
      </p:sp>
    </p:spTree>
    <p:extLst>
      <p:ext uri="{BB962C8B-B14F-4D97-AF65-F5344CB8AC3E}">
        <p14:creationId xmlns:p14="http://schemas.microsoft.com/office/powerpoint/2010/main" val="2906735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ToString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Quick-and-easy way to get a string representation of a class.</a:t>
            </a:r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r>
              <a:rPr lang="en-US" dirty="0"/>
              <a:t>If you write a class you should override </a:t>
            </a:r>
            <a:r>
              <a:rPr lang="en-US" dirty="0" err="1"/>
              <a:t>ToString</a:t>
            </a:r>
            <a:r>
              <a:rPr lang="en-US" dirty="0"/>
              <a:t> to provide a meaningful string representing each instance object.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42076" y="2567827"/>
            <a:ext cx="549381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sz="2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1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point.ToString</a:t>
            </a:r>
            <a:r>
              <a:rPr lang="en-US" sz="21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028177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Object Class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purpose of and how to use the Object Class.</a:t>
            </a:r>
          </a:p>
        </p:txBody>
      </p:sp>
    </p:spTree>
    <p:extLst>
      <p:ext uri="{BB962C8B-B14F-4D97-AF65-F5344CB8AC3E}">
        <p14:creationId xmlns:p14="http://schemas.microsoft.com/office/powerpoint/2010/main" val="30415795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6197600" y="1524000"/>
            <a:ext cx="5364480" cy="44750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822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Money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decimal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amount; </a:t>
            </a:r>
          </a:p>
          <a:p>
            <a:pPr marL="48220" indent="0">
              <a:buNone/>
            </a:pP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decimal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Amount </a:t>
            </a: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amount; }</a:t>
            </a: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amount =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override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ToString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 </a:t>
            </a: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"$"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Amount.ToString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 </a:t>
            </a: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 </a:t>
            </a:r>
          </a:p>
          <a:p>
            <a:pPr marL="4822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16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Overriding </a:t>
            </a:r>
            <a:r>
              <a:rPr lang="en-US" dirty="0" err="1"/>
              <a:t>ToString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5364480" cy="4462879"/>
          </a:xfrm>
        </p:spPr>
        <p:txBody>
          <a:bodyPr/>
          <a:lstStyle/>
          <a:p>
            <a:r>
              <a:rPr lang="en-US" dirty="0"/>
              <a:t>Written as a method in your class</a:t>
            </a:r>
          </a:p>
          <a:p>
            <a:r>
              <a:rPr lang="en-US" dirty="0"/>
              <a:t>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override</a:t>
            </a:r>
            <a:r>
              <a:rPr lang="en-US" dirty="0"/>
              <a:t> keyword</a:t>
            </a:r>
          </a:p>
          <a:p>
            <a:r>
              <a:rPr lang="en-US" dirty="0"/>
              <a:t>Return a string that uniquely identifies the object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517766" y="4494806"/>
            <a:ext cx="1016634" cy="238061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ectangle 5"/>
          <p:cNvSpPr/>
          <p:nvPr/>
        </p:nvSpPr>
        <p:spPr>
          <a:xfrm>
            <a:off x="8023385" y="5014105"/>
            <a:ext cx="2678482" cy="286029"/>
          </a:xfrm>
          <a:prstGeom prst="rect">
            <a:avLst/>
          </a:prstGeom>
          <a:solidFill>
            <a:srgbClr val="FFFF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841632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Demonstration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how to use object class members.</a:t>
            </a:r>
          </a:p>
          <a:p>
            <a:r>
              <a:rPr lang="en-US" dirty="0"/>
              <a:t>Demonstrate how to override object class </a:t>
            </a:r>
            <a:r>
              <a:rPr lang="en-US" dirty="0" err="1"/>
              <a:t>ToString</a:t>
            </a:r>
            <a:r>
              <a:rPr lang="en-US" dirty="0"/>
              <a:t> method. </a:t>
            </a:r>
          </a:p>
        </p:txBody>
      </p:sp>
    </p:spTree>
    <p:extLst>
      <p:ext uri="{BB962C8B-B14F-4D97-AF65-F5344CB8AC3E}">
        <p14:creationId xmlns:p14="http://schemas.microsoft.com/office/powerpoint/2010/main" val="33083638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Object Class</a:t>
            </a:r>
          </a:p>
          <a:p>
            <a:r>
              <a:rPr lang="en-US" dirty="0"/>
              <a:t>Object Class Members</a:t>
            </a:r>
          </a:p>
          <a:p>
            <a:r>
              <a:rPr lang="en-US" dirty="0" err="1"/>
              <a:t>Overiding</a:t>
            </a:r>
            <a:r>
              <a:rPr lang="en-US" dirty="0"/>
              <a:t> </a:t>
            </a:r>
            <a:r>
              <a:rPr lang="en-US" dirty="0" err="1"/>
              <a:t>ToString</a:t>
            </a:r>
            <a:r>
              <a:rPr lang="en-US" dirty="0"/>
              <a:t> Method</a:t>
            </a:r>
          </a:p>
        </p:txBody>
      </p:sp>
    </p:spTree>
    <p:extLst>
      <p:ext uri="{BB962C8B-B14F-4D97-AF65-F5344CB8AC3E}">
        <p14:creationId xmlns:p14="http://schemas.microsoft.com/office/powerpoint/2010/main" val="33052755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pzVjXQSP3txl9tStYhIb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R9RHz8homAIDNvLlc10pT"/>
</p:tagLst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Generic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Default Design">
      <a:majorFont>
        <a:latin typeface="Arial Black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rmAutofit fontScale="47500" lnSpcReduction="20000"/>
      </a:bodyPr>
      <a:lstStyle>
        <a:defPPr algn="ctr">
          <a:defRPr sz="2800" dirty="0" smtClean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GenericTheme" id="{05FD65AE-DB87-4839-B04A-C3F3B9C91C6E}" vid="{73340265-D181-4240-AB7E-F31EC520ECCF}"/>
    </a:ext>
  </a:extLst>
</a:theme>
</file>

<file path=ppt/theme/theme2.xml><?xml version="1.0" encoding="utf-8"?>
<a:theme xmlns:a="http://schemas.openxmlformats.org/drawingml/2006/main" name="FibTheme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 Black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>
        <a:normAutofit fontScale="47500" lnSpcReduction="20000"/>
      </a:bodyPr>
      <a:lstStyle>
        <a:defPPr algn="ctr">
          <a:defRPr sz="2800" dirty="0" smtClean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ibTheme" id="{42310378-7C67-4D39-BE8C-4B5D7B7C9646}" vid="{D62DC210-79D2-435F-90C7-822FFC9D4BD4}"/>
    </a:ext>
  </a:extLst>
</a:theme>
</file>

<file path=ppt/theme/theme3.xml><?xml version="1.0" encoding="utf-8"?>
<a:theme xmlns:a="http://schemas.openxmlformats.org/drawingml/2006/main" name="1_Fib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2060"/>
      </a:accent1>
      <a:accent2>
        <a:srgbClr val="8496B0"/>
      </a:accent2>
      <a:accent3>
        <a:srgbClr val="8496B0"/>
      </a:accent3>
      <a:accent4>
        <a:srgbClr val="ADB9CA"/>
      </a:accent4>
      <a:accent5>
        <a:srgbClr val="D6DCE4"/>
      </a:accent5>
      <a:accent6>
        <a:srgbClr val="D6DCE4"/>
      </a:accent6>
      <a:hlink>
        <a:srgbClr val="0070C0"/>
      </a:hlink>
      <a:folHlink>
        <a:srgbClr val="7030A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bTheme" id="{FB228B94-9174-4A84-8B9C-56843C22FF37}" vid="{498E3D67-B2F1-4125-9069-AEB53E6EAC1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STEMulusTheme</Template>
  <TotalTime>5790</TotalTime>
  <Words>669</Words>
  <Application>Microsoft Office PowerPoint</Application>
  <PresentationFormat>Widescreen</PresentationFormat>
  <Paragraphs>119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33" baseType="lpstr">
      <vt:lpstr>Arial Unicode MS</vt:lpstr>
      <vt:lpstr>Arial</vt:lpstr>
      <vt:lpstr>Arial Black</vt:lpstr>
      <vt:lpstr>Arial Narrow</vt:lpstr>
      <vt:lpstr>Calibri</vt:lpstr>
      <vt:lpstr>Calibri Light</vt:lpstr>
      <vt:lpstr>Cambria</vt:lpstr>
      <vt:lpstr>Consolas</vt:lpstr>
      <vt:lpstr>Courier New</vt:lpstr>
      <vt:lpstr>Edwardian Script ITC</vt:lpstr>
      <vt:lpstr>Times New Roman</vt:lpstr>
      <vt:lpstr>Webdings</vt:lpstr>
      <vt:lpstr>Wingdings</vt:lpstr>
      <vt:lpstr>GenericTheme</vt:lpstr>
      <vt:lpstr>FibTheme</vt:lpstr>
      <vt:lpstr>1_FibTheme</vt:lpstr>
      <vt:lpstr>The Object Class</vt:lpstr>
      <vt:lpstr>Overview</vt:lpstr>
      <vt:lpstr>The Object Class </vt:lpstr>
      <vt:lpstr>Object Class</vt:lpstr>
      <vt:lpstr>Object Class</vt:lpstr>
      <vt:lpstr>The Object Class Members</vt:lpstr>
      <vt:lpstr>Object Class Members</vt:lpstr>
      <vt:lpstr>GetHashCode()</vt:lpstr>
      <vt:lpstr>Equals()</vt:lpstr>
      <vt:lpstr>Finalize()</vt:lpstr>
      <vt:lpstr>GetType()</vt:lpstr>
      <vt:lpstr>MemberwiseClone()</vt:lpstr>
      <vt:lpstr>ToString()</vt:lpstr>
      <vt:lpstr>The Object Class </vt:lpstr>
      <vt:lpstr>Overriding ToString()</vt:lpstr>
      <vt:lpstr>Demonstration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Robert Garner</cp:lastModifiedBy>
  <cp:revision>187</cp:revision>
  <dcterms:created xsi:type="dcterms:W3CDTF">2015-05-10T23:35:32Z</dcterms:created>
  <dcterms:modified xsi:type="dcterms:W3CDTF">2017-01-05T04:48:44Z</dcterms:modified>
</cp:coreProperties>
</file>