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3" r:id="rId2"/>
    <p:sldMasterId id="2147483717" r:id="rId3"/>
    <p:sldMasterId id="2147483736" r:id="rId4"/>
  </p:sldMasterIdLst>
  <p:notesMasterIdLst>
    <p:notesMasterId r:id="rId32"/>
  </p:notesMasterIdLst>
  <p:sldIdLst>
    <p:sldId id="256" r:id="rId5"/>
    <p:sldId id="392" r:id="rId6"/>
    <p:sldId id="373" r:id="rId7"/>
    <p:sldId id="346" r:id="rId8"/>
    <p:sldId id="376" r:id="rId9"/>
    <p:sldId id="357" r:id="rId10"/>
    <p:sldId id="377" r:id="rId11"/>
    <p:sldId id="358" r:id="rId12"/>
    <p:sldId id="413" r:id="rId13"/>
    <p:sldId id="409" r:id="rId14"/>
    <p:sldId id="410" r:id="rId15"/>
    <p:sldId id="411" r:id="rId16"/>
    <p:sldId id="412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8" r:id="rId30"/>
    <p:sldId id="39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E95B87B-3ACB-472B-B75D-4CF3A3BE2AF8}">
          <p14:sldIdLst>
            <p14:sldId id="256"/>
            <p14:sldId id="392"/>
          </p14:sldIdLst>
        </p14:section>
        <p14:section name="Anonymous Types" id="{53CDD2EF-E45F-446E-AA18-89E73EF89A34}">
          <p14:sldIdLst>
            <p14:sldId id="373"/>
            <p14:sldId id="346"/>
          </p14:sldIdLst>
        </p14:section>
        <p14:section name="Partial Classes" id="{0E463B05-94CC-48FD-B565-EFC8736666B9}">
          <p14:sldIdLst>
            <p14:sldId id="376"/>
            <p14:sldId id="357"/>
          </p14:sldIdLst>
        </p14:section>
        <p14:section name="Static Classes" id="{041E250D-1534-438C-A4E6-4120783E8B75}">
          <p14:sldIdLst>
            <p14:sldId id="377"/>
            <p14:sldId id="358"/>
            <p14:sldId id="413"/>
          </p14:sldIdLst>
        </p14:section>
        <p14:section name="Collection Types" id="{E19525F2-23F9-4FED-8DA6-F382357E6832}">
          <p14:sldIdLst>
            <p14:sldId id="409"/>
            <p14:sldId id="410"/>
            <p14:sldId id="411"/>
            <p14:sldId id="412"/>
          </p14:sldIdLst>
        </p14:section>
        <p14:section name="Lists" id="{702CF8C3-4AFD-45A8-B75D-BD49B9D5A22B}">
          <p14:sldIdLst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8"/>
          </p14:sldIdLst>
        </p14:section>
        <p14:section name="Summary" id="{C2FEA952-13BC-4ED1-9179-87501EBFA121}">
          <p14:sldIdLst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3157" autoAdjust="0"/>
  </p:normalViewPr>
  <p:slideViewPr>
    <p:cSldViewPr snapToGrid="0">
      <p:cViewPr varScale="1">
        <p:scale>
          <a:sx n="95" d="100"/>
          <a:sy n="95" d="100"/>
        </p:scale>
        <p:origin x="11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39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26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Demo 5 Extension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31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Demo 5 Extension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6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5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453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32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92881" indent="-192881">
              <a:buFont typeface="Wingdings" panose="05000000000000000000" pitchFamily="2" charset="2"/>
              <a:buChar char="ü"/>
              <a:defRPr/>
            </a:lvl1pPr>
            <a:lvl2pPr marL="417910" indent="-160735">
              <a:buFont typeface="Wingdings" panose="05000000000000000000" pitchFamily="2" charset="2"/>
              <a:buChar char="ü"/>
              <a:defRPr/>
            </a:lvl2pPr>
            <a:lvl3pPr marL="642938" indent="-128588">
              <a:buFont typeface="Wingdings" panose="05000000000000000000" pitchFamily="2" charset="2"/>
              <a:buChar char="ü"/>
              <a:defRPr/>
            </a:lvl3pPr>
            <a:lvl4pPr marL="900113" indent="-128588">
              <a:buFont typeface="Wingdings" panose="05000000000000000000" pitchFamily="2" charset="2"/>
              <a:buChar char="ü"/>
              <a:defRPr/>
            </a:lvl4pPr>
            <a:lvl5pPr marL="1157288" indent="-128588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2475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45088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5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45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5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55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174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5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013" smtClean="0"/>
              <a:pPr eaLnBrk="1" hangingPunct="1"/>
              <a:t>‹#›</a:t>
            </a:fld>
            <a:endParaRPr lang="en-US" sz="1013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438582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2250" dirty="0"/>
              <a:t>Instructor </a:t>
            </a:r>
            <a:r>
              <a:rPr lang="es-ES" sz="2250" dirty="0" err="1"/>
              <a:t>Name</a:t>
            </a:r>
            <a:r>
              <a:rPr lang="es-ES" sz="225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4" y="873128"/>
            <a:ext cx="4692649" cy="784830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250" dirty="0"/>
              <a:t>Instructor ID #:</a:t>
            </a:r>
          </a:p>
          <a:p>
            <a:pPr eaLnBrk="1" hangingPunct="1"/>
            <a:r>
              <a:rPr lang="en-US" sz="2250" dirty="0"/>
              <a:t>Class ID #:  </a:t>
            </a:r>
            <a:endParaRPr lang="es-ES" sz="225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2480166" cy="9233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400" b="1" dirty="0">
                <a:latin typeface="Edwardian Script ITC" pitchFamily="66" charset="0"/>
              </a:rPr>
              <a:t>Thank you!</a:t>
            </a:r>
            <a:endParaRPr lang="es-ES" sz="54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7020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5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225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84626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21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71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941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95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733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5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5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5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82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91610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42152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88494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3970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1380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52176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921228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5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9487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19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92881" indent="-192881">
              <a:buFont typeface="Wingdings" panose="05000000000000000000" pitchFamily="2" charset="2"/>
              <a:buChar char="ü"/>
              <a:defRPr/>
            </a:lvl1pPr>
            <a:lvl2pPr marL="417910" indent="-160735">
              <a:buFont typeface="Wingdings" panose="05000000000000000000" pitchFamily="2" charset="2"/>
              <a:buChar char="ü"/>
              <a:defRPr/>
            </a:lvl2pPr>
            <a:lvl3pPr marL="642938" indent="-128588">
              <a:buFont typeface="Wingdings" panose="05000000000000000000" pitchFamily="2" charset="2"/>
              <a:buChar char="ü"/>
              <a:defRPr/>
            </a:lvl3pPr>
            <a:lvl4pPr marL="900113" indent="-128588">
              <a:buFont typeface="Wingdings" panose="05000000000000000000" pitchFamily="2" charset="2"/>
              <a:buChar char="ü"/>
              <a:defRPr/>
            </a:lvl4pPr>
            <a:lvl5pPr marL="1157288" indent="-128588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2475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8660632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826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370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285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08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129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5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013" smtClean="0"/>
              <a:pPr eaLnBrk="1" hangingPunct="1"/>
              <a:t>‹#›</a:t>
            </a:fld>
            <a:endParaRPr lang="en-US" sz="1013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438582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2250" dirty="0"/>
              <a:t>Instructor </a:t>
            </a:r>
            <a:r>
              <a:rPr lang="es-ES" sz="2250" dirty="0" err="1"/>
              <a:t>Name</a:t>
            </a:r>
            <a:r>
              <a:rPr lang="es-ES" sz="225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4" y="873128"/>
            <a:ext cx="4692649" cy="784830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250" dirty="0"/>
              <a:t>Instructor ID #:</a:t>
            </a:r>
          </a:p>
          <a:p>
            <a:pPr eaLnBrk="1" hangingPunct="1"/>
            <a:r>
              <a:rPr lang="en-US" sz="2250" dirty="0"/>
              <a:t>Class ID #:  </a:t>
            </a:r>
            <a:endParaRPr lang="es-ES" sz="225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2480166" cy="9233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400" b="1" dirty="0">
                <a:latin typeface="Edwardian Script ITC" pitchFamily="66" charset="0"/>
              </a:rPr>
              <a:t>Thank you!</a:t>
            </a:r>
            <a:endParaRPr lang="es-ES" sz="54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80666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5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225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777729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676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057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821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248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31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5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5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5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982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2224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844" dirty="0"/>
              <a:t>Go to </a:t>
            </a:r>
            <a:r>
              <a:rPr lang="en-US" sz="844" dirty="0">
                <a:hlinkClick r:id="rId2"/>
              </a:rPr>
              <a:t>www.socrative.com</a:t>
            </a:r>
            <a:r>
              <a:rPr lang="en-US" sz="844" dirty="0"/>
              <a:t> and log into &lt;instructor</a:t>
            </a:r>
            <a:r>
              <a:rPr lang="en-US" sz="844" baseline="0" dirty="0"/>
              <a:t> account name&gt;</a:t>
            </a:r>
            <a:endParaRPr lang="en-US" sz="844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7458725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8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667426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7"/>
            <a:ext cx="10058400" cy="2593975"/>
          </a:xfrm>
        </p:spPr>
        <p:txBody>
          <a:bodyPr anchor="b"/>
          <a:lstStyle>
            <a:lvl1pPr>
              <a:defRPr sz="33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375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4425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04021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542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64788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18875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0566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929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4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3286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1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30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957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CNMROBGARNER</a:t>
            </a:r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0926570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346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16-Sep-17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9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0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8" dirty="0"/>
              <a:t>Slides based on material from:</a:t>
            </a:r>
            <a:r>
              <a:rPr lang="en-US" sz="788" baseline="0" dirty="0"/>
              <a:t> </a:t>
            </a:r>
            <a:r>
              <a:rPr lang="en-US" sz="788" u="sng" dirty="0"/>
              <a:t>Professional C# 5.0 and .NET 4.5.1.</a:t>
            </a:r>
            <a:r>
              <a:rPr lang="en-US" sz="788" u="none" dirty="0"/>
              <a:t> Nagel,</a:t>
            </a:r>
            <a:r>
              <a:rPr lang="en-US" sz="788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12336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1800">
          <a:solidFill>
            <a:srgbClr val="004990"/>
          </a:solidFill>
          <a:latin typeface="+mn-lt"/>
          <a:ea typeface="+mn-ea"/>
          <a:cs typeface="+mn-cs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Char char="–"/>
        <a:defRPr sz="1575">
          <a:solidFill>
            <a:srgbClr val="004990"/>
          </a:solidFill>
          <a:latin typeface="Arial" charset="0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rgbClr val="004990"/>
          </a:solidFill>
          <a:latin typeface="Arial" charset="0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rgbClr val="004990"/>
          </a:solidFill>
          <a:latin typeface="Arial Narrow" pitchFamily="34" charset="0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0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8" dirty="0"/>
              <a:t>Slides based on material from:</a:t>
            </a:r>
            <a:r>
              <a:rPr lang="en-US" sz="788" baseline="0" dirty="0"/>
              <a:t> </a:t>
            </a:r>
            <a:r>
              <a:rPr lang="en-US" sz="788" u="sng" dirty="0"/>
              <a:t>Professional C# 5.0 and .NET 4.5.1.</a:t>
            </a:r>
            <a:r>
              <a:rPr lang="en-US" sz="788" u="none" dirty="0"/>
              <a:t> Nagel,</a:t>
            </a:r>
            <a:r>
              <a:rPr lang="en-US" sz="788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195357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1800">
          <a:solidFill>
            <a:srgbClr val="004990"/>
          </a:solidFill>
          <a:latin typeface="+mn-lt"/>
          <a:ea typeface="+mn-ea"/>
          <a:cs typeface="+mn-cs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Char char="–"/>
        <a:defRPr sz="1575">
          <a:solidFill>
            <a:srgbClr val="004990"/>
          </a:solidFill>
          <a:latin typeface="Arial" charset="0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rgbClr val="004990"/>
          </a:solidFill>
          <a:latin typeface="Arial" charset="0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rgbClr val="004990"/>
          </a:solidFill>
          <a:latin typeface="Arial Narrow" pitchFamily="34" charset="0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3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l" defTabSz="385763" rtl="0" eaLnBrk="1" latinLnBrk="0" hangingPunct="1">
        <a:spcBef>
          <a:spcPct val="0"/>
        </a:spcBef>
        <a:buNone/>
        <a:defRPr sz="3000" kern="1200" cap="none" spc="-42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44661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34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424339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8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655796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32949" indent="-77153" algn="l" defTabSz="38576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59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810101" indent="-77153" algn="l" defTabSz="385763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7pPr>
      <a:lvl8pPr marL="887254" indent="-77153" algn="l" defTabSz="385763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8pPr>
      <a:lvl9pPr marL="964406" indent="-77153" algn="l" defTabSz="385763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23127"/>
            <a:ext cx="7772400" cy="1102519"/>
          </a:xfrm>
        </p:spPr>
        <p:txBody>
          <a:bodyPr/>
          <a:lstStyle/>
          <a:p>
            <a:r>
              <a:rPr lang="en-US" dirty="0"/>
              <a:t>Object Oriented Programming (OOP) </a:t>
            </a:r>
            <a:br>
              <a:rPr lang="en-US" dirty="0"/>
            </a:br>
            <a:r>
              <a:rPr lang="en-US" dirty="0" err="1"/>
              <a:t>Miscl</a:t>
            </a:r>
            <a:r>
              <a:rPr lang="en-US" dirty="0"/>
              <a:t> 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Anonymous Types</a:t>
            </a:r>
          </a:p>
          <a:p>
            <a:r>
              <a:rPr lang="en-US" dirty="0"/>
              <a:t>Partial Classes </a:t>
            </a:r>
          </a:p>
          <a:p>
            <a:r>
              <a:rPr lang="en-US" dirty="0"/>
              <a:t>Static Classes </a:t>
            </a:r>
          </a:p>
          <a:p>
            <a:r>
              <a:rPr lang="en-US" dirty="0"/>
              <a:t>Collections</a:t>
            </a:r>
          </a:p>
          <a:p>
            <a:r>
              <a:rPr 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353309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Types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Anonymous Types.</a:t>
            </a:r>
          </a:p>
        </p:txBody>
      </p:sp>
    </p:spTree>
    <p:extLst>
      <p:ext uri="{BB962C8B-B14F-4D97-AF65-F5344CB8AC3E}">
        <p14:creationId xmlns:p14="http://schemas.microsoft.com/office/powerpoint/2010/main" val="358755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var</a:t>
            </a:r>
            <a:r>
              <a:rPr lang="en-US" dirty="0"/>
              <a:t> keyword in conjunction with the new keyword can be used to create “anonymous” types. </a:t>
            </a:r>
          </a:p>
          <a:p>
            <a:endParaRPr lang="en-US" dirty="0"/>
          </a:p>
          <a:p>
            <a:r>
              <a:rPr lang="en-US" dirty="0"/>
              <a:t>This would create an anonymous object called captain that has a first, middle and last name.</a:t>
            </a:r>
          </a:p>
          <a:p>
            <a:endParaRPr lang="en-US" dirty="0"/>
          </a:p>
          <a:p>
            <a:r>
              <a:rPr lang="en-US" dirty="0"/>
              <a:t>This creates an anonymous object called doctor.</a:t>
            </a:r>
          </a:p>
          <a:p>
            <a:r>
              <a:rPr lang="en-US" dirty="0"/>
              <a:t>Because the elements are the same they are treated as the same type and you could say doctor = captain.</a:t>
            </a:r>
          </a:p>
          <a:p>
            <a:r>
              <a:rPr lang="en-US" dirty="0"/>
              <a:t>There is no actual name for this “type” C# will make up a name for the type.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77440" y="2373075"/>
            <a:ext cx="743712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captain = </a:t>
            </a:r>
            <a:r>
              <a:rPr lang="en-US" sz="13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"James"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MiddleName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"Kirk"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sz="1350" dirty="0"/>
          </a:p>
        </p:txBody>
      </p:sp>
      <p:sp>
        <p:nvSpPr>
          <p:cNvPr id="7" name="Rectangle 6"/>
          <p:cNvSpPr/>
          <p:nvPr/>
        </p:nvSpPr>
        <p:spPr>
          <a:xfrm>
            <a:off x="2377440" y="3446032"/>
            <a:ext cx="760476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doctor = </a:t>
            </a:r>
            <a:r>
              <a:rPr lang="en-US" sz="13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"Leonard"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MiddleName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3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"McCoy"</a:t>
            </a:r>
            <a:r>
              <a:rPr lang="en-US" sz="13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1302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Classes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Partial Classes.</a:t>
            </a:r>
          </a:p>
        </p:txBody>
      </p:sp>
    </p:spTree>
    <p:extLst>
      <p:ext uri="{BB962C8B-B14F-4D97-AF65-F5344CB8AC3E}">
        <p14:creationId xmlns:p14="http://schemas.microsoft.com/office/powerpoint/2010/main" val="41623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Partial Classes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1676400"/>
            <a:ext cx="4611329" cy="4800600"/>
          </a:xfrm>
        </p:spPr>
        <p:txBody>
          <a:bodyPr/>
          <a:lstStyle/>
          <a:p>
            <a:r>
              <a:rPr lang="en-US"/>
              <a:t>You can split classes into multiple files by using the partial keyword</a:t>
            </a:r>
          </a:p>
          <a:p>
            <a:r>
              <a:rPr lang="en-US"/>
              <a:t>Used often by Visual studio to separate automatically generated code from code you write</a:t>
            </a:r>
          </a:p>
          <a:p>
            <a:r>
              <a:rPr lang="en-US"/>
              <a:t>All partial classes are combined into one class during compilation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411122" y="1710814"/>
            <a:ext cx="6107368" cy="46782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BigClassPart1.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cs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TheBigClass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MethodOne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BigClassPart2.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cs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TheBigClass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MethodTwo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5498691" y="2138516"/>
            <a:ext cx="1034843" cy="19910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5454446" y="4578454"/>
            <a:ext cx="1012722" cy="236894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6926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Classes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Static Classes.</a:t>
            </a:r>
          </a:p>
        </p:txBody>
      </p:sp>
    </p:spTree>
    <p:extLst>
      <p:ext uri="{BB962C8B-B14F-4D97-AF65-F5344CB8AC3E}">
        <p14:creationId xmlns:p14="http://schemas.microsoft.com/office/powerpoint/2010/main" val="248990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4434348" cy="4800600"/>
          </a:xfrm>
        </p:spPr>
        <p:txBody>
          <a:bodyPr/>
          <a:lstStyle/>
          <a:p>
            <a:r>
              <a:rPr lang="en-US"/>
              <a:t>Declared using the static keyword</a:t>
            </a:r>
          </a:p>
          <a:p>
            <a:r>
              <a:rPr lang="en-US"/>
              <a:t>Must contain only static methods and properties</a:t>
            </a:r>
          </a:p>
          <a:p>
            <a:r>
              <a:rPr lang="en-US"/>
              <a:t>An instance of the class can never be created</a:t>
            </a:r>
          </a:p>
          <a:p>
            <a:r>
              <a:rPr lang="en-US"/>
              <a:t>All members are accessed through the class name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29980" y="1678906"/>
            <a:ext cx="6388510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StaticUtilities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HelperMethod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///Code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007511" y="5004261"/>
            <a:ext cx="469244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B0F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StaticUtilities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.HelperMethod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115515" y="4100052"/>
            <a:ext cx="6380854" cy="7078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An object of type </a:t>
            </a:r>
            <a:r>
              <a:rPr lang="en-US" sz="2000" dirty="0" err="1"/>
              <a:t>StaticUtilities</a:t>
            </a:r>
            <a:r>
              <a:rPr lang="en-US" sz="2000" dirty="0"/>
              <a:t> is not needed to call the </a:t>
            </a:r>
            <a:r>
              <a:rPr lang="en-US" sz="2000" dirty="0" err="1"/>
              <a:t>HelperMethod</a:t>
            </a:r>
            <a:r>
              <a:rPr lang="en-US" sz="2000" dirty="0"/>
              <a:t>(). The type name is used to make the call: 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1633" y="1735075"/>
            <a:ext cx="793586" cy="26333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6737984" y="2383401"/>
            <a:ext cx="872183" cy="24181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6131273" y="5073312"/>
            <a:ext cx="2039334" cy="25823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2228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use Static Classes</a:t>
            </a:r>
          </a:p>
        </p:txBody>
      </p:sp>
    </p:spTree>
    <p:extLst>
      <p:ext uri="{BB962C8B-B14F-4D97-AF65-F5344CB8AC3E}">
        <p14:creationId xmlns:p14="http://schemas.microsoft.com/office/powerpoint/2010/main" val="336448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Collection Types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Collection Types.</a:t>
            </a:r>
          </a:p>
        </p:txBody>
      </p:sp>
    </p:spTree>
    <p:extLst>
      <p:ext uri="{BB962C8B-B14F-4D97-AF65-F5344CB8AC3E}">
        <p14:creationId xmlns:p14="http://schemas.microsoft.com/office/powerpoint/2010/main" val="201064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Collection Interfaces and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collections can be found in the following namespaces: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System.Collections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System.Collections.Generic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>
                <a:latin typeface="+mn-lt"/>
                <a:ea typeface="+mn-ea"/>
                <a:cs typeface="+mn-cs"/>
              </a:rPr>
              <a:t>Generic collection classes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System.Collections.Specialized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Classes specialized for a specific type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System.Collections.Concurrent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Thread-safe collections</a:t>
            </a:r>
          </a:p>
          <a:p>
            <a:endParaRPr lang="en-US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9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Way to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  <a:p>
            <a:r>
              <a:rPr lang="en-US" dirty="0"/>
              <a:t>Collections</a:t>
            </a:r>
          </a:p>
          <a:p>
            <a:r>
              <a:rPr lang="en-US" dirty="0"/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181292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en-US" sz="3600" dirty="0"/>
              <a:t>Lists</a:t>
            </a:r>
          </a:p>
          <a:p>
            <a:r>
              <a:rPr lang="en-US" sz="3600" dirty="0"/>
              <a:t>Queues</a:t>
            </a:r>
          </a:p>
          <a:p>
            <a:r>
              <a:rPr lang="en-US" sz="3600" dirty="0"/>
              <a:t>Stacks</a:t>
            </a:r>
          </a:p>
          <a:p>
            <a:r>
              <a:rPr lang="en-US" sz="3600" dirty="0"/>
              <a:t>Linked Lists</a:t>
            </a:r>
          </a:p>
          <a:p>
            <a:r>
              <a:rPr lang="en-US" sz="3600" dirty="0"/>
              <a:t>Sorted List</a:t>
            </a:r>
          </a:p>
          <a:p>
            <a:r>
              <a:rPr lang="en-US" sz="3600" dirty="0"/>
              <a:t>Dictionaries</a:t>
            </a:r>
          </a:p>
          <a:p>
            <a:r>
              <a:rPr lang="en-US" sz="3600" dirty="0"/>
              <a:t>Observable Collections</a:t>
            </a:r>
          </a:p>
          <a:p>
            <a:r>
              <a:rPr lang="en-US" sz="3600" dirty="0"/>
              <a:t>Bit Arrays</a:t>
            </a:r>
          </a:p>
          <a:p>
            <a:r>
              <a:rPr lang="en-US" sz="3600" dirty="0"/>
              <a:t>Immutable Collections</a:t>
            </a:r>
          </a:p>
          <a:p>
            <a:r>
              <a:rPr lang="en-US" sz="3600" dirty="0"/>
              <a:t>Concurrent Collections</a:t>
            </a:r>
          </a:p>
        </p:txBody>
      </p:sp>
    </p:spTree>
    <p:extLst>
      <p:ext uri="{BB962C8B-B14F-4D97-AF65-F5344CB8AC3E}">
        <p14:creationId xmlns:p14="http://schemas.microsoft.com/office/powerpoint/2010/main" val="56684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Lists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Lists.</a:t>
            </a:r>
          </a:p>
        </p:txBody>
      </p:sp>
    </p:spTree>
    <p:extLst>
      <p:ext uri="{BB962C8B-B14F-4D97-AF65-F5344CB8AC3E}">
        <p14:creationId xmlns:p14="http://schemas.microsoft.com/office/powerpoint/2010/main" val="177431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Lists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Implements the following interfaces: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Ienumerable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Ienumerable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54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default constructor to create an empty list.</a:t>
            </a:r>
          </a:p>
          <a:p>
            <a:endParaRPr lang="en-US" dirty="0"/>
          </a:p>
          <a:p>
            <a:pPr marL="48220" indent="0" algn="ctr"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Names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  <a:endParaRPr lang="en-US" dirty="0"/>
          </a:p>
          <a:p>
            <a:endParaRPr lang="en-US" dirty="0"/>
          </a:p>
          <a:p>
            <a:r>
              <a:rPr lang="en-US" dirty="0"/>
              <a:t>Initially list will store 4 elements.</a:t>
            </a:r>
          </a:p>
          <a:p>
            <a:r>
              <a:rPr lang="en-US" dirty="0"/>
              <a:t>When size of list is exceeded:</a:t>
            </a:r>
          </a:p>
          <a:p>
            <a:pPr lvl="1"/>
            <a:r>
              <a:rPr lang="en-US" dirty="0"/>
              <a:t>New list is created twice the size of the original</a:t>
            </a:r>
          </a:p>
          <a:p>
            <a:pPr lvl="1"/>
            <a:r>
              <a:rPr lang="en-US" dirty="0"/>
              <a:t>Elements in old list are copied to new list</a:t>
            </a:r>
          </a:p>
          <a:p>
            <a:pPr lvl="1"/>
            <a:r>
              <a:rPr lang="en-US" dirty="0"/>
              <a:t>Identifier for old list is made to point to new list</a:t>
            </a:r>
          </a:p>
          <a:p>
            <a:pPr lvl="1"/>
            <a:r>
              <a:rPr lang="en-US" dirty="0"/>
              <a:t>Old list is marked for garbage collection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89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examine the capacity of a list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.Capacity </a:t>
            </a:r>
            <a:r>
              <a:rPr lang="en-US" dirty="0"/>
              <a:t>property of the list class.</a:t>
            </a:r>
          </a:p>
          <a:p>
            <a:r>
              <a:rPr lang="en-US" dirty="0"/>
              <a:t>A list’s capacity is not the same as the number of elements in the collection!</a:t>
            </a:r>
          </a:p>
          <a:p>
            <a:r>
              <a:rPr lang="en-US" dirty="0"/>
              <a:t>You can use the 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dirty="0"/>
              <a:t> property of a list to find how many elements are stored in the list.</a:t>
            </a:r>
          </a:p>
          <a:p>
            <a:r>
              <a:rPr lang="en-US" dirty="0"/>
              <a:t>You can initialize a lists capacity by passing in an integer parameter in the list’s constructor</a:t>
            </a:r>
          </a:p>
        </p:txBody>
      </p:sp>
    </p:spTree>
    <p:extLst>
      <p:ext uri="{BB962C8B-B14F-4D97-AF65-F5344CB8AC3E}">
        <p14:creationId xmlns:p14="http://schemas.microsoft.com/office/powerpoint/2010/main" val="254073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Trimming Excess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finished adding elements to a list you can call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TrimExcess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method to remove excess capacity.</a:t>
            </a:r>
          </a:p>
          <a:p>
            <a:r>
              <a:rPr lang="en-US" dirty="0"/>
              <a:t>If item count is more than 90 percent of capacity then 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TrimExcess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will do nothing.</a:t>
            </a:r>
          </a:p>
        </p:txBody>
      </p:sp>
    </p:spTree>
    <p:extLst>
      <p:ext uri="{BB962C8B-B14F-4D97-AF65-F5344CB8AC3E}">
        <p14:creationId xmlns:p14="http://schemas.microsoft.com/office/powerpoint/2010/main" val="41403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4800600"/>
          </a:xfrm>
        </p:spPr>
        <p:txBody>
          <a:bodyPr>
            <a:normAutofit/>
          </a:bodyPr>
          <a:lstStyle/>
          <a:p>
            <a:r>
              <a:rPr lang="en-US" sz="3200" dirty="0"/>
              <a:t>You can initialize lists using collection initializers in a way similar to initializing arrays.</a:t>
            </a:r>
          </a:p>
          <a:p>
            <a:endParaRPr lang="en-US" sz="3200" dirty="0"/>
          </a:p>
          <a:p>
            <a:pPr marL="48220" indent="0" algn="ctr">
              <a:buNone/>
            </a:pP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intList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&gt;() { 1, 2 };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IL will actually convert your collection initializer into a series of .Add() method calls.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Initializers</a:t>
            </a:r>
          </a:p>
        </p:txBody>
      </p:sp>
    </p:spTree>
    <p:extLst>
      <p:ext uri="{BB962C8B-B14F-4D97-AF65-F5344CB8AC3E}">
        <p14:creationId xmlns:p14="http://schemas.microsoft.com/office/powerpoint/2010/main" val="318461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 the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3600" dirty="0"/>
              <a:t> method to add elements to a list.</a:t>
            </a:r>
          </a:p>
          <a:p>
            <a:pPr marL="48220" indent="0" algn="ctr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8220" indent="0" algn="ctr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Names.Add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81553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Use the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3600" dirty="0"/>
              <a:t> method to insert elements in the middle of the list.</a:t>
            </a:r>
          </a:p>
          <a:p>
            <a:pPr marL="48220" indent="0" algn="ctr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8220" indent="0" algn="ctr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Names.Insert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(3, 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7961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classes that implement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IList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 </a:t>
            </a:r>
            <a:r>
              <a:rPr lang="en-US" dirty="0"/>
              <a:t>interface offer an indexer with square braces [index]</a:t>
            </a:r>
          </a:p>
          <a:p>
            <a:r>
              <a:rPr lang="en-US" dirty="0"/>
              <a:t>Just like arrays, Lists are zero-based</a:t>
            </a:r>
          </a:p>
          <a:p>
            <a:r>
              <a:rPr lang="en-US" dirty="0"/>
              <a:t>Use a for or </a:t>
            </a:r>
            <a:r>
              <a:rPr lang="en-US" dirty="0" err="1"/>
              <a:t>foreach</a:t>
            </a:r>
            <a:r>
              <a:rPr lang="en-US" dirty="0"/>
              <a:t> loop to iterate through items</a:t>
            </a:r>
          </a:p>
          <a:p>
            <a:r>
              <a:rPr lang="en-US" dirty="0"/>
              <a:t>Count method returns number of items in list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following methods to remove elements</a:t>
            </a:r>
          </a:p>
          <a:p>
            <a:pPr lvl="1"/>
            <a:r>
              <a:rPr lang="en-US" dirty="0"/>
              <a:t>Remove(Object)</a:t>
            </a:r>
          </a:p>
          <a:p>
            <a:pPr lvl="2"/>
            <a:r>
              <a:rPr lang="en-US" dirty="0"/>
              <a:t>Pass in an object as a parameter</a:t>
            </a:r>
          </a:p>
          <a:p>
            <a:pPr lvl="2"/>
            <a:r>
              <a:rPr lang="en-US" dirty="0"/>
              <a:t>If Remove finds that object in the list it will remove it and return true</a:t>
            </a:r>
          </a:p>
          <a:p>
            <a:pPr lvl="2"/>
            <a:r>
              <a:rPr lang="en-US" dirty="0"/>
              <a:t>If Remove does not find the object it returns false</a:t>
            </a:r>
          </a:p>
          <a:p>
            <a:pPr lvl="1"/>
            <a:r>
              <a:rPr lang="en-US" dirty="0" err="1"/>
              <a:t>RemoveAt</a:t>
            </a:r>
            <a:r>
              <a:rPr lang="en-US" dirty="0"/>
              <a:t>(index)</a:t>
            </a:r>
          </a:p>
          <a:p>
            <a:pPr lvl="2"/>
            <a:r>
              <a:rPr lang="en-US" dirty="0"/>
              <a:t>Pass index of item to remove as an </a:t>
            </a:r>
            <a:r>
              <a:rPr lang="en-US" dirty="0" err="1"/>
              <a:t>int</a:t>
            </a:r>
            <a:endParaRPr lang="en-US" dirty="0"/>
          </a:p>
          <a:p>
            <a:pPr lvl="2"/>
            <a:r>
              <a:rPr lang="en-US" dirty="0"/>
              <a:t>Faster than Remove(Object) method</a:t>
            </a:r>
          </a:p>
          <a:p>
            <a:pPr lvl="1"/>
            <a:r>
              <a:rPr lang="en-US" dirty="0" err="1"/>
              <a:t>RemoveRange</a:t>
            </a:r>
            <a:r>
              <a:rPr lang="en-US" dirty="0"/>
              <a:t>(index, count)</a:t>
            </a:r>
          </a:p>
          <a:p>
            <a:pPr lvl="2"/>
            <a:r>
              <a:rPr lang="en-US" dirty="0"/>
              <a:t>Removes count items starting at index</a:t>
            </a:r>
          </a:p>
          <a:p>
            <a:pPr lvl="1"/>
            <a:r>
              <a:rPr lang="en-US" dirty="0" err="1"/>
              <a:t>RemoveAll</a:t>
            </a:r>
            <a:r>
              <a:rPr lang="en-US" dirty="0"/>
              <a:t>(Predicate&lt;t&gt;)</a:t>
            </a:r>
          </a:p>
          <a:p>
            <a:pPr lvl="2"/>
            <a:r>
              <a:rPr lang="en-US" dirty="0"/>
              <a:t>Removes all items where method passed in returns true.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3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index</a:t>
            </a:r>
          </a:p>
          <a:p>
            <a:pPr lvl="1"/>
            <a:r>
              <a:rPr lang="en-US" dirty="0" err="1"/>
              <a:t>IndexOf</a:t>
            </a:r>
            <a:endParaRPr lang="en-US" dirty="0"/>
          </a:p>
          <a:p>
            <a:pPr lvl="1"/>
            <a:r>
              <a:rPr lang="en-US" dirty="0" err="1"/>
              <a:t>LastIndexOf</a:t>
            </a:r>
            <a:endParaRPr lang="en-US" dirty="0"/>
          </a:p>
          <a:p>
            <a:pPr lvl="1"/>
            <a:r>
              <a:rPr lang="en-US" dirty="0" err="1"/>
              <a:t>FindIndex</a:t>
            </a:r>
            <a:endParaRPr lang="en-US" dirty="0"/>
          </a:p>
          <a:p>
            <a:pPr lvl="1"/>
            <a:r>
              <a:rPr lang="en-US" dirty="0" err="1"/>
              <a:t>FindLastIndex</a:t>
            </a:r>
            <a:endParaRPr lang="en-US" dirty="0"/>
          </a:p>
          <a:p>
            <a:r>
              <a:rPr lang="en-US" dirty="0"/>
              <a:t>Return item</a:t>
            </a:r>
          </a:p>
          <a:p>
            <a:pPr lvl="1"/>
            <a:r>
              <a:rPr lang="en-US" dirty="0"/>
              <a:t>Find</a:t>
            </a:r>
          </a:p>
          <a:p>
            <a:pPr lvl="1"/>
            <a:r>
              <a:rPr lang="en-US" dirty="0" err="1"/>
              <a:t>FindLast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List&lt;T&gt; Sort</a:t>
            </a:r>
            <a:r>
              <a:rPr lang="en-US" dirty="0"/>
              <a:t> method uses quick sort algorithm.</a:t>
            </a:r>
          </a:p>
          <a:p>
            <a:r>
              <a:rPr lang="en-US" dirty="0"/>
              <a:t>Multiple overloads of the Sort method: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List &lt;T&gt;. Sort();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List &lt;T&gt;. Sort( Comparison &lt;T&gt;);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List &lt;T&gt;. Sort(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IComparer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&lt;T&gt;);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List &lt;T&gt;. Sort( Int32, Int32,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IComparer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&lt;T&gt;);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43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use Lists</a:t>
            </a:r>
          </a:p>
        </p:txBody>
      </p:sp>
    </p:spTree>
    <p:extLst>
      <p:ext uri="{BB962C8B-B14F-4D97-AF65-F5344CB8AC3E}">
        <p14:creationId xmlns:p14="http://schemas.microsoft.com/office/powerpoint/2010/main" val="2405795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Anonymous Types</a:t>
            </a:r>
          </a:p>
          <a:p>
            <a:r>
              <a:rPr lang="en-US" dirty="0"/>
              <a:t>Partial Classes </a:t>
            </a:r>
          </a:p>
          <a:p>
            <a:r>
              <a:rPr lang="en-US" dirty="0"/>
              <a:t>Static Classes </a:t>
            </a:r>
          </a:p>
          <a:p>
            <a:r>
              <a:rPr lang="en-US"/>
              <a:t>Extension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755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eneric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2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71E423-0761-4C62-861C-CCE0A0AF0F79}" vid="{E74B5E27-0562-43F4-BF48-C899AA94ED1A}"/>
    </a:ext>
  </a:extLst>
</a:theme>
</file>

<file path=ppt/theme/theme3.xml><?xml version="1.0" encoding="utf-8"?>
<a:theme xmlns:a="http://schemas.openxmlformats.org/drawingml/2006/main" name="1_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2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5792</TotalTime>
  <Words>956</Words>
  <Application>Microsoft Office PowerPoint</Application>
  <PresentationFormat>Widescreen</PresentationFormat>
  <Paragraphs>176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Arial Unicode MS</vt:lpstr>
      <vt:lpstr>Arial</vt:lpstr>
      <vt:lpstr>Arial Black</vt:lpstr>
      <vt:lpstr>Arial Narrow</vt:lpstr>
      <vt:lpstr>Calibri</vt:lpstr>
      <vt:lpstr>Cambria</vt:lpstr>
      <vt:lpstr>Consolas</vt:lpstr>
      <vt:lpstr>Courier New</vt:lpstr>
      <vt:lpstr>Edwardian Script ITC</vt:lpstr>
      <vt:lpstr>Webdings</vt:lpstr>
      <vt:lpstr>Wingdings</vt:lpstr>
      <vt:lpstr>GenericTheme</vt:lpstr>
      <vt:lpstr>FibTheme</vt:lpstr>
      <vt:lpstr>1_FibTheme</vt:lpstr>
      <vt:lpstr>2_FibTheme</vt:lpstr>
      <vt:lpstr>Object Oriented Programming (OOP)  Miscl Topics</vt:lpstr>
      <vt:lpstr>Overview</vt:lpstr>
      <vt:lpstr>Anonymous Types  </vt:lpstr>
      <vt:lpstr>Anonymous Types</vt:lpstr>
      <vt:lpstr>Partial Classes </vt:lpstr>
      <vt:lpstr>Partial Classes</vt:lpstr>
      <vt:lpstr>Static Classes</vt:lpstr>
      <vt:lpstr>Static Classes</vt:lpstr>
      <vt:lpstr>Demo/Code Walkthrough</vt:lpstr>
      <vt:lpstr>Collection Types</vt:lpstr>
      <vt:lpstr>Collection Interfaces and Types</vt:lpstr>
      <vt:lpstr>Alternate Way to Group</vt:lpstr>
      <vt:lpstr>Collection Classes</vt:lpstr>
      <vt:lpstr>Lists</vt:lpstr>
      <vt:lpstr>Lists</vt:lpstr>
      <vt:lpstr>Creating Lists</vt:lpstr>
      <vt:lpstr>List Capacity</vt:lpstr>
      <vt:lpstr>Trimming Excess</vt:lpstr>
      <vt:lpstr>Collection Initializers</vt:lpstr>
      <vt:lpstr>Adding Elements</vt:lpstr>
      <vt:lpstr>Inserting Elements</vt:lpstr>
      <vt:lpstr>Accessing Elements</vt:lpstr>
      <vt:lpstr>Removing Elements</vt:lpstr>
      <vt:lpstr>Searching</vt:lpstr>
      <vt:lpstr>Sorting</vt:lpstr>
      <vt:lpstr>Demo/Code 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195</cp:revision>
  <dcterms:created xsi:type="dcterms:W3CDTF">2015-05-10T23:35:32Z</dcterms:created>
  <dcterms:modified xsi:type="dcterms:W3CDTF">2017-09-17T02:39:44Z</dcterms:modified>
</cp:coreProperties>
</file>