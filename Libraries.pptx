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3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6" r:id="rId2"/>
    <p:sldMasterId id="2147483693" r:id="rId3"/>
    <p:sldMasterId id="2147483711" r:id="rId4"/>
  </p:sldMasterIdLst>
  <p:notesMasterIdLst>
    <p:notesMasterId r:id="rId21"/>
  </p:notesMasterIdLst>
  <p:sldIdLst>
    <p:sldId id="256" r:id="rId5"/>
    <p:sldId id="257" r:id="rId6"/>
    <p:sldId id="339" r:id="rId7"/>
    <p:sldId id="340" r:id="rId8"/>
    <p:sldId id="341" r:id="rId9"/>
    <p:sldId id="342" r:id="rId10"/>
    <p:sldId id="343" r:id="rId11"/>
    <p:sldId id="344" r:id="rId12"/>
    <p:sldId id="345" r:id="rId13"/>
    <p:sldId id="346" r:id="rId14"/>
    <p:sldId id="347" r:id="rId15"/>
    <p:sldId id="348" r:id="rId16"/>
    <p:sldId id="350" r:id="rId17"/>
    <p:sldId id="349" r:id="rId18"/>
    <p:sldId id="338" r:id="rId19"/>
    <p:sldId id="26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47C28778-2760-4EAD-AB0A-B2A64705858C}">
          <p14:sldIdLst>
            <p14:sldId id="256"/>
            <p14:sldId id="257"/>
          </p14:sldIdLst>
        </p14:section>
        <p14:section name="Section" id="{5361FC03-BF13-40AD-AAF3-97B5AEC8333B}">
          <p14:sldIdLst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</p14:sldIdLst>
        </p14:section>
        <p14:section name="Using a DLL" id="{0AFBCDB1-4FC0-405B-9C60-D5A491B57172}">
          <p14:sldIdLst>
            <p14:sldId id="350"/>
            <p14:sldId id="349"/>
          </p14:sldIdLst>
        </p14:section>
        <p14:section name="Demo" id="{D800F499-2303-407D-95DE-8F2ECF3C9A21}">
          <p14:sldIdLst>
            <p14:sldId id="338"/>
          </p14:sldIdLst>
        </p14:section>
        <p14:section name="Summary" id="{484AEAC6-781C-43D9-8449-DDEAC50CEC63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FF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8440" autoAdjust="0"/>
    <p:restoredTop sz="86909" autoAdjust="0"/>
  </p:normalViewPr>
  <p:slideViewPr>
    <p:cSldViewPr snapToGrid="0">
      <p:cViewPr varScale="1">
        <p:scale>
          <a:sx n="57" d="100"/>
          <a:sy n="57" d="100"/>
        </p:scale>
        <p:origin x="48" y="3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18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28AEDA-69F3-4BD8-A62F-AB69D1B5AE71}" type="datetimeFigureOut">
              <a:rPr lang="en-US" smtClean="0"/>
              <a:t>10-Jan-17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92D35B-DA1B-4438-A15B-857732987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105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6B2CB16-4E6F-49E6-BF23-255CD717A202}" type="slidenum">
              <a:rPr lang="en-US" altLang="en-US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46273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D3ACB399-2E78-4147-91A2-29843ED125C9}" type="slidenum">
              <a:rPr lang="en-US" altLang="en-US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664393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662736F2-A0CD-4F58-B6DF-58266F6B289D}" type="slidenum">
              <a:rPr lang="en-US" altLang="en-US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92864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06AB2AA6-90A5-453F-B501-A7EEBB5A7A2F}" type="slidenum">
              <a:rPr lang="en-US" altLang="en-US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76746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9D5B81DC-CF97-44B7-8528-2F81D210BDC0}" type="slidenum">
              <a:rPr lang="en-US" altLang="en-US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08755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7CF1146-4E04-4D61-B2FA-C4077E8FB214}" type="slidenum">
              <a:rPr lang="en-US" altLang="en-US"/>
              <a:pPr>
                <a:spcBef>
                  <a:spcPct val="0"/>
                </a:spcBef>
              </a:pPr>
              <a:t>9</a:t>
            </a:fld>
            <a:endParaRPr lang="en-US" altLang="en-US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22883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55C94683-B26E-49C2-8C06-F791D9404F83}" type="slidenum">
              <a:rPr lang="en-US" altLang="en-US"/>
              <a:pPr>
                <a:spcBef>
                  <a:spcPct val="0"/>
                </a:spcBef>
              </a:pPr>
              <a:t>10</a:t>
            </a:fld>
            <a:endParaRPr lang="en-US" altLang="en-US"/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70517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0EE1792F-D2BD-40D5-859C-F980B7DA6374}" type="slidenum">
              <a:rPr lang="en-US" altLang="en-US"/>
              <a:pPr>
                <a:spcBef>
                  <a:spcPct val="0"/>
                </a:spcBef>
              </a:pPr>
              <a:t>11</a:t>
            </a:fld>
            <a:endParaRPr lang="en-US" altLang="en-US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61315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1DE8EE26-CDE6-470D-8B19-E5F9817FB1F8}" type="slidenum">
              <a:rPr lang="en-US" altLang="en-US"/>
              <a:pPr>
                <a:spcBef>
                  <a:spcPct val="0"/>
                </a:spcBef>
              </a:pPr>
              <a:t>12</a:t>
            </a:fld>
            <a:endParaRPr lang="en-US" altLang="en-US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129712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CA2283C3-DF74-4584-A7DE-8121C3C1012C}" type="slidenum">
              <a:rPr lang="en-US" altLang="en-US"/>
              <a:pPr>
                <a:spcBef>
                  <a:spcPct val="0"/>
                </a:spcBef>
              </a:pPr>
              <a:t>14</a:t>
            </a:fld>
            <a:endParaRPr lang="en-US" altLang="en-US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87550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92D35B-DA1B-4438-A15B-85773298702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408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://www.socrative.com/" TargetMode="External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://www.socrative.com/" TargetMode="External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447801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0386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10-Jan-17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pic>
        <p:nvPicPr>
          <p:cNvPr id="6" name="Picture 5" descr="CNM logo_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8800" y="1"/>
            <a:ext cx="3403600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611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10-Jan-17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550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10-Jan-17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255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10-Jan-17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043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10-Jan-17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204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10-Jan-17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860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10-Jan-17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625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10-Jan-17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  <p:sp>
        <p:nvSpPr>
          <p:cNvPr id="5" name="Slide Number Placeholder 1"/>
          <p:cNvSpPr txBox="1">
            <a:spLocks/>
          </p:cNvSpPr>
          <p:nvPr/>
        </p:nvSpPr>
        <p:spPr>
          <a:xfrm>
            <a:off x="609600" y="5943601"/>
            <a:ext cx="10972800" cy="7778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eaLnBrk="1" hangingPunct="1"/>
            <a:fld id="{BEC4B462-DC2D-47D4-8944-F81C2113999E}" type="slidenum">
              <a:rPr lang="en-US" sz="1800" smtClean="0"/>
              <a:pPr eaLnBrk="1" hangingPunct="1"/>
              <a:t>‹#›</a:t>
            </a:fld>
            <a:endParaRPr lang="en-US" sz="1800"/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304800" y="152401"/>
            <a:ext cx="5283200" cy="708025"/>
          </a:xfrm>
          <a:prstGeom prst="rect">
            <a:avLst/>
          </a:prstGeom>
          <a:solidFill>
            <a:schemeClr val="bg1">
              <a:alpha val="74901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ES" sz="4000" dirty="0"/>
              <a:t>Instructor </a:t>
            </a:r>
            <a:r>
              <a:rPr lang="es-ES" sz="4000" dirty="0" err="1"/>
              <a:t>Name</a:t>
            </a:r>
            <a:r>
              <a:rPr lang="es-ES" sz="4000" dirty="0"/>
              <a:t>:</a:t>
            </a:r>
          </a:p>
        </p:txBody>
      </p:sp>
      <p:sp>
        <p:nvSpPr>
          <p:cNvPr id="8" name="TextBox 3"/>
          <p:cNvSpPr txBox="1">
            <a:spLocks noChangeArrowheads="1"/>
          </p:cNvSpPr>
          <p:nvPr/>
        </p:nvSpPr>
        <p:spPr bwMode="auto">
          <a:xfrm>
            <a:off x="285752" y="873126"/>
            <a:ext cx="4692649" cy="1323975"/>
          </a:xfrm>
          <a:prstGeom prst="rect">
            <a:avLst/>
          </a:prstGeom>
          <a:solidFill>
            <a:schemeClr val="bg1">
              <a:alpha val="67058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4000" dirty="0"/>
              <a:t>Instructor ID #:</a:t>
            </a:r>
          </a:p>
          <a:p>
            <a:pPr eaLnBrk="1" hangingPunct="1"/>
            <a:r>
              <a:rPr lang="en-US" sz="4000" dirty="0"/>
              <a:t>Class ID #:  </a:t>
            </a:r>
            <a:endParaRPr lang="es-ES" sz="4000" dirty="0"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3048000" y="4038601"/>
            <a:ext cx="4267515" cy="1569660"/>
          </a:xfrm>
          <a:prstGeom prst="rect">
            <a:avLst/>
          </a:prstGeom>
          <a:solidFill>
            <a:schemeClr val="bg1">
              <a:lumMod val="95000"/>
              <a:alpha val="51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9600" b="1" dirty="0">
                <a:latin typeface="Edwardian Script ITC" pitchFamily="66" charset="0"/>
              </a:rPr>
              <a:t>Thank you!</a:t>
            </a:r>
            <a:endParaRPr lang="es-ES" sz="9600" b="1" dirty="0">
              <a:latin typeface="Edwardian Script ITC" pitchFamily="66" charset="0"/>
            </a:endParaRP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5588000" y="3048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5080000" y="9906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3860800" y="16002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2125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10-Jan-17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1016000" y="4419601"/>
            <a:ext cx="10363200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 cap="all">
                <a:solidFill>
                  <a:srgbClr val="00499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9pPr>
          </a:lstStyle>
          <a:p>
            <a:r>
              <a:rPr lang="en-US" sz="4000" kern="0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15885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10-Jan-17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941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10-Jan-17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0449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10-Jan-17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5817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10-Jan-17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0795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10-Jan-17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9003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27200" y="1600201"/>
            <a:ext cx="98552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13"/>
          <p:cNvSpPr>
            <a:spLocks noGrp="1"/>
          </p:cNvSpPr>
          <p:nvPr>
            <p:ph type="ftr" sz="quarter" idx="10"/>
            <p:custDataLst>
              <p:tags r:id="rId1"/>
            </p:custDataLst>
          </p:nvPr>
        </p:nvSpPr>
        <p:spPr>
          <a:xfrm>
            <a:off x="2336800" y="6324601"/>
            <a:ext cx="640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12"/>
          <p:cNvSpPr>
            <a:spLocks noGrp="1"/>
          </p:cNvSpPr>
          <p:nvPr>
            <p:ph type="sldNum" sz="quarter" idx="11"/>
            <p:custDataLst>
              <p:tags r:id="rId2"/>
            </p:custDataLst>
          </p:nvPr>
        </p:nvSpPr>
        <p:spPr>
          <a:xfrm>
            <a:off x="8636000" y="6400801"/>
            <a:ext cx="2844800" cy="365125"/>
          </a:xfrm>
          <a:prstGeom prst="rect">
            <a:avLst/>
          </a:prstGeom>
        </p:spPr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898989"/>
                </a:solidFill>
              </a:defRPr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5728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447801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0386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10-Jan-17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pic>
        <p:nvPicPr>
          <p:cNvPr id="6" name="Picture 5" descr="CNM logo_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8800" y="1"/>
            <a:ext cx="3403600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64228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10-Jan-17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4052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Che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ü"/>
              <a:defRPr/>
            </a:lvl1pPr>
            <a:lvl2pPr marL="742950" indent="-285750">
              <a:buFont typeface="Wingdings" panose="05000000000000000000" pitchFamily="2" charset="2"/>
              <a:buChar char="ü"/>
              <a:defRPr/>
            </a:lvl2pPr>
            <a:lvl3pPr marL="1143000" indent="-228600">
              <a:buFont typeface="Wingdings" panose="05000000000000000000" pitchFamily="2" charset="2"/>
              <a:buChar char="ü"/>
              <a:defRPr/>
            </a:lvl3pPr>
            <a:lvl4pPr marL="1600200" indent="-228600">
              <a:buFont typeface="Wingdings" panose="05000000000000000000" pitchFamily="2" charset="2"/>
              <a:buChar char="ü"/>
              <a:defRPr/>
            </a:lvl4pPr>
            <a:lvl5pPr marL="2057400" indent="-228600">
              <a:buFont typeface="Wingdings" panose="05000000000000000000" pitchFamily="2" charset="2"/>
              <a:buChar char="ü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10-Jan-17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09600" y="471948"/>
            <a:ext cx="10972800" cy="1128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lvl="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+mj-lt"/>
                <a:ea typeface="+mj-ea"/>
                <a:cs typeface="+mj-cs"/>
              </a:defRPr>
            </a:lvl1pPr>
            <a:lvl2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2pPr>
            <a:lvl3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3pPr>
            <a:lvl4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4pPr>
            <a:lvl5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9pPr>
          </a:lstStyle>
          <a:p>
            <a:pPr lvl="0"/>
            <a:r>
              <a:rPr lang="en-US" dirty="0"/>
              <a:t>Quality Check Items</a:t>
            </a:r>
          </a:p>
        </p:txBody>
      </p:sp>
    </p:spTree>
    <p:extLst>
      <p:ext uri="{BB962C8B-B14F-4D97-AF65-F5344CB8AC3E}">
        <p14:creationId xmlns:p14="http://schemas.microsoft.com/office/powerpoint/2010/main" val="20709015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10-Jan-17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1611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10-Jan-17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1971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10-Jan-17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7310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10-Jan-17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6507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10-Jan-17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4476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10-Jan-17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  <p:sp>
        <p:nvSpPr>
          <p:cNvPr id="5" name="Slide Number Placeholder 1"/>
          <p:cNvSpPr txBox="1">
            <a:spLocks/>
          </p:cNvSpPr>
          <p:nvPr/>
        </p:nvSpPr>
        <p:spPr>
          <a:xfrm>
            <a:off x="609600" y="5943601"/>
            <a:ext cx="10972800" cy="777875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eaLnBrk="1" hangingPunct="1"/>
            <a:fld id="{BEC4B462-DC2D-47D4-8944-F81C2113999E}" type="slidenum">
              <a:rPr lang="en-US" sz="1800" smtClean="0"/>
              <a:pPr eaLnBrk="1" hangingPunct="1"/>
              <a:t>‹#›</a:t>
            </a:fld>
            <a:endParaRPr lang="en-US" sz="1800"/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304800" y="152401"/>
            <a:ext cx="5283200" cy="708025"/>
          </a:xfrm>
          <a:prstGeom prst="rect">
            <a:avLst/>
          </a:prstGeom>
          <a:solidFill>
            <a:schemeClr val="bg1">
              <a:alpha val="74901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ES" sz="4000" dirty="0"/>
              <a:t>Instructor </a:t>
            </a:r>
            <a:r>
              <a:rPr lang="es-ES" sz="4000" dirty="0" err="1"/>
              <a:t>Name</a:t>
            </a:r>
            <a:r>
              <a:rPr lang="es-ES" sz="4000" dirty="0"/>
              <a:t>:</a:t>
            </a:r>
          </a:p>
        </p:txBody>
      </p:sp>
      <p:sp>
        <p:nvSpPr>
          <p:cNvPr id="8" name="TextBox 3"/>
          <p:cNvSpPr txBox="1">
            <a:spLocks noChangeArrowheads="1"/>
          </p:cNvSpPr>
          <p:nvPr/>
        </p:nvSpPr>
        <p:spPr bwMode="auto">
          <a:xfrm>
            <a:off x="285752" y="873126"/>
            <a:ext cx="4692649" cy="1323975"/>
          </a:xfrm>
          <a:prstGeom prst="rect">
            <a:avLst/>
          </a:prstGeom>
          <a:solidFill>
            <a:schemeClr val="bg1">
              <a:alpha val="67058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4000" dirty="0"/>
              <a:t>Instructor ID #:</a:t>
            </a:r>
          </a:p>
          <a:p>
            <a:pPr eaLnBrk="1" hangingPunct="1"/>
            <a:r>
              <a:rPr lang="en-US" sz="4000" dirty="0"/>
              <a:t>Class ID #:  </a:t>
            </a:r>
            <a:endParaRPr lang="es-ES" sz="4000" dirty="0"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3048000" y="4038601"/>
            <a:ext cx="4267515" cy="1569660"/>
          </a:xfrm>
          <a:prstGeom prst="rect">
            <a:avLst/>
          </a:prstGeom>
          <a:solidFill>
            <a:schemeClr val="bg1">
              <a:lumMod val="95000"/>
              <a:alpha val="51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9600" b="1" dirty="0">
                <a:latin typeface="Edwardian Script ITC" pitchFamily="66" charset="0"/>
              </a:rPr>
              <a:t>Thank you!</a:t>
            </a:r>
            <a:endParaRPr lang="es-ES" sz="9600" b="1" dirty="0">
              <a:latin typeface="Edwardian Script ITC" pitchFamily="66" charset="0"/>
            </a:endParaRP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5588000" y="3048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5080000" y="9906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3860800" y="16002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576231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10-Jan-17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1016000" y="4419601"/>
            <a:ext cx="10363200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 cap="all">
                <a:solidFill>
                  <a:srgbClr val="00499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9pPr>
          </a:lstStyle>
          <a:p>
            <a:r>
              <a:rPr lang="en-US" sz="4000" kern="0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4164910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10-Jan-17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9316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10-Jan-17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47841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10-Jan-17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1252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10-Jan-17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22142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10-Jan-17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23632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27200" y="1600201"/>
            <a:ext cx="98552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13"/>
          <p:cNvSpPr>
            <a:spLocks noGrp="1"/>
          </p:cNvSpPr>
          <p:nvPr>
            <p:ph type="ftr" sz="quarter" idx="10"/>
            <p:custDataLst>
              <p:tags r:id="rId1"/>
            </p:custDataLst>
          </p:nvPr>
        </p:nvSpPr>
        <p:spPr>
          <a:xfrm>
            <a:off x="2336800" y="6324601"/>
            <a:ext cx="640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12"/>
          <p:cNvSpPr>
            <a:spLocks noGrp="1"/>
          </p:cNvSpPr>
          <p:nvPr>
            <p:ph type="sldNum" sz="quarter" idx="11"/>
            <p:custDataLst>
              <p:tags r:id="rId2"/>
            </p:custDataLst>
          </p:nvPr>
        </p:nvSpPr>
        <p:spPr>
          <a:xfrm>
            <a:off x="8636000" y="6400801"/>
            <a:ext cx="2844800" cy="365125"/>
          </a:xfrm>
          <a:prstGeom prst="rect">
            <a:avLst/>
          </a:prstGeom>
        </p:spPr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898989"/>
                </a:solidFill>
              </a:defRPr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79310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447803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0386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10-Jan-17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pic>
        <p:nvPicPr>
          <p:cNvPr id="6" name="Picture 5" descr="CNM logo_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8800" y="3"/>
            <a:ext cx="3403600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3735849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10-Jan-17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2907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Che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257175" indent="-257175">
              <a:buFont typeface="Wingdings" panose="05000000000000000000" pitchFamily="2" charset="2"/>
              <a:buChar char="ü"/>
              <a:defRPr/>
            </a:lvl1pPr>
            <a:lvl2pPr marL="557213" indent="-214313">
              <a:buFont typeface="Wingdings" panose="05000000000000000000" pitchFamily="2" charset="2"/>
              <a:buChar char="ü"/>
              <a:defRPr/>
            </a:lvl2pPr>
            <a:lvl3pPr marL="857250" indent="-171450">
              <a:buFont typeface="Wingdings" panose="05000000000000000000" pitchFamily="2" charset="2"/>
              <a:buChar char="ü"/>
              <a:defRPr/>
            </a:lvl3pPr>
            <a:lvl4pPr marL="1200150" indent="-171450">
              <a:buFont typeface="Wingdings" panose="05000000000000000000" pitchFamily="2" charset="2"/>
              <a:buChar char="ü"/>
              <a:defRPr/>
            </a:lvl4pPr>
            <a:lvl5pPr marL="1543050" indent="-171450">
              <a:buFont typeface="Wingdings" panose="05000000000000000000" pitchFamily="2" charset="2"/>
              <a:buChar char="ü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10-Jan-17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09600" y="471948"/>
            <a:ext cx="10972800" cy="1128250"/>
          </a:xfrm>
          <a:prstGeom prst="rect">
            <a:avLst/>
          </a:prstGeom>
          <a:noFill/>
          <a:ln>
            <a:noFill/>
          </a:ln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lvl="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+mj-lt"/>
                <a:ea typeface="+mj-ea"/>
                <a:cs typeface="+mj-cs"/>
              </a:defRPr>
            </a:lvl1pPr>
            <a:lvl2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2pPr>
            <a:lvl3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3pPr>
            <a:lvl4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4pPr>
            <a:lvl5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9pPr>
          </a:lstStyle>
          <a:p>
            <a:pPr lvl="0"/>
            <a:r>
              <a:rPr lang="en-US" sz="3300" dirty="0"/>
              <a:t>Quality Check Items</a:t>
            </a:r>
          </a:p>
        </p:txBody>
      </p:sp>
    </p:spTree>
    <p:extLst>
      <p:ext uri="{BB962C8B-B14F-4D97-AF65-F5344CB8AC3E}">
        <p14:creationId xmlns:p14="http://schemas.microsoft.com/office/powerpoint/2010/main" val="128241257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10-Jan-17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4090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10-Jan-17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8650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10-Jan-17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02132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10-Jan-17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82255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10-Jan-17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89006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10-Jan-17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  <p:sp>
        <p:nvSpPr>
          <p:cNvPr id="5" name="Slide Number Placeholder 1"/>
          <p:cNvSpPr txBox="1">
            <a:spLocks/>
          </p:cNvSpPr>
          <p:nvPr/>
        </p:nvSpPr>
        <p:spPr>
          <a:xfrm>
            <a:off x="609600" y="5943603"/>
            <a:ext cx="10972800" cy="7778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eaLnBrk="1" hangingPunct="1"/>
            <a:fld id="{BEC4B462-DC2D-47D4-8944-F81C2113999E}" type="slidenum">
              <a:rPr lang="en-US" sz="1350" smtClean="0"/>
              <a:pPr eaLnBrk="1" hangingPunct="1"/>
              <a:t>‹#›</a:t>
            </a:fld>
            <a:endParaRPr lang="en-US" sz="1350"/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304800" y="152401"/>
            <a:ext cx="5283200" cy="553998"/>
          </a:xfrm>
          <a:prstGeom prst="rect">
            <a:avLst/>
          </a:prstGeom>
          <a:solidFill>
            <a:schemeClr val="bg1">
              <a:alpha val="74901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ES" sz="3000" dirty="0"/>
              <a:t>Instructor </a:t>
            </a:r>
            <a:r>
              <a:rPr lang="es-ES" sz="3000" dirty="0" err="1"/>
              <a:t>Name</a:t>
            </a:r>
            <a:r>
              <a:rPr lang="es-ES" sz="3000" dirty="0"/>
              <a:t>:</a:t>
            </a:r>
          </a:p>
        </p:txBody>
      </p:sp>
      <p:sp>
        <p:nvSpPr>
          <p:cNvPr id="8" name="TextBox 3"/>
          <p:cNvSpPr txBox="1">
            <a:spLocks noChangeArrowheads="1"/>
          </p:cNvSpPr>
          <p:nvPr/>
        </p:nvSpPr>
        <p:spPr bwMode="auto">
          <a:xfrm>
            <a:off x="285753" y="873128"/>
            <a:ext cx="4692649" cy="1015663"/>
          </a:xfrm>
          <a:prstGeom prst="rect">
            <a:avLst/>
          </a:prstGeom>
          <a:solidFill>
            <a:schemeClr val="bg1">
              <a:alpha val="67058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3000" dirty="0"/>
              <a:t>Instructor ID #:</a:t>
            </a:r>
          </a:p>
          <a:p>
            <a:pPr eaLnBrk="1" hangingPunct="1"/>
            <a:r>
              <a:rPr lang="en-US" sz="3000" dirty="0"/>
              <a:t>Class ID #:  </a:t>
            </a:r>
            <a:endParaRPr lang="es-ES" sz="3000" dirty="0"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3048000" y="4038603"/>
            <a:ext cx="3249608" cy="1200329"/>
          </a:xfrm>
          <a:prstGeom prst="rect">
            <a:avLst/>
          </a:prstGeom>
          <a:solidFill>
            <a:schemeClr val="bg1">
              <a:lumMod val="95000"/>
              <a:alpha val="51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7200" b="1" dirty="0">
                <a:latin typeface="Edwardian Script ITC" pitchFamily="66" charset="0"/>
              </a:rPr>
              <a:t>Thank you!</a:t>
            </a:r>
            <a:endParaRPr lang="es-ES" sz="7200" b="1" dirty="0">
              <a:latin typeface="Edwardian Script ITC" pitchFamily="66" charset="0"/>
            </a:endParaRP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5588000" y="3048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5080000" y="9906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3860800" y="16002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7321085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10-Jan-17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1016000" y="4419603"/>
            <a:ext cx="10363200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 cap="all">
                <a:solidFill>
                  <a:srgbClr val="00499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9pPr>
          </a:lstStyle>
          <a:p>
            <a:r>
              <a:rPr lang="en-US" sz="3000" kern="0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47747173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10-Jan-17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99603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10-Jan-17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21244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10-Jan-17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25860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10-Jan-17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40188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10-Jan-17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97067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27200" y="1600203"/>
            <a:ext cx="9855200" cy="45259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13"/>
          <p:cNvSpPr>
            <a:spLocks noGrp="1"/>
          </p:cNvSpPr>
          <p:nvPr>
            <p:ph type="ftr" sz="quarter" idx="10"/>
            <p:custDataLst>
              <p:tags r:id="rId1"/>
            </p:custDataLst>
          </p:nvPr>
        </p:nvSpPr>
        <p:spPr>
          <a:xfrm>
            <a:off x="2336800" y="6324603"/>
            <a:ext cx="640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12"/>
          <p:cNvSpPr>
            <a:spLocks noGrp="1"/>
          </p:cNvSpPr>
          <p:nvPr>
            <p:ph type="sldNum" sz="quarter" idx="11"/>
            <p:custDataLst>
              <p:tags r:id="rId2"/>
            </p:custDataLst>
          </p:nvPr>
        </p:nvSpPr>
        <p:spPr>
          <a:xfrm>
            <a:off x="8636000" y="6400803"/>
            <a:ext cx="2844800" cy="365125"/>
          </a:xfrm>
          <a:prstGeom prst="rect">
            <a:avLst/>
          </a:prstGeom>
        </p:spPr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898989"/>
                </a:solidFill>
              </a:defRPr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58776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ocr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</p:spPr>
        <p:txBody>
          <a:bodyPr/>
          <a:lstStyle/>
          <a:p>
            <a:pPr>
              <a:defRPr/>
            </a:pPr>
            <a:fld id="{B98D8915-25D4-4658-BC43-48DE2220323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09600" y="1600205"/>
            <a:ext cx="10972800" cy="4530725"/>
          </a:xfrm>
        </p:spPr>
        <p:txBody>
          <a:bodyPr/>
          <a:lstStyle>
            <a:lvl1pPr marL="0" indent="0">
              <a:buFont typeface="+mj-lt"/>
              <a:buNone/>
              <a:defRPr/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  <a:p>
            <a:pPr marL="0" lvl="1" indent="0">
              <a:buNone/>
            </a:pPr>
            <a:r>
              <a:rPr lang="en-US"/>
              <a:t>Second level</a:t>
            </a:r>
          </a:p>
          <a:p>
            <a:pPr marL="0" lvl="2" indent="0">
              <a:buNone/>
            </a:pPr>
            <a:r>
              <a:rPr lang="en-US"/>
              <a:t>Third level</a:t>
            </a:r>
          </a:p>
          <a:p>
            <a:pPr marL="0" lvl="3" indent="0">
              <a:buNone/>
            </a:pPr>
            <a:r>
              <a:rPr lang="en-US"/>
              <a:t>Fourth level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43789" y="627745"/>
            <a:ext cx="7588075" cy="26545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n-US" sz="1125" dirty="0"/>
              <a:t>Go to </a:t>
            </a:r>
            <a:r>
              <a:rPr lang="en-US" sz="1125" dirty="0">
                <a:hlinkClick r:id="rId2"/>
              </a:rPr>
              <a:t>www.socrative.com</a:t>
            </a:r>
            <a:r>
              <a:rPr lang="en-US" sz="1125" dirty="0"/>
              <a:t> and log into &lt;instructor</a:t>
            </a:r>
            <a:r>
              <a:rPr lang="en-US" sz="1125" baseline="0" dirty="0"/>
              <a:t> account name&gt;</a:t>
            </a:r>
            <a:endParaRPr lang="en-US" sz="1125" dirty="0"/>
          </a:p>
        </p:txBody>
      </p:sp>
      <p:pic>
        <p:nvPicPr>
          <p:cNvPr id="1026" name="Picture 2" descr="https://socrative-production-static-web.s3.amazonaws.com/img/logo_new.jpg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133" y="412103"/>
            <a:ext cx="2922411" cy="7767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</p:spTree>
    <p:extLst>
      <p:ext uri="{BB962C8B-B14F-4D97-AF65-F5344CB8AC3E}">
        <p14:creationId xmlns:p14="http://schemas.microsoft.com/office/powerpoint/2010/main" val="353209760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905005"/>
            <a:ext cx="10058400" cy="2593975"/>
          </a:xfrm>
        </p:spPr>
        <p:txBody>
          <a:bodyPr anchor="b"/>
          <a:lstStyle>
            <a:lvl1pPr>
              <a:defRPr sz="4400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572000"/>
            <a:ext cx="8615680" cy="10668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none"/>
        </p:style>
        <p:txBody>
          <a:bodyPr anchor="t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22184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>
            <a:normAutofit/>
          </a:bodyPr>
          <a:lstStyle>
            <a:lvl1pPr>
              <a:defRPr sz="3200"/>
            </a:lvl1pPr>
            <a:lvl2pPr>
              <a:defRPr sz="32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85681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7" y="5486400"/>
            <a:ext cx="10212916" cy="1168400"/>
          </a:xfrm>
        </p:spPr>
        <p:txBody>
          <a:bodyPr anchor="t"/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7" y="3852863"/>
            <a:ext cx="8180916" cy="1633538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none"/>
        </p:style>
        <p:txBody>
          <a:bodyPr anchor="b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402389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36192"/>
            <a:ext cx="5364480" cy="4590288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1800"/>
            </a:lvl4pPr>
            <a:lvl5pPr>
              <a:defRPr sz="1800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524000"/>
            <a:ext cx="5364480" cy="4590288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1800"/>
            </a:lvl4pPr>
            <a:lvl5pPr>
              <a:defRPr sz="1800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29323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70038"/>
            <a:ext cx="5364480" cy="639762"/>
          </a:xfrm>
          <a:noFill/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209800"/>
            <a:ext cx="5364480" cy="3951288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7600" y="1570038"/>
            <a:ext cx="5364480" cy="639762"/>
          </a:xfrm>
          <a:noFill/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2209800"/>
            <a:ext cx="5364480" cy="3951288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2239190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4752999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843288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1" y="5495544"/>
            <a:ext cx="11379200" cy="594360"/>
          </a:xfrm>
        </p:spPr>
        <p:txBody>
          <a:bodyPr anchor="b"/>
          <a:lstStyle>
            <a:lvl1pPr algn="ctr">
              <a:defRPr sz="1238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6402" y="6096000"/>
            <a:ext cx="11379201" cy="609600"/>
          </a:xfr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06400" y="381000"/>
            <a:ext cx="11379200" cy="4942840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2009054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10363200" cy="1981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4114800"/>
            <a:ext cx="10363200" cy="1981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 rot="16200000">
            <a:off x="10474870" y="1584960"/>
            <a:ext cx="2438399" cy="487680"/>
          </a:xfrm>
          <a:prstGeom prst="rect">
            <a:avLst/>
          </a:prstGeom>
        </p:spPr>
        <p:txBody>
          <a:bodyPr/>
          <a:lstStyle/>
          <a:p>
            <a:fld id="{6F8B1E7F-8A42-40E4-9CF3-CF643FA4249D}" type="datetimeFigureOut">
              <a:rPr lang="en-US" smtClean="0"/>
              <a:t>10-Jan-17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 rot="16200000">
            <a:off x="10510429" y="3987800"/>
            <a:ext cx="2367281" cy="48768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</p:spPr>
        <p:txBody>
          <a:bodyPr/>
          <a:lstStyle/>
          <a:p>
            <a:fld id="{01E7E831-D999-4C39-9960-F100EE735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84224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cr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</p:spPr>
        <p:txBody>
          <a:bodyPr/>
          <a:lstStyle/>
          <a:p>
            <a:pPr>
              <a:defRPr/>
            </a:pPr>
            <a:fld id="{B98D8915-25D4-4658-BC43-48DE2220323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09600" y="1600205"/>
            <a:ext cx="10972800" cy="4530725"/>
          </a:xfrm>
        </p:spPr>
        <p:txBody>
          <a:bodyPr/>
          <a:lstStyle>
            <a:lvl1pPr marL="0" indent="0">
              <a:buFont typeface="+mj-lt"/>
              <a:buNone/>
              <a:defRPr/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  <a:p>
            <a:pPr marL="0" lvl="1" indent="0">
              <a:buNone/>
            </a:pPr>
            <a:r>
              <a:rPr lang="en-US"/>
              <a:t>Second level</a:t>
            </a:r>
          </a:p>
          <a:p>
            <a:pPr marL="0" lvl="2" indent="0">
              <a:buNone/>
            </a:pPr>
            <a:r>
              <a:rPr lang="en-US"/>
              <a:t>Third level</a:t>
            </a:r>
          </a:p>
          <a:p>
            <a:pPr marL="0" lvl="3" indent="0">
              <a:buNone/>
            </a:pPr>
            <a:r>
              <a:rPr lang="en-US"/>
              <a:t>Fourth level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43789" y="627745"/>
            <a:ext cx="7588075" cy="40011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n-US" sz="2000" dirty="0"/>
              <a:t>Go to </a:t>
            </a:r>
            <a:r>
              <a:rPr lang="en-US" sz="2000" dirty="0">
                <a:hlinkClick r:id="rId2"/>
              </a:rPr>
              <a:t>www.socrative.com</a:t>
            </a:r>
            <a:r>
              <a:rPr lang="en-US" sz="2000" dirty="0"/>
              <a:t> and log into &lt;instructor</a:t>
            </a:r>
            <a:r>
              <a:rPr lang="en-US" sz="2000" baseline="0" dirty="0"/>
              <a:t> account name&gt;</a:t>
            </a:r>
            <a:endParaRPr lang="en-US" sz="2000" dirty="0"/>
          </a:p>
        </p:txBody>
      </p:sp>
      <p:pic>
        <p:nvPicPr>
          <p:cNvPr id="1026" name="Picture 2" descr="https://socrative-production-static-web.s3.amazonaws.com/img/logo_new.jpg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133" y="412103"/>
            <a:ext cx="2922411" cy="7767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</p:spTree>
    <p:extLst>
      <p:ext uri="{BB962C8B-B14F-4D97-AF65-F5344CB8AC3E}">
        <p14:creationId xmlns:p14="http://schemas.microsoft.com/office/powerpoint/2010/main" val="2125408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13" Type="http://schemas.openxmlformats.org/officeDocument/2006/relationships/slideLayout" Target="../slideLayouts/slideLayout44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43.xml"/><Relationship Id="rId17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47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5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41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4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image" Target="../media/image5.png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Picture 2" descr="stemulus_cnm_logos.jpg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5833242"/>
            <a:ext cx="10961801" cy="851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310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9pPr>
    </p:titleStyle>
    <p:bodyStyle>
      <a:lvl1pPr marL="342900" indent="-342900" algn="l" rtl="0" eaLnBrk="1" fontAlgn="base" hangingPunct="1">
        <a:spcBef>
          <a:spcPts val="0"/>
        </a:spcBef>
        <a:spcAft>
          <a:spcPts val="1200"/>
        </a:spcAft>
        <a:buFont typeface="Webdings" pitchFamily="18" charset="2"/>
        <a:buChar char="4"/>
        <a:defRPr sz="3200">
          <a:solidFill>
            <a:srgbClr val="004990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ts val="0"/>
        </a:spcBef>
        <a:spcAft>
          <a:spcPts val="1200"/>
        </a:spcAft>
        <a:buChar char="–"/>
        <a:defRPr sz="2800">
          <a:solidFill>
            <a:srgbClr val="004990"/>
          </a:solidFill>
          <a:latin typeface="Arial" charset="0"/>
        </a:defRPr>
      </a:lvl2pPr>
      <a:lvl3pPr marL="1143000" indent="-228600" algn="l" rtl="0" eaLnBrk="1" fontAlgn="base" hangingPunct="1">
        <a:spcBef>
          <a:spcPts val="0"/>
        </a:spcBef>
        <a:spcAft>
          <a:spcPts val="1200"/>
        </a:spcAft>
        <a:buChar char="•"/>
        <a:defRPr sz="2400">
          <a:solidFill>
            <a:srgbClr val="004990"/>
          </a:solidFill>
          <a:latin typeface="Arial" charset="0"/>
        </a:defRPr>
      </a:lvl3pPr>
      <a:lvl4pPr marL="1600200" indent="-228600" algn="l" rtl="0" eaLnBrk="1" fontAlgn="base" hangingPunct="1">
        <a:spcBef>
          <a:spcPts val="0"/>
        </a:spcBef>
        <a:spcAft>
          <a:spcPts val="1200"/>
        </a:spcAft>
        <a:buChar char="–"/>
        <a:defRPr sz="2000">
          <a:solidFill>
            <a:srgbClr val="004990"/>
          </a:solidFill>
          <a:latin typeface="Arial Narrow" pitchFamily="34" charset="0"/>
        </a:defRPr>
      </a:lvl4pPr>
      <a:lvl5pPr marL="2057400" indent="-228600" algn="l" rtl="0" eaLnBrk="1" fontAlgn="base" hangingPunct="1">
        <a:spcBef>
          <a:spcPts val="0"/>
        </a:spcBef>
        <a:spcAft>
          <a:spcPts val="1200"/>
        </a:spcAft>
        <a:buChar char="»"/>
        <a:defRPr sz="2000">
          <a:solidFill>
            <a:srgbClr val="004990"/>
          </a:solidFill>
          <a:latin typeface="Arial Narrow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4990"/>
          </a:solidFill>
          <a:latin typeface="Arial Narrow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4990"/>
          </a:solidFill>
          <a:latin typeface="Arial Narrow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4990"/>
          </a:solidFill>
          <a:latin typeface="Arial Narrow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4990"/>
          </a:solidFill>
          <a:latin typeface="Arial Narrow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199"/>
            <a:ext cx="10972800" cy="4492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09600" y="6211956"/>
            <a:ext cx="10972800" cy="455827"/>
          </a:xfrm>
          <a:prstGeom prst="rect">
            <a:avLst/>
          </a:prstGeom>
          <a:solidFill>
            <a:srgbClr val="3E3E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Slides based on material from:</a:t>
            </a:r>
            <a:r>
              <a:rPr lang="en-US" sz="1400" baseline="0" dirty="0"/>
              <a:t> </a:t>
            </a:r>
            <a:r>
              <a:rPr lang="en-US" sz="1400" u="sng" dirty="0"/>
              <a:t>Professional C# 5.0 and .NET 4.5.1.</a:t>
            </a:r>
            <a:r>
              <a:rPr lang="en-US" sz="1400" u="none" dirty="0"/>
              <a:t> Nagel,</a:t>
            </a:r>
            <a:r>
              <a:rPr lang="en-US" sz="1400" dirty="0"/>
              <a:t> Christian; Glynn, Jay; Skinner, Morgan (2014-02-19). Wiley. </a:t>
            </a:r>
          </a:p>
        </p:txBody>
      </p:sp>
    </p:spTree>
    <p:extLst>
      <p:ext uri="{BB962C8B-B14F-4D97-AF65-F5344CB8AC3E}">
        <p14:creationId xmlns:p14="http://schemas.microsoft.com/office/powerpoint/2010/main" val="2230036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Webdings" pitchFamily="18" charset="2"/>
        <a:buChar char="4"/>
        <a:defRPr sz="3200">
          <a:solidFill>
            <a:srgbClr val="004990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rgbClr val="004990"/>
          </a:solidFill>
          <a:latin typeface="Arial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rgbClr val="004990"/>
          </a:solidFill>
          <a:latin typeface="Arial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rgbClr val="004990"/>
          </a:solidFill>
          <a:latin typeface="Arial Narrow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4990"/>
          </a:solidFill>
          <a:latin typeface="Arial Narrow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4990"/>
          </a:solidFill>
          <a:latin typeface="Arial Narrow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4990"/>
          </a:solidFill>
          <a:latin typeface="Arial Narrow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4990"/>
          </a:solidFill>
          <a:latin typeface="Arial Narrow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4990"/>
          </a:solidFill>
          <a:latin typeface="Arial Narrow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492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09600" y="6211958"/>
            <a:ext cx="10972800" cy="455827"/>
          </a:xfrm>
          <a:prstGeom prst="rect">
            <a:avLst/>
          </a:prstGeom>
          <a:solidFill>
            <a:srgbClr val="3E3E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Slides based on material from:</a:t>
            </a:r>
            <a:r>
              <a:rPr lang="en-US" sz="1050" baseline="0" dirty="0"/>
              <a:t> </a:t>
            </a:r>
            <a:r>
              <a:rPr lang="en-US" sz="1050" u="sng" dirty="0"/>
              <a:t>Professional C# 5.0 and .NET 4.5.1.</a:t>
            </a:r>
            <a:r>
              <a:rPr lang="en-US" sz="1050" u="none" dirty="0"/>
              <a:t> Nagel,</a:t>
            </a:r>
            <a:r>
              <a:rPr lang="en-US" sz="1050" dirty="0"/>
              <a:t> Christian; Glynn, Jay; Skinner, Morgan (2014-02-19). Wiley. </a:t>
            </a:r>
          </a:p>
        </p:txBody>
      </p:sp>
    </p:spTree>
    <p:extLst>
      <p:ext uri="{BB962C8B-B14F-4D97-AF65-F5344CB8AC3E}">
        <p14:creationId xmlns:p14="http://schemas.microsoft.com/office/powerpoint/2010/main" val="878832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Font typeface="Webdings" pitchFamily="18" charset="2"/>
        <a:buChar char="4"/>
        <a:defRPr sz="2400">
          <a:solidFill>
            <a:srgbClr val="004990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sz="2100">
          <a:solidFill>
            <a:srgbClr val="004990"/>
          </a:solidFill>
          <a:latin typeface="Arial" charset="0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rgbClr val="004990"/>
          </a:solidFill>
          <a:latin typeface="Arial" charset="0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sz="1500">
          <a:solidFill>
            <a:srgbClr val="004990"/>
          </a:solidFill>
          <a:latin typeface="Arial Narrow" pitchFamily="34" charset="0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4990"/>
          </a:solidFill>
          <a:latin typeface="Arial Narrow" pitchFamily="34" charset="0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4990"/>
          </a:solidFill>
          <a:latin typeface="Arial Narrow" pitchFamily="34" charset="0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4990"/>
          </a:solidFill>
          <a:latin typeface="Arial Narrow" pitchFamily="34" charset="0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4990"/>
          </a:solidFill>
          <a:latin typeface="Arial Narrow" pitchFamily="34" charset="0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4990"/>
          </a:solidFill>
          <a:latin typeface="Arial Narrow" pitchFamily="34" charset="0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 l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76400"/>
            <a:ext cx="10972800" cy="48006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773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</p:sldLayoutIdLst>
  <p:txStyles>
    <p:titleStyle>
      <a:lvl1pPr algn="l" defTabSz="514350" rtl="0" eaLnBrk="1" latinLnBrk="0" hangingPunct="1">
        <a:spcBef>
          <a:spcPct val="0"/>
        </a:spcBef>
        <a:buNone/>
        <a:defRPr sz="4000" kern="1200" cap="none" spc="-56" baseline="0">
          <a:ln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</p:titleStyle>
    <p:bodyStyle>
      <a:lvl1pPr marL="192881" indent="-128588" algn="l" defTabSz="514350" rtl="0" eaLnBrk="1" latinLnBrk="0" hangingPunct="1">
        <a:spcBef>
          <a:spcPct val="20000"/>
        </a:spcBef>
        <a:buClrTx/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indent="-128588" algn="l" defTabSz="514350" rtl="0" eaLnBrk="1" latinLnBrk="0" hangingPunct="1">
        <a:spcBef>
          <a:spcPct val="20000"/>
        </a:spcBef>
        <a:buClrTx/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565785" indent="-128588" algn="l" defTabSz="514350" rtl="0" eaLnBrk="1" latinLnBrk="0" hangingPunct="1">
        <a:spcBef>
          <a:spcPct val="20000"/>
        </a:spcBef>
        <a:buClrTx/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indent="-128588" algn="l" defTabSz="514350" rtl="0" eaLnBrk="1" latinLnBrk="0" hangingPunct="1">
        <a:spcBef>
          <a:spcPct val="20000"/>
        </a:spcBef>
        <a:buClrTx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874395" indent="-128588" algn="l" defTabSz="514350" rtl="0" eaLnBrk="1" latinLnBrk="0" hangingPunct="1">
        <a:spcBef>
          <a:spcPct val="20000"/>
        </a:spcBef>
        <a:buClrTx/>
        <a:buFont typeface="Wingdings" panose="05000000000000000000" pitchFamily="2" charset="2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977265" indent="-102870" algn="l" defTabSz="51435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788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080135" indent="-102870" algn="l" defTabSz="51435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7pPr>
      <a:lvl8pPr marL="1183005" indent="-102870" algn="l" defTabSz="51435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8pPr>
      <a:lvl9pPr marL="1285875" indent="-102870" algn="l" defTabSz="51435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msdn.microsoft.com/en-us/library/f7dy01k1(v=vs.110).aspx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Library Projects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677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6768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link libraries</a:t>
            </a:r>
          </a:p>
        </p:txBody>
      </p:sp>
      <p:sp>
        <p:nvSpPr>
          <p:cNvPr id="9" name="Subtitle 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to make a library Class or DLL.</a:t>
            </a:r>
          </a:p>
        </p:txBody>
      </p:sp>
    </p:spTree>
    <p:extLst>
      <p:ext uri="{BB962C8B-B14F-4D97-AF65-F5344CB8AC3E}">
        <p14:creationId xmlns:p14="http://schemas.microsoft.com/office/powerpoint/2010/main" val="3933699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4"/>
          <p:cNvSpPr>
            <a:spLocks noGrp="1" noChangeArrowheads="1"/>
          </p:cNvSpPr>
          <p:nvPr>
            <p:ph type="title"/>
          </p:nvPr>
        </p:nvSpPr>
        <p:spPr>
          <a:xfrm>
            <a:off x="2209800" y="3048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Making Stand-Alone Components</a:t>
            </a:r>
          </a:p>
        </p:txBody>
      </p:sp>
      <p:sp>
        <p:nvSpPr>
          <p:cNvPr id="72707" name="Rectangle 10"/>
          <p:cNvSpPr>
            <a:spLocks noGrp="1" noChangeArrowheads="1"/>
          </p:cNvSpPr>
          <p:nvPr>
            <p:ph idx="1"/>
          </p:nvPr>
        </p:nvSpPr>
        <p:spPr>
          <a:xfrm>
            <a:off x="2209800" y="1676400"/>
            <a:ext cx="7772400" cy="4419600"/>
          </a:xfrm>
        </p:spPr>
        <p:txBody>
          <a:bodyPr>
            <a:normAutofit fontScale="85000" lnSpcReduction="10000"/>
          </a:bodyPr>
          <a:lstStyle/>
          <a:p>
            <a:pPr eaLnBrk="1" hangingPunct="1">
              <a:spcBef>
                <a:spcPct val="60000"/>
              </a:spcBef>
            </a:pPr>
            <a:r>
              <a:rPr lang="en-US" altLang="en-US"/>
              <a:t>Compile class and create an assembly</a:t>
            </a:r>
          </a:p>
          <a:p>
            <a:pPr lvl="1" eaLnBrk="1" hangingPunct="1">
              <a:spcBef>
                <a:spcPct val="60000"/>
              </a:spcBef>
            </a:pPr>
            <a:r>
              <a:rPr lang="en-US" altLang="en-US"/>
              <a:t>Assemblies are units configured and deployed in .NET 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en-US"/>
              <a:t>Classes can be compiled and stored as a dynamic link library (DLL) instead of into the EXE file type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en-US"/>
              <a:t>Adds a reference to the DLL </a:t>
            </a:r>
          </a:p>
          <a:p>
            <a:pPr lvl="1" eaLnBrk="1" hangingPunct="1">
              <a:spcBef>
                <a:spcPct val="60000"/>
              </a:spcBef>
            </a:pPr>
            <a:r>
              <a:rPr lang="en-US" altLang="en-US"/>
              <a:t>That referenced file with the .dll extension becomes part of the application’s private assembly   </a:t>
            </a:r>
          </a:p>
        </p:txBody>
      </p:sp>
    </p:spTree>
    <p:extLst>
      <p:ext uri="{BB962C8B-B14F-4D97-AF65-F5344CB8AC3E}">
        <p14:creationId xmlns:p14="http://schemas.microsoft.com/office/powerpoint/2010/main" val="2284823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6" name="Rectangle 4"/>
          <p:cNvSpPr>
            <a:spLocks noGrp="1" noChangeArrowheads="1"/>
          </p:cNvSpPr>
          <p:nvPr>
            <p:ph type="title"/>
          </p:nvPr>
        </p:nvSpPr>
        <p:spPr>
          <a:xfrm>
            <a:off x="1752600" y="0"/>
            <a:ext cx="8686800" cy="1143000"/>
          </a:xfrm>
        </p:spPr>
        <p:txBody>
          <a:bodyPr/>
          <a:lstStyle/>
          <a:p>
            <a:pPr eaLnBrk="1" hangingPunct="1"/>
            <a:r>
              <a:rPr lang="en-US" altLang="en-US" sz="4000"/>
              <a:t>Using Visual Studio to Create DLL Files</a:t>
            </a:r>
          </a:p>
        </p:txBody>
      </p:sp>
      <p:pic>
        <p:nvPicPr>
          <p:cNvPr id="74758" name="Picture 6" descr="Fig11_06.ti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990600"/>
            <a:ext cx="7519988" cy="478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53127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4"/>
          <p:cNvSpPr>
            <a:spLocks noGrp="1" noChangeArrowheads="1"/>
          </p:cNvSpPr>
          <p:nvPr>
            <p:ph type="title"/>
          </p:nvPr>
        </p:nvSpPr>
        <p:spPr>
          <a:xfrm>
            <a:off x="1752600" y="304800"/>
            <a:ext cx="8686800" cy="1143000"/>
          </a:xfrm>
        </p:spPr>
        <p:txBody>
          <a:bodyPr/>
          <a:lstStyle/>
          <a:p>
            <a:pPr eaLnBrk="1" hangingPunct="1"/>
            <a:r>
              <a:rPr lang="en-US" altLang="en-US"/>
              <a:t>Build Instead of Run to Create DLL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524000"/>
            <a:ext cx="10337180" cy="2209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Create the parent class first in order to use IntelliSense </a:t>
            </a:r>
          </a:p>
          <a:p>
            <a:pPr eaLnBrk="1" hangingPunct="1"/>
            <a:r>
              <a:rPr lang="en-US" altLang="en-US" dirty="0"/>
              <a:t>Create the subclass class in the same way as usual, except Build instead of Run the project to create the DLL</a:t>
            </a:r>
            <a:r>
              <a:rPr lang="en-US" altLang="en-US" sz="2400" dirty="0"/>
              <a:t> </a:t>
            </a:r>
          </a:p>
        </p:txBody>
      </p:sp>
      <p:pic>
        <p:nvPicPr>
          <p:cNvPr id="76805" name="Picture 7" descr="Fig11_07.ti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8412" y="3875049"/>
            <a:ext cx="5089525" cy="2293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43353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4"/>
          <p:cNvSpPr>
            <a:spLocks noGrp="1" noChangeArrowheads="1"/>
          </p:cNvSpPr>
          <p:nvPr>
            <p:ph type="title"/>
          </p:nvPr>
        </p:nvSpPr>
        <p:spPr>
          <a:xfrm>
            <a:off x="2209800" y="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Add Reference to Base Class </a:t>
            </a:r>
          </a:p>
        </p:txBody>
      </p:sp>
      <p:pic>
        <p:nvPicPr>
          <p:cNvPr id="78852" name="Picture 7" descr="Fig11_08.ti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9814" y="1143001"/>
            <a:ext cx="4217987" cy="485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8853" name="AutoShape 13"/>
          <p:cNvSpPr>
            <a:spLocks noChangeArrowheads="1"/>
          </p:cNvSpPr>
          <p:nvPr/>
        </p:nvSpPr>
        <p:spPr bwMode="auto">
          <a:xfrm>
            <a:off x="2133600" y="2133600"/>
            <a:ext cx="2286000" cy="2438400"/>
          </a:xfrm>
          <a:prstGeom prst="wedgeEllipseCallout">
            <a:avLst>
              <a:gd name="adj1" fmla="val 111181"/>
              <a:gd name="adj2" fmla="val -12370"/>
            </a:avLst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200"/>
              <a:t>One of the first things to do is </a:t>
            </a:r>
            <a:r>
              <a:rPr lang="en-US" altLang="en-US" sz="2200" b="1"/>
              <a:t>Add a Reference</a:t>
            </a:r>
            <a:r>
              <a:rPr lang="en-US" altLang="en-US" sz="2200"/>
              <a:t> to the Parent DLL</a:t>
            </a:r>
          </a:p>
        </p:txBody>
      </p:sp>
    </p:spTree>
    <p:extLst>
      <p:ext uri="{BB962C8B-B14F-4D97-AF65-F5344CB8AC3E}">
        <p14:creationId xmlns:p14="http://schemas.microsoft.com/office/powerpoint/2010/main" val="1252218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4"/>
          <p:cNvSpPr>
            <a:spLocks noGrp="1" noChangeArrowheads="1"/>
          </p:cNvSpPr>
          <p:nvPr>
            <p:ph type="title"/>
          </p:nvPr>
        </p:nvSpPr>
        <p:spPr>
          <a:xfrm>
            <a:off x="1905000" y="76200"/>
            <a:ext cx="8382000" cy="990600"/>
          </a:xfrm>
        </p:spPr>
        <p:txBody>
          <a:bodyPr/>
          <a:lstStyle/>
          <a:p>
            <a:pPr eaLnBrk="1" hangingPunct="1"/>
            <a:r>
              <a:rPr lang="en-US" altLang="en-US"/>
              <a:t>Add Reference to Base Class </a:t>
            </a:r>
            <a:r>
              <a:rPr lang="en-US" altLang="en-US" sz="4000"/>
              <a:t>(</a:t>
            </a:r>
            <a:r>
              <a:rPr lang="en-US" altLang="en-US" sz="2800"/>
              <a:t>continued</a:t>
            </a:r>
            <a:r>
              <a:rPr lang="en-US" altLang="en-US" sz="4000"/>
              <a:t>)</a:t>
            </a:r>
          </a:p>
        </p:txBody>
      </p:sp>
      <p:pic>
        <p:nvPicPr>
          <p:cNvPr id="80900" name="Picture 7" descr="Fig11_09.ti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1143001"/>
            <a:ext cx="5715000" cy="4837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901" name="AutoShape 15"/>
          <p:cNvSpPr>
            <a:spLocks noChangeArrowheads="1"/>
          </p:cNvSpPr>
          <p:nvPr/>
        </p:nvSpPr>
        <p:spPr bwMode="auto">
          <a:xfrm>
            <a:off x="8686800" y="1828800"/>
            <a:ext cx="1524000" cy="2590800"/>
          </a:xfrm>
          <a:prstGeom prst="wedgeEllipseCallout">
            <a:avLst>
              <a:gd name="adj1" fmla="val -267486"/>
              <a:gd name="adj2" fmla="val -46491"/>
            </a:avLst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200"/>
              <a:t>Use Browse button to locate DLL</a:t>
            </a:r>
          </a:p>
        </p:txBody>
      </p:sp>
    </p:spTree>
    <p:extLst>
      <p:ext uri="{BB962C8B-B14F-4D97-AF65-F5344CB8AC3E}">
        <p14:creationId xmlns:p14="http://schemas.microsoft.com/office/powerpoint/2010/main" val="30204074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4"/>
          <p:cNvSpPr>
            <a:spLocks noGrp="1" noChangeArrowheads="1"/>
          </p:cNvSpPr>
          <p:nvPr>
            <p:ph type="title"/>
          </p:nvPr>
        </p:nvSpPr>
        <p:spPr>
          <a:xfrm>
            <a:off x="2209800" y="1524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Add Reference to Base Class</a:t>
            </a:r>
            <a:r>
              <a:rPr lang="en-US" altLang="en-US" sz="4000"/>
              <a:t> (</a:t>
            </a:r>
            <a:r>
              <a:rPr lang="en-US" altLang="en-US" sz="2800"/>
              <a:t>continued</a:t>
            </a:r>
            <a:r>
              <a:rPr lang="en-US" altLang="en-US" sz="4000"/>
              <a:t>)</a:t>
            </a:r>
          </a:p>
        </p:txBody>
      </p:sp>
      <p:pic>
        <p:nvPicPr>
          <p:cNvPr id="82948" name="Picture 6" descr="Fig11_10.ti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1339850"/>
            <a:ext cx="5257800" cy="445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50075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Adding a New Using Statement</a:t>
            </a:r>
          </a:p>
        </p:txBody>
      </p:sp>
      <p:sp>
        <p:nvSpPr>
          <p:cNvPr id="8499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 the subclass class, if you simply type the following, you receive an error message  </a:t>
            </a:r>
          </a:p>
          <a:p>
            <a:pPr lvl="2">
              <a:lnSpc>
                <a:spcPct val="88000"/>
              </a:lnSpc>
              <a:spcBef>
                <a:spcPts val="700"/>
              </a:spcBef>
              <a:buNone/>
            </a:pPr>
            <a:r>
              <a:rPr lang="en-US" altLang="en-US" sz="2500">
                <a:solidFill>
                  <a:srgbClr val="0000FF"/>
                </a:solidFill>
              </a:rPr>
              <a:t>public</a:t>
            </a:r>
            <a:r>
              <a:rPr lang="en-US" altLang="en-US" sz="2500"/>
              <a:t> </a:t>
            </a:r>
            <a:r>
              <a:rPr lang="en-US" altLang="en-US" sz="2500">
                <a:solidFill>
                  <a:srgbClr val="0000FF"/>
                </a:solidFill>
              </a:rPr>
              <a:t>class</a:t>
            </a:r>
            <a:r>
              <a:rPr lang="en-US" altLang="en-US" sz="2500"/>
              <a:t> Student : Person</a:t>
            </a:r>
          </a:p>
        </p:txBody>
      </p:sp>
      <p:pic>
        <p:nvPicPr>
          <p:cNvPr id="84999" name="Picture 7" descr="FIG11_11.ti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4329461"/>
            <a:ext cx="7772400" cy="148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8849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Adding a New Using Statement (</a:t>
            </a:r>
            <a:r>
              <a:rPr lang="en-US" altLang="en-US" sz="2800"/>
              <a:t>continued</a:t>
            </a:r>
            <a:r>
              <a:rPr lang="en-US" altLang="en-US"/>
              <a:t>)</a:t>
            </a:r>
          </a:p>
        </p:txBody>
      </p:sp>
      <p:sp>
        <p:nvSpPr>
          <p:cNvPr id="8704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en-US"/>
              <a:t>To avoid error, could type:</a:t>
            </a:r>
          </a:p>
          <a:p>
            <a:pPr lvl="1" eaLnBrk="1" hangingPunct="1">
              <a:spcBef>
                <a:spcPct val="60000"/>
              </a:spcBef>
              <a:buFontTx/>
              <a:buNone/>
            </a:pPr>
            <a:r>
              <a:rPr lang="en-US" altLang="en-US" sz="2200">
                <a:solidFill>
                  <a:srgbClr val="0000FF"/>
                </a:solidFill>
              </a:rPr>
              <a:t>public</a:t>
            </a:r>
            <a:r>
              <a:rPr lang="en-US" altLang="en-US" sz="2200"/>
              <a:t> </a:t>
            </a:r>
            <a:r>
              <a:rPr lang="en-US" altLang="en-US" sz="2200">
                <a:solidFill>
                  <a:srgbClr val="0000FF"/>
                </a:solidFill>
              </a:rPr>
              <a:t>class</a:t>
            </a:r>
            <a:r>
              <a:rPr lang="en-US" altLang="en-US" sz="2200"/>
              <a:t> Student : PersonNamespace.Person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en-US"/>
              <a:t>Better option is to add a using directive </a:t>
            </a:r>
          </a:p>
          <a:p>
            <a:pPr lvl="1" eaLnBrk="1" hangingPunct="1">
              <a:spcBef>
                <a:spcPct val="60000"/>
              </a:spcBef>
              <a:buFontTx/>
              <a:buNone/>
            </a:pPr>
            <a:r>
              <a:rPr lang="en-US" altLang="en-US" sz="2000">
                <a:solidFill>
                  <a:srgbClr val="0000FF"/>
                </a:solidFill>
              </a:rPr>
              <a:t> </a:t>
            </a:r>
            <a:r>
              <a:rPr lang="en-US" altLang="en-US" sz="2200">
                <a:solidFill>
                  <a:srgbClr val="0000FF"/>
                </a:solidFill>
              </a:rPr>
              <a:t>using</a:t>
            </a:r>
            <a:r>
              <a:rPr lang="en-US" altLang="en-US" sz="2200"/>
              <a:t> PersonNamespace;  </a:t>
            </a:r>
            <a:r>
              <a:rPr lang="en-US" altLang="en-US" sz="2200">
                <a:solidFill>
                  <a:srgbClr val="339966"/>
                </a:solidFill>
              </a:rPr>
              <a:t>// Use whatever name you </a:t>
            </a:r>
          </a:p>
          <a:p>
            <a:pPr eaLnBrk="1" hangingPunct="1">
              <a:spcBef>
                <a:spcPct val="60000"/>
              </a:spcBef>
              <a:buFontTx/>
              <a:buNone/>
            </a:pPr>
            <a:r>
              <a:rPr lang="en-US" altLang="en-US" sz="2200">
                <a:solidFill>
                  <a:srgbClr val="339966"/>
                </a:solidFill>
              </a:rPr>
              <a:t>                                                // typed for the namespace for Person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en-US"/>
              <a:t>After typing program statements, build the DLL from the Build option under the Build menu bar </a:t>
            </a:r>
            <a:endParaRPr lang="en-US" altLang="en-US" sz="2200">
              <a:solidFill>
                <a:srgbClr val="339966"/>
              </a:solidFill>
            </a:endParaRPr>
          </a:p>
          <a:p>
            <a:pPr eaLnBrk="1" hangingPunct="1">
              <a:spcBef>
                <a:spcPct val="60000"/>
              </a:spcBef>
              <a:buFontTx/>
              <a:buNone/>
            </a:pPr>
            <a:endParaRPr lang="en-US" altLang="en-US" sz="2200"/>
          </a:p>
          <a:p>
            <a:pPr lvl="1" eaLnBrk="1" hangingPunct="1">
              <a:buFontTx/>
              <a:buNone/>
            </a:pPr>
            <a:endParaRPr lang="en-US" altLang="en-US" sz="2200"/>
          </a:p>
        </p:txBody>
      </p:sp>
      <p:sp>
        <p:nvSpPr>
          <p:cNvPr id="87046" name="AutoShape 4"/>
          <p:cNvSpPr>
            <a:spLocks noChangeArrowheads="1"/>
          </p:cNvSpPr>
          <p:nvPr/>
        </p:nvSpPr>
        <p:spPr bwMode="auto">
          <a:xfrm>
            <a:off x="8001000" y="1447800"/>
            <a:ext cx="2133600" cy="1600200"/>
          </a:xfrm>
          <a:prstGeom prst="wedgeEllipseCallout">
            <a:avLst>
              <a:gd name="adj1" fmla="val -88542"/>
              <a:gd name="adj2" fmla="val 29245"/>
            </a:avLst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200"/>
              <a:t>Notice fully qualified name</a:t>
            </a:r>
          </a:p>
        </p:txBody>
      </p:sp>
    </p:spTree>
    <p:extLst>
      <p:ext uri="{BB962C8B-B14F-4D97-AF65-F5344CB8AC3E}">
        <p14:creationId xmlns:p14="http://schemas.microsoft.com/office/powerpoint/2010/main" val="28711002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Using ILDASM to View the Assembly </a:t>
            </a:r>
          </a:p>
        </p:txBody>
      </p:sp>
      <p:sp>
        <p:nvSpPr>
          <p:cNvPr id="89091" name="Rectangle 4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altLang="en-US" dirty="0"/>
              <a:t>(ILDASM)</a:t>
            </a:r>
            <a:r>
              <a:rPr lang="en-US" altLang="en-US" dirty="0">
                <a:cs typeface="Times New Roman" pitchFamily="18" charset="0"/>
              </a:rPr>
              <a:t>:</a:t>
            </a:r>
            <a:r>
              <a:rPr lang="en-US" altLang="en-US" dirty="0"/>
              <a:t> Intermediate Language Disassembler tool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altLang="en-US" dirty="0"/>
              <a:t>Assembly shows the signatures of all methods, data fields, and properties 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altLang="en-US" dirty="0"/>
              <a:t>One option</a:t>
            </a:r>
            <a:r>
              <a:rPr lang="en-US" altLang="en-US" dirty="0">
                <a:cs typeface="Times New Roman" pitchFamily="18" charset="0"/>
              </a:rPr>
              <a:t> </a:t>
            </a:r>
            <a:r>
              <a:rPr lang="en-US" altLang="en-US" dirty="0"/>
              <a:t>– display the source code as a comment in the assembly 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altLang="en-US" dirty="0"/>
              <a:t>Can be run from the command line or from within the Visual Studio IDE</a:t>
            </a:r>
          </a:p>
          <a:p>
            <a:pPr lvl="1">
              <a:lnSpc>
                <a:spcPct val="90000"/>
              </a:lnSpc>
              <a:spcBef>
                <a:spcPct val="40000"/>
              </a:spcBef>
            </a:pPr>
            <a:r>
              <a:rPr lang="en-US" altLang="en-US" dirty="0"/>
              <a:t>See </a:t>
            </a:r>
            <a:r>
              <a:rPr lang="en-US" altLang="en-US" dirty="0">
                <a:hlinkClick r:id="rId3"/>
              </a:rPr>
              <a:t>http://msdn.microsoft.com/en-us/library/f7dy01k1(v=vs.110).aspx</a:t>
            </a:r>
            <a:endParaRPr lang="en-US" altLang="en-US" dirty="0"/>
          </a:p>
          <a:p>
            <a:pPr lvl="1">
              <a:lnSpc>
                <a:spcPct val="90000"/>
              </a:lnSpc>
              <a:spcBef>
                <a:spcPct val="40000"/>
              </a:spcBef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742382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 DLL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to use a DLL</a:t>
            </a:r>
          </a:p>
        </p:txBody>
      </p:sp>
    </p:spTree>
    <p:extLst>
      <p:ext uri="{BB962C8B-B14F-4D97-AF65-F5344CB8AC3E}">
        <p14:creationId xmlns:p14="http://schemas.microsoft.com/office/powerpoint/2010/main" val="20492448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Using a DLL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DLL components can be reused with many different applications</a:t>
            </a:r>
          </a:p>
          <a:p>
            <a:r>
              <a:rPr lang="en-US" altLang="en-US" dirty="0"/>
              <a:t>Two steps </a:t>
            </a:r>
          </a:p>
          <a:p>
            <a:pPr lvl="1"/>
            <a:r>
              <a:rPr lang="en-US" altLang="en-US" dirty="0"/>
              <a:t>Add a reference to the DLL components</a:t>
            </a:r>
          </a:p>
          <a:p>
            <a:pPr lvl="1"/>
            <a:r>
              <a:rPr lang="en-US" altLang="en-US" dirty="0"/>
              <a:t>Include a using statement with the namespace</a:t>
            </a:r>
          </a:p>
          <a:p>
            <a:r>
              <a:rPr lang="en-US" altLang="en-US" dirty="0"/>
              <a:t>Then declare an object of the component type(s)</a:t>
            </a:r>
          </a:p>
          <a:p>
            <a:r>
              <a:rPr lang="en-US" altLang="en-US" dirty="0"/>
              <a:t>Use members of the derived, base, or referenced classes</a:t>
            </a:r>
          </a:p>
        </p:txBody>
      </p:sp>
    </p:spTree>
    <p:extLst>
      <p:ext uri="{BB962C8B-B14F-4D97-AF65-F5344CB8AC3E}">
        <p14:creationId xmlns:p14="http://schemas.microsoft.com/office/powerpoint/2010/main" val="1256752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Demonstration/Walkthrough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dirty="0"/>
              <a:t>Demonstrate how to create a Dynamic Link Library.</a:t>
            </a:r>
          </a:p>
          <a:p>
            <a:r>
              <a:rPr lang="en-US" dirty="0"/>
              <a:t>Demonstrate how to use a Dynamic Link Library.</a:t>
            </a:r>
          </a:p>
        </p:txBody>
      </p:sp>
    </p:spTree>
    <p:extLst>
      <p:ext uri="{BB962C8B-B14F-4D97-AF65-F5344CB8AC3E}">
        <p14:creationId xmlns:p14="http://schemas.microsoft.com/office/powerpoint/2010/main" val="33095274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29696"/>
            <a:ext cx="10972800" cy="4492487"/>
          </a:xfrm>
        </p:spPr>
        <p:txBody>
          <a:bodyPr numCol="2"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944342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pzVjXQSP3txl9tStYhIbG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R9RHz8homAIDNvLlc10pT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pzVjXQSP3txl9tStYhIb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R9RHz8homAIDNvLlc10pT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pzVjXQSP3txl9tStYhIb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R9RHz8homAIDNvLlc10pT"/>
</p:tagLst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theme/theme1.xml><?xml version="1.0" encoding="utf-8"?>
<a:theme xmlns:a="http://schemas.openxmlformats.org/drawingml/2006/main" name="STEMulusTheme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 Black"/>
        <a:ea typeface=""/>
        <a:cs typeface=""/>
      </a:majorFont>
      <a:minorFont>
        <a:latin typeface="Arial Unicode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 anchorCtr="1">
        <a:normAutofit fontScale="85000" lnSpcReduction="10000"/>
      </a:bodyPr>
      <a:lstStyle>
        <a:defPPr>
          <a:defRPr sz="6000" dirty="0"/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STEMulusTheme" id="{7D2F087C-814B-478C-8874-D946BB7E8194}" vid="{40A4879B-240E-4393-A31F-DCAD88D9BDF3}"/>
    </a:ext>
  </a:extLst>
</a:theme>
</file>

<file path=ppt/theme/theme2.xml><?xml version="1.0" encoding="utf-8"?>
<a:theme xmlns:a="http://schemas.openxmlformats.org/drawingml/2006/main" name="GenericTheme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 Black"/>
        <a:ea typeface=""/>
        <a:cs typeface=""/>
      </a:majorFont>
      <a:minorFont>
        <a:latin typeface="Arial Unicode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>
        <a:normAutofit fontScale="47500" lnSpcReduction="20000"/>
      </a:bodyPr>
      <a:lstStyle>
        <a:defPPr algn="ctr">
          <a:defRPr sz="2800" dirty="0" smtClean="0"/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GenericTheme" id="{05FD65AE-DB87-4839-B04A-C3F3B9C91C6E}" vid="{73340265-D181-4240-AB7E-F31EC520ECCF}"/>
    </a:ext>
  </a:extLst>
</a:theme>
</file>

<file path=ppt/theme/theme3.xml><?xml version="1.0" encoding="utf-8"?>
<a:theme xmlns:a="http://schemas.openxmlformats.org/drawingml/2006/main" name="FibTheme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 Black"/>
        <a:ea typeface=""/>
        <a:cs typeface=""/>
      </a:majorFont>
      <a:minorFont>
        <a:latin typeface="Arial Unicode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>
        <a:normAutofit fontScale="47500" lnSpcReduction="20000"/>
      </a:bodyPr>
      <a:lstStyle>
        <a:defPPr algn="ctr">
          <a:defRPr sz="2800" dirty="0" smtClean="0"/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ibTheme" id="{42310378-7C67-4D39-BE8C-4B5D7B7C9646}" vid="{D62DC210-79D2-435F-90C7-822FFC9D4BD4}"/>
    </a:ext>
  </a:extLst>
</a:theme>
</file>

<file path=ppt/theme/theme4.xml><?xml version="1.0" encoding="utf-8"?>
<a:theme xmlns:a="http://schemas.openxmlformats.org/drawingml/2006/main" name="1_Fib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2060"/>
      </a:accent1>
      <a:accent2>
        <a:srgbClr val="8496B0"/>
      </a:accent2>
      <a:accent3>
        <a:srgbClr val="8496B0"/>
      </a:accent3>
      <a:accent4>
        <a:srgbClr val="ADB9CA"/>
      </a:accent4>
      <a:accent5>
        <a:srgbClr val="D6DCE4"/>
      </a:accent5>
      <a:accent6>
        <a:srgbClr val="D6DCE4"/>
      </a:accent6>
      <a:hlink>
        <a:srgbClr val="0070C0"/>
      </a:hlink>
      <a:folHlink>
        <a:srgbClr val="7030A0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bTheme" id="{FB228B94-9174-4A84-8B9C-56843C22FF37}" vid="{498E3D67-B2F1-4125-9069-AEB53E6EAC14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STEMulusTheme</Template>
  <TotalTime>9091</TotalTime>
  <Words>404</Words>
  <Application>Microsoft Office PowerPoint</Application>
  <PresentationFormat>Widescreen</PresentationFormat>
  <Paragraphs>60</Paragraphs>
  <Slides>16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16</vt:i4>
      </vt:variant>
    </vt:vector>
  </HeadingPairs>
  <TitlesOfParts>
    <vt:vector size="30" baseType="lpstr">
      <vt:lpstr>Arial Unicode MS</vt:lpstr>
      <vt:lpstr>Arial</vt:lpstr>
      <vt:lpstr>Arial Black</vt:lpstr>
      <vt:lpstr>Arial Narrow</vt:lpstr>
      <vt:lpstr>Calibri</vt:lpstr>
      <vt:lpstr>Cambria</vt:lpstr>
      <vt:lpstr>Edwardian Script ITC</vt:lpstr>
      <vt:lpstr>Times New Roman</vt:lpstr>
      <vt:lpstr>Webdings</vt:lpstr>
      <vt:lpstr>Wingdings</vt:lpstr>
      <vt:lpstr>STEMulusTheme</vt:lpstr>
      <vt:lpstr>GenericTheme</vt:lpstr>
      <vt:lpstr>FibTheme</vt:lpstr>
      <vt:lpstr>1_FibTheme</vt:lpstr>
      <vt:lpstr>Library Projects</vt:lpstr>
      <vt:lpstr>Overview</vt:lpstr>
      <vt:lpstr>Dynamic link libraries</vt:lpstr>
      <vt:lpstr>Making Stand-Alone Components</vt:lpstr>
      <vt:lpstr>Using Visual Studio to Create DLL Files</vt:lpstr>
      <vt:lpstr>Build Instead of Run to Create DLL</vt:lpstr>
      <vt:lpstr>Add Reference to Base Class </vt:lpstr>
      <vt:lpstr>Add Reference to Base Class (continued)</vt:lpstr>
      <vt:lpstr>Add Reference to Base Class (continued)</vt:lpstr>
      <vt:lpstr>Adding a New Using Statement</vt:lpstr>
      <vt:lpstr>Adding a New Using Statement (continued)</vt:lpstr>
      <vt:lpstr>Using ILDASM to View the Assembly </vt:lpstr>
      <vt:lpstr>Using a DLL</vt:lpstr>
      <vt:lpstr>Using a DLL</vt:lpstr>
      <vt:lpstr>Demonstration/Walkthrough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Robert Garner</cp:lastModifiedBy>
  <cp:revision>315</cp:revision>
  <dcterms:created xsi:type="dcterms:W3CDTF">2015-05-10T23:35:32Z</dcterms:created>
  <dcterms:modified xsi:type="dcterms:W3CDTF">2017-01-10T21:24:34Z</dcterms:modified>
</cp:coreProperties>
</file>