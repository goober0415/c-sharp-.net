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3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6" r:id="rId2"/>
    <p:sldMasterId id="2147483693" r:id="rId3"/>
    <p:sldMasterId id="2147483711" r:id="rId4"/>
  </p:sldMasterIdLst>
  <p:notesMasterIdLst>
    <p:notesMasterId r:id="rId14"/>
  </p:notesMasterIdLst>
  <p:sldIdLst>
    <p:sldId id="256" r:id="rId5"/>
    <p:sldId id="257" r:id="rId6"/>
    <p:sldId id="275" r:id="rId7"/>
    <p:sldId id="289" r:id="rId8"/>
    <p:sldId id="276" r:id="rId9"/>
    <p:sldId id="283" r:id="rId10"/>
    <p:sldId id="285" r:id="rId11"/>
    <p:sldId id="287" r:id="rId12"/>
    <p:sldId id="28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47C28778-2760-4EAD-AB0A-B2A64705858C}">
          <p14:sldIdLst>
            <p14:sldId id="256"/>
            <p14:sldId id="257"/>
          </p14:sldIdLst>
        </p14:section>
        <p14:section name="Throwing Exceptions" id="{4AF393E5-0CDC-43DA-AC44-8400D98FCFAE}">
          <p14:sldIdLst>
            <p14:sldId id="275"/>
            <p14:sldId id="289"/>
            <p14:sldId id="276"/>
          </p14:sldIdLst>
        </p14:section>
        <p14:section name="User-Defined Exception Classes" id="{9B4AE2E0-23F2-45D5-B458-2F63563D6039}">
          <p14:sldIdLst>
            <p14:sldId id="283"/>
            <p14:sldId id="285"/>
            <p14:sldId id="287"/>
          </p14:sldIdLst>
        </p14:section>
        <p14:section name="Summary" id="{484AEAC6-781C-43D9-8449-DDEAC50CEC63}">
          <p14:sldIdLst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8440" autoAdjust="0"/>
    <p:restoredTop sz="85576" autoAdjust="0"/>
  </p:normalViewPr>
  <p:slideViewPr>
    <p:cSldViewPr snapToGrid="0">
      <p:cViewPr varScale="1">
        <p:scale>
          <a:sx n="49" d="100"/>
          <a:sy n="49" d="100"/>
        </p:scale>
        <p:origin x="76" y="6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28AEDA-69F3-4BD8-A62F-AB69D1B5AE71}" type="datetimeFigureOut">
              <a:rPr lang="en-US" smtClean="0"/>
              <a:t>08-Jan-17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92D35B-DA1B-4438-A15B-857732987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105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many sources of errors.</a:t>
            </a:r>
          </a:p>
          <a:p>
            <a:r>
              <a:rPr lang="en-US" dirty="0"/>
              <a:t>Coding errors</a:t>
            </a:r>
          </a:p>
          <a:p>
            <a:r>
              <a:rPr lang="en-US" dirty="0"/>
              <a:t>User input</a:t>
            </a:r>
          </a:p>
          <a:p>
            <a:r>
              <a:rPr lang="en-US" dirty="0"/>
              <a:t>System errors</a:t>
            </a:r>
          </a:p>
          <a:p>
            <a:endParaRPr lang="en-US" dirty="0"/>
          </a:p>
          <a:p>
            <a:r>
              <a:rPr lang="en-US" dirty="0"/>
              <a:t>C# error handling can be used to mitigate impact of errors.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92D35B-DA1B-4438-A15B-85773298702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1019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 “User-Defined</a:t>
            </a:r>
            <a:r>
              <a:rPr lang="en-US" baseline="0" dirty="0"/>
              <a:t> Exceptions</a:t>
            </a:r>
            <a:r>
              <a:rPr lang="en-US" dirty="0"/>
              <a:t>” section of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92D35B-DA1B-4438-A15B-85773298702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584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92D35B-DA1B-4438-A15B-85773298702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760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://www.socrative.com/" TargetMode="External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://www.socrative.com/" TargetMode="External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47801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0386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08-Jan-17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pic>
        <p:nvPicPr>
          <p:cNvPr id="6" name="Picture 5" descr="CNM logo_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8800" y="1"/>
            <a:ext cx="3403600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611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08-Jan-17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550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08-Jan-17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255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08-Jan-17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43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08-Jan-17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204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08-Jan-17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860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08-Jan-17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625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08-Jan-17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  <p:sp>
        <p:nvSpPr>
          <p:cNvPr id="5" name="Slide Number Placeholder 1"/>
          <p:cNvSpPr txBox="1">
            <a:spLocks/>
          </p:cNvSpPr>
          <p:nvPr/>
        </p:nvSpPr>
        <p:spPr>
          <a:xfrm>
            <a:off x="609600" y="5943601"/>
            <a:ext cx="10972800" cy="7778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eaLnBrk="1" hangingPunct="1"/>
            <a:fld id="{BEC4B462-DC2D-47D4-8944-F81C2113999E}" type="slidenum">
              <a:rPr lang="en-US" sz="1800" smtClean="0"/>
              <a:pPr eaLnBrk="1" hangingPunct="1"/>
              <a:t>‹#›</a:t>
            </a:fld>
            <a:endParaRPr lang="en-US" sz="1800"/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304800" y="152401"/>
            <a:ext cx="5283200" cy="708025"/>
          </a:xfrm>
          <a:prstGeom prst="rect">
            <a:avLst/>
          </a:prstGeom>
          <a:solidFill>
            <a:schemeClr val="bg1">
              <a:alpha val="74901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ES" sz="4000" dirty="0"/>
              <a:t>Instructor </a:t>
            </a:r>
            <a:r>
              <a:rPr lang="es-ES" sz="4000" dirty="0" err="1"/>
              <a:t>Name</a:t>
            </a:r>
            <a:r>
              <a:rPr lang="es-ES" sz="4000" dirty="0"/>
              <a:t>:</a:t>
            </a:r>
          </a:p>
        </p:txBody>
      </p:sp>
      <p:sp>
        <p:nvSpPr>
          <p:cNvPr id="8" name="TextBox 3"/>
          <p:cNvSpPr txBox="1">
            <a:spLocks noChangeArrowheads="1"/>
          </p:cNvSpPr>
          <p:nvPr/>
        </p:nvSpPr>
        <p:spPr bwMode="auto">
          <a:xfrm>
            <a:off x="285752" y="873126"/>
            <a:ext cx="4692649" cy="1323975"/>
          </a:xfrm>
          <a:prstGeom prst="rect">
            <a:avLst/>
          </a:prstGeom>
          <a:solidFill>
            <a:schemeClr val="bg1">
              <a:alpha val="67058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4000" dirty="0"/>
              <a:t>Instructor ID #:</a:t>
            </a:r>
          </a:p>
          <a:p>
            <a:pPr eaLnBrk="1" hangingPunct="1"/>
            <a:r>
              <a:rPr lang="en-US" sz="4000" dirty="0"/>
              <a:t>Class ID #:  </a:t>
            </a:r>
            <a:endParaRPr lang="es-ES" sz="4000" dirty="0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048000" y="4038601"/>
            <a:ext cx="4267515" cy="1569660"/>
          </a:xfrm>
          <a:prstGeom prst="rect">
            <a:avLst/>
          </a:prstGeom>
          <a:solidFill>
            <a:schemeClr val="bg1">
              <a:lumMod val="95000"/>
              <a:alpha val="51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9600" b="1" dirty="0">
                <a:latin typeface="Edwardian Script ITC" pitchFamily="66" charset="0"/>
              </a:rPr>
              <a:t>Thank you!</a:t>
            </a:r>
            <a:endParaRPr lang="es-ES" sz="9600" b="1" dirty="0">
              <a:latin typeface="Edwardian Script ITC" pitchFamily="66" charset="0"/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5588000" y="3048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5080000" y="9906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3860800" y="16002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2125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08-Jan-17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1016000" y="4419601"/>
            <a:ext cx="10363200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 cap="all">
                <a:solidFill>
                  <a:srgbClr val="00499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9pPr>
          </a:lstStyle>
          <a:p>
            <a:r>
              <a:rPr lang="en-US" sz="4000" kern="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15885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08-Jan-17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941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08-Jan-17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0449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08-Jan-17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5817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08-Jan-17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0795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08-Jan-17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9003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27200" y="1600201"/>
            <a:ext cx="98552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13"/>
          <p:cNvSpPr>
            <a:spLocks noGrp="1"/>
          </p:cNvSpPr>
          <p:nvPr>
            <p:ph type="ftr" sz="quarter" idx="10"/>
            <p:custDataLst>
              <p:tags r:id="rId1"/>
            </p:custDataLst>
          </p:nvPr>
        </p:nvSpPr>
        <p:spPr>
          <a:xfrm>
            <a:off x="2336800" y="6324601"/>
            <a:ext cx="640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12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8636000" y="6400801"/>
            <a:ext cx="2844800" cy="365125"/>
          </a:xfrm>
          <a:prstGeom prst="rect">
            <a:avLst/>
          </a:prstGeom>
        </p:spPr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898989"/>
                </a:solidFill>
              </a:defRPr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5728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47801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0386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08-Jan-17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pic>
        <p:nvPicPr>
          <p:cNvPr id="6" name="Picture 5" descr="CNM logo_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8800" y="1"/>
            <a:ext cx="3403600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64228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08-Jan-17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4052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Che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ü"/>
              <a:defRPr/>
            </a:lvl1pPr>
            <a:lvl2pPr marL="742950" indent="-285750">
              <a:buFont typeface="Wingdings" panose="05000000000000000000" pitchFamily="2" charset="2"/>
              <a:buChar char="ü"/>
              <a:defRPr/>
            </a:lvl2pPr>
            <a:lvl3pPr marL="1143000" indent="-228600">
              <a:buFont typeface="Wingdings" panose="05000000000000000000" pitchFamily="2" charset="2"/>
              <a:buChar char="ü"/>
              <a:defRPr/>
            </a:lvl3pPr>
            <a:lvl4pPr marL="1600200" indent="-228600">
              <a:buFont typeface="Wingdings" panose="05000000000000000000" pitchFamily="2" charset="2"/>
              <a:buChar char="ü"/>
              <a:defRPr/>
            </a:lvl4pPr>
            <a:lvl5pPr marL="2057400" indent="-228600">
              <a:buFont typeface="Wingdings" panose="05000000000000000000" pitchFamily="2" charset="2"/>
              <a:buChar char="ü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08-Jan-17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09600" y="471948"/>
            <a:ext cx="10972800" cy="1128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lvl="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+mj-lt"/>
                <a:ea typeface="+mj-ea"/>
                <a:cs typeface="+mj-cs"/>
              </a:defRPr>
            </a:lvl1pPr>
            <a:lvl2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2pPr>
            <a:lvl3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3pPr>
            <a:lvl4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4pPr>
            <a:lvl5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9pPr>
          </a:lstStyle>
          <a:p>
            <a:pPr lvl="0"/>
            <a:r>
              <a:rPr lang="en-US" dirty="0"/>
              <a:t>Quality Check Items</a:t>
            </a:r>
          </a:p>
        </p:txBody>
      </p:sp>
    </p:spTree>
    <p:extLst>
      <p:ext uri="{BB962C8B-B14F-4D97-AF65-F5344CB8AC3E}">
        <p14:creationId xmlns:p14="http://schemas.microsoft.com/office/powerpoint/2010/main" val="20709015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08-Jan-17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1611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08-Jan-17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1971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08-Jan-17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7310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08-Jan-17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6507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08-Jan-17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476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08-Jan-17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  <p:sp>
        <p:nvSpPr>
          <p:cNvPr id="5" name="Slide Number Placeholder 1"/>
          <p:cNvSpPr txBox="1">
            <a:spLocks/>
          </p:cNvSpPr>
          <p:nvPr/>
        </p:nvSpPr>
        <p:spPr>
          <a:xfrm>
            <a:off x="609600" y="5943601"/>
            <a:ext cx="10972800" cy="777875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eaLnBrk="1" hangingPunct="1"/>
            <a:fld id="{BEC4B462-DC2D-47D4-8944-F81C2113999E}" type="slidenum">
              <a:rPr lang="en-US" sz="1800" smtClean="0"/>
              <a:pPr eaLnBrk="1" hangingPunct="1"/>
              <a:t>‹#›</a:t>
            </a:fld>
            <a:endParaRPr lang="en-US" sz="1800"/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304800" y="152401"/>
            <a:ext cx="5283200" cy="708025"/>
          </a:xfrm>
          <a:prstGeom prst="rect">
            <a:avLst/>
          </a:prstGeom>
          <a:solidFill>
            <a:schemeClr val="bg1">
              <a:alpha val="74901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ES" sz="4000" dirty="0"/>
              <a:t>Instructor </a:t>
            </a:r>
            <a:r>
              <a:rPr lang="es-ES" sz="4000" dirty="0" err="1"/>
              <a:t>Name</a:t>
            </a:r>
            <a:r>
              <a:rPr lang="es-ES" sz="4000" dirty="0"/>
              <a:t>:</a:t>
            </a:r>
          </a:p>
        </p:txBody>
      </p:sp>
      <p:sp>
        <p:nvSpPr>
          <p:cNvPr id="8" name="TextBox 3"/>
          <p:cNvSpPr txBox="1">
            <a:spLocks noChangeArrowheads="1"/>
          </p:cNvSpPr>
          <p:nvPr/>
        </p:nvSpPr>
        <p:spPr bwMode="auto">
          <a:xfrm>
            <a:off x="285752" y="873126"/>
            <a:ext cx="4692649" cy="1323975"/>
          </a:xfrm>
          <a:prstGeom prst="rect">
            <a:avLst/>
          </a:prstGeom>
          <a:solidFill>
            <a:schemeClr val="bg1">
              <a:alpha val="67058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4000" dirty="0"/>
              <a:t>Instructor ID #:</a:t>
            </a:r>
          </a:p>
          <a:p>
            <a:pPr eaLnBrk="1" hangingPunct="1"/>
            <a:r>
              <a:rPr lang="en-US" sz="4000" dirty="0"/>
              <a:t>Class ID #:  </a:t>
            </a:r>
            <a:endParaRPr lang="es-ES" sz="4000" dirty="0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048000" y="4038601"/>
            <a:ext cx="4267515" cy="1569660"/>
          </a:xfrm>
          <a:prstGeom prst="rect">
            <a:avLst/>
          </a:prstGeom>
          <a:solidFill>
            <a:schemeClr val="bg1">
              <a:lumMod val="95000"/>
              <a:alpha val="51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9600" b="1" dirty="0">
                <a:latin typeface="Edwardian Script ITC" pitchFamily="66" charset="0"/>
              </a:rPr>
              <a:t>Thank you!</a:t>
            </a:r>
            <a:endParaRPr lang="es-ES" sz="9600" b="1" dirty="0">
              <a:latin typeface="Edwardian Script ITC" pitchFamily="66" charset="0"/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5588000" y="3048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5080000" y="9906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3860800" y="16002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576231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08-Jan-17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1016000" y="4419601"/>
            <a:ext cx="10363200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 cap="all">
                <a:solidFill>
                  <a:srgbClr val="00499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9pPr>
          </a:lstStyle>
          <a:p>
            <a:r>
              <a:rPr lang="en-US" sz="4000" kern="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4164910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08-Jan-17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9316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08-Jan-17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47841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08-Jan-17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1252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08-Jan-17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22142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08-Jan-17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23632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27200" y="1600201"/>
            <a:ext cx="98552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13"/>
          <p:cNvSpPr>
            <a:spLocks noGrp="1"/>
          </p:cNvSpPr>
          <p:nvPr>
            <p:ph type="ftr" sz="quarter" idx="10"/>
            <p:custDataLst>
              <p:tags r:id="rId1"/>
            </p:custDataLst>
          </p:nvPr>
        </p:nvSpPr>
        <p:spPr>
          <a:xfrm>
            <a:off x="2336800" y="6324601"/>
            <a:ext cx="640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12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8636000" y="6400801"/>
            <a:ext cx="2844800" cy="365125"/>
          </a:xfrm>
          <a:prstGeom prst="rect">
            <a:avLst/>
          </a:prstGeom>
        </p:spPr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898989"/>
                </a:solidFill>
              </a:defRPr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79310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47803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0386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08-Jan-17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pic>
        <p:nvPicPr>
          <p:cNvPr id="6" name="Picture 5" descr="CNM logo_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8800" y="3"/>
            <a:ext cx="3403600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079860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08-Jan-17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25304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Che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257175" indent="-257175">
              <a:buFont typeface="Wingdings" panose="05000000000000000000" pitchFamily="2" charset="2"/>
              <a:buChar char="ü"/>
              <a:defRPr/>
            </a:lvl1pPr>
            <a:lvl2pPr marL="557213" indent="-214313">
              <a:buFont typeface="Wingdings" panose="05000000000000000000" pitchFamily="2" charset="2"/>
              <a:buChar char="ü"/>
              <a:defRPr/>
            </a:lvl2pPr>
            <a:lvl3pPr marL="857250" indent="-171450">
              <a:buFont typeface="Wingdings" panose="05000000000000000000" pitchFamily="2" charset="2"/>
              <a:buChar char="ü"/>
              <a:defRPr/>
            </a:lvl3pPr>
            <a:lvl4pPr marL="1200150" indent="-171450">
              <a:buFont typeface="Wingdings" panose="05000000000000000000" pitchFamily="2" charset="2"/>
              <a:buChar char="ü"/>
              <a:defRPr/>
            </a:lvl4pPr>
            <a:lvl5pPr marL="1543050" indent="-171450">
              <a:buFont typeface="Wingdings" panose="05000000000000000000" pitchFamily="2" charset="2"/>
              <a:buChar char="ü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08-Jan-17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09600" y="471948"/>
            <a:ext cx="10972800" cy="1128250"/>
          </a:xfrm>
          <a:prstGeom prst="rect">
            <a:avLst/>
          </a:prstGeom>
          <a:noFill/>
          <a:ln>
            <a:noFill/>
          </a:ln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lvl="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+mj-lt"/>
                <a:ea typeface="+mj-ea"/>
                <a:cs typeface="+mj-cs"/>
              </a:defRPr>
            </a:lvl1pPr>
            <a:lvl2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2pPr>
            <a:lvl3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3pPr>
            <a:lvl4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4pPr>
            <a:lvl5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9pPr>
          </a:lstStyle>
          <a:p>
            <a:pPr lvl="0"/>
            <a:r>
              <a:rPr lang="en-US" sz="3300" dirty="0"/>
              <a:t>Quality Check Items</a:t>
            </a:r>
          </a:p>
        </p:txBody>
      </p:sp>
    </p:spTree>
    <p:extLst>
      <p:ext uri="{BB962C8B-B14F-4D97-AF65-F5344CB8AC3E}">
        <p14:creationId xmlns:p14="http://schemas.microsoft.com/office/powerpoint/2010/main" val="376252308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08-Jan-17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24879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08-Jan-17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94257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08-Jan-17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31904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08-Jan-17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10399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08-Jan-17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49707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08-Jan-17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  <p:sp>
        <p:nvSpPr>
          <p:cNvPr id="5" name="Slide Number Placeholder 1"/>
          <p:cNvSpPr txBox="1">
            <a:spLocks/>
          </p:cNvSpPr>
          <p:nvPr/>
        </p:nvSpPr>
        <p:spPr>
          <a:xfrm>
            <a:off x="609600" y="5943603"/>
            <a:ext cx="10972800" cy="777875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eaLnBrk="1" hangingPunct="1"/>
            <a:fld id="{BEC4B462-DC2D-47D4-8944-F81C2113999E}" type="slidenum">
              <a:rPr lang="en-US" sz="1350" smtClean="0"/>
              <a:pPr eaLnBrk="1" hangingPunct="1"/>
              <a:t>‹#›</a:t>
            </a:fld>
            <a:endParaRPr lang="en-US" sz="1350"/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304800" y="152401"/>
            <a:ext cx="5283200" cy="553998"/>
          </a:xfrm>
          <a:prstGeom prst="rect">
            <a:avLst/>
          </a:prstGeom>
          <a:solidFill>
            <a:schemeClr val="bg1">
              <a:alpha val="74901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ES" sz="3000" dirty="0"/>
              <a:t>Instructor </a:t>
            </a:r>
            <a:r>
              <a:rPr lang="es-ES" sz="3000" dirty="0" err="1"/>
              <a:t>Name</a:t>
            </a:r>
            <a:r>
              <a:rPr lang="es-ES" sz="3000" dirty="0"/>
              <a:t>:</a:t>
            </a:r>
          </a:p>
        </p:txBody>
      </p:sp>
      <p:sp>
        <p:nvSpPr>
          <p:cNvPr id="8" name="TextBox 3"/>
          <p:cNvSpPr txBox="1">
            <a:spLocks noChangeArrowheads="1"/>
          </p:cNvSpPr>
          <p:nvPr/>
        </p:nvSpPr>
        <p:spPr bwMode="auto">
          <a:xfrm>
            <a:off x="285753" y="873128"/>
            <a:ext cx="4692649" cy="1015663"/>
          </a:xfrm>
          <a:prstGeom prst="rect">
            <a:avLst/>
          </a:prstGeom>
          <a:solidFill>
            <a:schemeClr val="bg1">
              <a:alpha val="67058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3000" dirty="0"/>
              <a:t>Instructor ID #:</a:t>
            </a:r>
          </a:p>
          <a:p>
            <a:pPr eaLnBrk="1" hangingPunct="1"/>
            <a:r>
              <a:rPr lang="en-US" sz="3000" dirty="0"/>
              <a:t>Class ID #:  </a:t>
            </a:r>
            <a:endParaRPr lang="es-ES" sz="3000" dirty="0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048000" y="4038603"/>
            <a:ext cx="3249608" cy="1200329"/>
          </a:xfrm>
          <a:prstGeom prst="rect">
            <a:avLst/>
          </a:prstGeom>
          <a:solidFill>
            <a:schemeClr val="bg1">
              <a:lumMod val="95000"/>
              <a:alpha val="51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7200" b="1" dirty="0">
                <a:latin typeface="Edwardian Script ITC" pitchFamily="66" charset="0"/>
              </a:rPr>
              <a:t>Thank you!</a:t>
            </a:r>
            <a:endParaRPr lang="es-ES" sz="7200" b="1" dirty="0">
              <a:latin typeface="Edwardian Script ITC" pitchFamily="66" charset="0"/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5588000" y="3048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5080000" y="9906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3860800" y="16002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018852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08-Jan-17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1016000" y="4419603"/>
            <a:ext cx="10363200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 cap="all">
                <a:solidFill>
                  <a:srgbClr val="00499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9pPr>
          </a:lstStyle>
          <a:p>
            <a:r>
              <a:rPr lang="en-US" sz="3000" kern="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48686796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08-Jan-17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0724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08-Jan-17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18084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08-Jan-17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61500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08-Jan-17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98600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08-Jan-17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88108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27200" y="1600203"/>
            <a:ext cx="98552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13"/>
          <p:cNvSpPr>
            <a:spLocks noGrp="1"/>
          </p:cNvSpPr>
          <p:nvPr>
            <p:ph type="ftr" sz="quarter" idx="10"/>
            <p:custDataLst>
              <p:tags r:id="rId1"/>
            </p:custDataLst>
          </p:nvPr>
        </p:nvSpPr>
        <p:spPr>
          <a:xfrm>
            <a:off x="2336800" y="6324603"/>
            <a:ext cx="640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12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8636000" y="6400803"/>
            <a:ext cx="2844800" cy="365125"/>
          </a:xfrm>
          <a:prstGeom prst="rect">
            <a:avLst/>
          </a:prstGeom>
        </p:spPr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898989"/>
                </a:solidFill>
              </a:defRPr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97843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ocr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</p:spPr>
        <p:txBody>
          <a:bodyPr/>
          <a:lstStyle/>
          <a:p>
            <a:pPr>
              <a:defRPr/>
            </a:pPr>
            <a:fld id="{B98D8915-25D4-4658-BC43-48DE2220323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09600" y="1600205"/>
            <a:ext cx="10972800" cy="4530725"/>
          </a:xfrm>
        </p:spPr>
        <p:txBody>
          <a:bodyPr/>
          <a:lstStyle>
            <a:lvl1pPr marL="0" indent="0">
              <a:buFont typeface="+mj-lt"/>
              <a:buNone/>
              <a:defRPr/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  <a:p>
            <a:pPr marL="0" lvl="1" indent="0">
              <a:buNone/>
            </a:pPr>
            <a:r>
              <a:rPr lang="en-US"/>
              <a:t>Second level</a:t>
            </a:r>
          </a:p>
          <a:p>
            <a:pPr marL="0" lvl="2" indent="0">
              <a:buNone/>
            </a:pPr>
            <a:r>
              <a:rPr lang="en-US"/>
              <a:t>Third level</a:t>
            </a:r>
          </a:p>
          <a:p>
            <a:pPr marL="0" lvl="3" indent="0">
              <a:buNone/>
            </a:pPr>
            <a:r>
              <a:rPr lang="en-US"/>
              <a:t>Fourth 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43789" y="627745"/>
            <a:ext cx="7588075" cy="26545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US" sz="1125" dirty="0"/>
              <a:t>Go to </a:t>
            </a:r>
            <a:r>
              <a:rPr lang="en-US" sz="1125" dirty="0">
                <a:hlinkClick r:id="rId2"/>
              </a:rPr>
              <a:t>www.socrative.com</a:t>
            </a:r>
            <a:r>
              <a:rPr lang="en-US" sz="1125" dirty="0"/>
              <a:t> and log into &lt;instructor</a:t>
            </a:r>
            <a:r>
              <a:rPr lang="en-US" sz="1125" baseline="0" dirty="0"/>
              <a:t> account name&gt;</a:t>
            </a:r>
            <a:endParaRPr lang="en-US" sz="1125" dirty="0"/>
          </a:p>
        </p:txBody>
      </p:sp>
      <p:pic>
        <p:nvPicPr>
          <p:cNvPr id="1026" name="Picture 2" descr="https://socrative-production-static-web.s3.amazonaws.com/img/logo_new.jp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133" y="412103"/>
            <a:ext cx="2922411" cy="7767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</p:spTree>
    <p:extLst>
      <p:ext uri="{BB962C8B-B14F-4D97-AF65-F5344CB8AC3E}">
        <p14:creationId xmlns:p14="http://schemas.microsoft.com/office/powerpoint/2010/main" val="85320654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05005"/>
            <a:ext cx="10058400" cy="2593975"/>
          </a:xfrm>
        </p:spPr>
        <p:txBody>
          <a:bodyPr anchor="b"/>
          <a:lstStyle>
            <a:lvl1pPr>
              <a:defRPr sz="44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572000"/>
            <a:ext cx="8615680" cy="10668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none"/>
        </p:style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45917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>
            <a:normAutofit/>
          </a:bodyPr>
          <a:lstStyle>
            <a:lvl1pPr>
              <a:defRPr sz="3200"/>
            </a:lvl1pPr>
            <a:lvl2pPr>
              <a:defRPr sz="32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36440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7" y="5486400"/>
            <a:ext cx="10212916" cy="1168400"/>
          </a:xfrm>
        </p:spPr>
        <p:txBody>
          <a:bodyPr anchor="t"/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7" y="3852863"/>
            <a:ext cx="8180916" cy="1633538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none"/>
        </p:style>
        <p:txBody>
          <a:bodyPr anchor="b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6567064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36192"/>
            <a:ext cx="5364480" cy="4590288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1800"/>
            </a:lvl4pPr>
            <a:lvl5pPr>
              <a:defRPr sz="1800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524000"/>
            <a:ext cx="5364480" cy="4590288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1800"/>
            </a:lvl4pPr>
            <a:lvl5pPr>
              <a:defRPr sz="1800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45625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70038"/>
            <a:ext cx="5364480" cy="639762"/>
          </a:xfrm>
          <a:noFill/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209800"/>
            <a:ext cx="5364480" cy="3951288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7600" y="1570038"/>
            <a:ext cx="5364480" cy="639762"/>
          </a:xfrm>
          <a:noFill/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2209800"/>
            <a:ext cx="5364480" cy="3951288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8291720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6258819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510206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1" y="5495544"/>
            <a:ext cx="11379200" cy="594360"/>
          </a:xfrm>
        </p:spPr>
        <p:txBody>
          <a:bodyPr anchor="b"/>
          <a:lstStyle>
            <a:lvl1pPr algn="ctr">
              <a:defRPr sz="1238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6402" y="6096000"/>
            <a:ext cx="11379201" cy="609600"/>
          </a:xfr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06400" y="381000"/>
            <a:ext cx="11379200" cy="4942840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5257812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10363200" cy="1981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4114800"/>
            <a:ext cx="10363200" cy="1981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 rot="16200000">
            <a:off x="10474870" y="1584960"/>
            <a:ext cx="2438399" cy="487680"/>
          </a:xfrm>
          <a:prstGeom prst="rect">
            <a:avLst/>
          </a:prstGeom>
        </p:spPr>
        <p:txBody>
          <a:bodyPr/>
          <a:lstStyle/>
          <a:p>
            <a:fld id="{6F8B1E7F-8A42-40E4-9CF3-CF643FA4249D}" type="datetimeFigureOut">
              <a:rPr lang="en-US" smtClean="0"/>
              <a:t>08-Jan-17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 rot="16200000">
            <a:off x="10510429" y="3987800"/>
            <a:ext cx="2367281" cy="48768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</p:spPr>
        <p:txBody>
          <a:bodyPr/>
          <a:lstStyle/>
          <a:p>
            <a:fld id="{01E7E831-D999-4C39-9960-F100EE735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98634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cr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</p:spPr>
        <p:txBody>
          <a:bodyPr/>
          <a:lstStyle/>
          <a:p>
            <a:pPr>
              <a:defRPr/>
            </a:pPr>
            <a:fld id="{B98D8915-25D4-4658-BC43-48DE2220323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09600" y="1600205"/>
            <a:ext cx="10972800" cy="4530725"/>
          </a:xfrm>
        </p:spPr>
        <p:txBody>
          <a:bodyPr/>
          <a:lstStyle>
            <a:lvl1pPr marL="0" indent="0">
              <a:buFont typeface="+mj-lt"/>
              <a:buNone/>
              <a:defRPr/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  <a:p>
            <a:pPr marL="0" lvl="1" indent="0">
              <a:buNone/>
            </a:pPr>
            <a:r>
              <a:rPr lang="en-US"/>
              <a:t>Second level</a:t>
            </a:r>
          </a:p>
          <a:p>
            <a:pPr marL="0" lvl="2" indent="0">
              <a:buNone/>
            </a:pPr>
            <a:r>
              <a:rPr lang="en-US"/>
              <a:t>Third level</a:t>
            </a:r>
          </a:p>
          <a:p>
            <a:pPr marL="0" lvl="3" indent="0">
              <a:buNone/>
            </a:pPr>
            <a:r>
              <a:rPr lang="en-US"/>
              <a:t>Fourth 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43789" y="627745"/>
            <a:ext cx="7588075" cy="40011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US" sz="2000" dirty="0"/>
              <a:t>Go to </a:t>
            </a:r>
            <a:r>
              <a:rPr lang="en-US" sz="2000" dirty="0">
                <a:hlinkClick r:id="rId2"/>
              </a:rPr>
              <a:t>www.socrative.com</a:t>
            </a:r>
            <a:r>
              <a:rPr lang="en-US" sz="2000" dirty="0"/>
              <a:t> and log into &lt;instructor</a:t>
            </a:r>
            <a:r>
              <a:rPr lang="en-US" sz="2000" baseline="0" dirty="0"/>
              <a:t> account name&gt;</a:t>
            </a:r>
            <a:endParaRPr lang="en-US" sz="2000" dirty="0"/>
          </a:p>
        </p:txBody>
      </p:sp>
      <p:pic>
        <p:nvPicPr>
          <p:cNvPr id="1026" name="Picture 2" descr="https://socrative-production-static-web.s3.amazonaws.com/img/logo_new.jp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133" y="412103"/>
            <a:ext cx="2922411" cy="7767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</p:spTree>
    <p:extLst>
      <p:ext uri="{BB962C8B-B14F-4D97-AF65-F5344CB8AC3E}">
        <p14:creationId xmlns:p14="http://schemas.microsoft.com/office/powerpoint/2010/main" val="2856200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44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1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image" Target="../media/image5.png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Picture 2" descr="stemulus_cnm_logos.jpg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5833242"/>
            <a:ext cx="10961801" cy="851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310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9pPr>
    </p:titleStyle>
    <p:bodyStyle>
      <a:lvl1pPr marL="342900" indent="-342900" algn="l" rtl="0" eaLnBrk="1" fontAlgn="base" hangingPunct="1">
        <a:spcBef>
          <a:spcPts val="0"/>
        </a:spcBef>
        <a:spcAft>
          <a:spcPts val="1200"/>
        </a:spcAft>
        <a:buFont typeface="Webdings" pitchFamily="18" charset="2"/>
        <a:buChar char="4"/>
        <a:defRPr sz="3200">
          <a:solidFill>
            <a:srgbClr val="004990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ts val="0"/>
        </a:spcBef>
        <a:spcAft>
          <a:spcPts val="1200"/>
        </a:spcAft>
        <a:buChar char="–"/>
        <a:defRPr sz="2800">
          <a:solidFill>
            <a:srgbClr val="004990"/>
          </a:solidFill>
          <a:latin typeface="Arial" charset="0"/>
        </a:defRPr>
      </a:lvl2pPr>
      <a:lvl3pPr marL="1143000" indent="-228600" algn="l" rtl="0" eaLnBrk="1" fontAlgn="base" hangingPunct="1">
        <a:spcBef>
          <a:spcPts val="0"/>
        </a:spcBef>
        <a:spcAft>
          <a:spcPts val="1200"/>
        </a:spcAft>
        <a:buChar char="•"/>
        <a:defRPr sz="2400">
          <a:solidFill>
            <a:srgbClr val="004990"/>
          </a:solidFill>
          <a:latin typeface="Arial" charset="0"/>
        </a:defRPr>
      </a:lvl3pPr>
      <a:lvl4pPr marL="1600200" indent="-228600" algn="l" rtl="0" eaLnBrk="1" fontAlgn="base" hangingPunct="1">
        <a:spcBef>
          <a:spcPts val="0"/>
        </a:spcBef>
        <a:spcAft>
          <a:spcPts val="1200"/>
        </a:spcAft>
        <a:buChar char="–"/>
        <a:defRPr sz="2000">
          <a:solidFill>
            <a:srgbClr val="004990"/>
          </a:solidFill>
          <a:latin typeface="Arial Narrow" pitchFamily="34" charset="0"/>
        </a:defRPr>
      </a:lvl4pPr>
      <a:lvl5pPr marL="2057400" indent="-228600" algn="l" rtl="0" eaLnBrk="1" fontAlgn="base" hangingPunct="1">
        <a:spcBef>
          <a:spcPts val="0"/>
        </a:spcBef>
        <a:spcAft>
          <a:spcPts val="1200"/>
        </a:spcAft>
        <a:buChar char="»"/>
        <a:defRPr sz="2000">
          <a:solidFill>
            <a:srgbClr val="004990"/>
          </a:solidFill>
          <a:latin typeface="Arial Narrow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4990"/>
          </a:solidFill>
          <a:latin typeface="Arial Narrow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4990"/>
          </a:solidFill>
          <a:latin typeface="Arial Narrow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4990"/>
          </a:solidFill>
          <a:latin typeface="Arial Narrow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4990"/>
          </a:solidFill>
          <a:latin typeface="Arial Narrow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199"/>
            <a:ext cx="10972800" cy="449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09600" y="6211956"/>
            <a:ext cx="10972800" cy="455827"/>
          </a:xfrm>
          <a:prstGeom prst="rect">
            <a:avLst/>
          </a:prstGeom>
          <a:solidFill>
            <a:srgbClr val="3E3E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Slides based on material from:</a:t>
            </a:r>
            <a:r>
              <a:rPr lang="en-US" sz="1400" baseline="0" dirty="0"/>
              <a:t> </a:t>
            </a:r>
            <a:r>
              <a:rPr lang="en-US" sz="1400" u="sng" dirty="0"/>
              <a:t>Professional C# 5.0 and .NET 4.5.1.</a:t>
            </a:r>
            <a:r>
              <a:rPr lang="en-US" sz="1400" u="none" dirty="0"/>
              <a:t> Nagel,</a:t>
            </a:r>
            <a:r>
              <a:rPr lang="en-US" sz="1400" dirty="0"/>
              <a:t> Christian; Glynn, Jay; Skinner, Morgan (2014-02-19). Wiley. </a:t>
            </a:r>
          </a:p>
        </p:txBody>
      </p:sp>
    </p:spTree>
    <p:extLst>
      <p:ext uri="{BB962C8B-B14F-4D97-AF65-F5344CB8AC3E}">
        <p14:creationId xmlns:p14="http://schemas.microsoft.com/office/powerpoint/2010/main" val="2230036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Webdings" pitchFamily="18" charset="2"/>
        <a:buChar char="4"/>
        <a:defRPr sz="3200">
          <a:solidFill>
            <a:srgbClr val="004990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rgbClr val="004990"/>
          </a:solidFill>
          <a:latin typeface="Arial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rgbClr val="004990"/>
          </a:solidFill>
          <a:latin typeface="Arial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rgbClr val="004990"/>
          </a:solidFill>
          <a:latin typeface="Arial Narrow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4990"/>
          </a:solidFill>
          <a:latin typeface="Arial Narrow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4990"/>
          </a:solidFill>
          <a:latin typeface="Arial Narrow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4990"/>
          </a:solidFill>
          <a:latin typeface="Arial Narrow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4990"/>
          </a:solidFill>
          <a:latin typeface="Arial Narrow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4990"/>
          </a:solidFill>
          <a:latin typeface="Arial Narrow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49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09600" y="6211958"/>
            <a:ext cx="10972800" cy="455827"/>
          </a:xfrm>
          <a:prstGeom prst="rect">
            <a:avLst/>
          </a:prstGeom>
          <a:solidFill>
            <a:srgbClr val="3E3E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Slides based on material from:</a:t>
            </a:r>
            <a:r>
              <a:rPr lang="en-US" sz="1050" baseline="0" dirty="0"/>
              <a:t> </a:t>
            </a:r>
            <a:r>
              <a:rPr lang="en-US" sz="1050" u="sng" dirty="0"/>
              <a:t>Professional C# 5.0 and .NET 4.5.1.</a:t>
            </a:r>
            <a:r>
              <a:rPr lang="en-US" sz="1050" u="none" dirty="0"/>
              <a:t> Nagel,</a:t>
            </a:r>
            <a:r>
              <a:rPr lang="en-US" sz="1050" dirty="0"/>
              <a:t> Christian; Glynn, Jay; Skinner, Morgan (2014-02-19). Wiley. </a:t>
            </a:r>
          </a:p>
        </p:txBody>
      </p:sp>
    </p:spTree>
    <p:extLst>
      <p:ext uri="{BB962C8B-B14F-4D97-AF65-F5344CB8AC3E}">
        <p14:creationId xmlns:p14="http://schemas.microsoft.com/office/powerpoint/2010/main" val="3702672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Font typeface="Webdings" pitchFamily="18" charset="2"/>
        <a:buChar char="4"/>
        <a:defRPr sz="2400">
          <a:solidFill>
            <a:srgbClr val="004990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sz="2100">
          <a:solidFill>
            <a:srgbClr val="004990"/>
          </a:solidFill>
          <a:latin typeface="Arial" charset="0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rgbClr val="004990"/>
          </a:solidFill>
          <a:latin typeface="Arial" charset="0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sz="1500">
          <a:solidFill>
            <a:srgbClr val="004990"/>
          </a:solidFill>
          <a:latin typeface="Arial Narrow" pitchFamily="34" charset="0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 l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76400"/>
            <a:ext cx="10972800" cy="48006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75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</p:sldLayoutIdLst>
  <p:txStyles>
    <p:titleStyle>
      <a:lvl1pPr algn="l" defTabSz="514350" rtl="0" eaLnBrk="1" latinLnBrk="0" hangingPunct="1">
        <a:spcBef>
          <a:spcPct val="0"/>
        </a:spcBef>
        <a:buNone/>
        <a:defRPr sz="4000" kern="1200" cap="none" spc="-56" baseline="0">
          <a:ln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</p:titleStyle>
    <p:bodyStyle>
      <a:lvl1pPr marL="192881" indent="-128588" algn="l" defTabSz="514350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indent="-128588" algn="l" defTabSz="514350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565785" indent="-128588" algn="l" defTabSz="514350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indent="-128588" algn="l" defTabSz="514350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874395" indent="-128588" algn="l" defTabSz="514350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977265" indent="-102870" algn="l" defTabSz="51435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788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080135" indent="-102870" algn="l" defTabSz="51435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7pPr>
      <a:lvl8pPr marL="1183005" indent="-102870" algn="l" defTabSz="51435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8pPr>
      <a:lvl9pPr marL="1285875" indent="-102870" algn="l" defTabSz="51435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Custom Exceptions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677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Throwing Exceptions</a:t>
            </a:r>
          </a:p>
          <a:p>
            <a:r>
              <a:rPr lang="en-US" dirty="0"/>
              <a:t>User-Defined Exception Classes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768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Catching Exceptions from Other Code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to throw exceptions.</a:t>
            </a:r>
          </a:p>
          <a:p>
            <a:r>
              <a:rPr lang="en-US" dirty="0"/>
              <a:t>Explain where to place exception handling code.</a:t>
            </a:r>
          </a:p>
        </p:txBody>
      </p:sp>
    </p:spTree>
    <p:extLst>
      <p:ext uri="{BB962C8B-B14F-4D97-AF65-F5344CB8AC3E}">
        <p14:creationId xmlns:p14="http://schemas.microsoft.com/office/powerpoint/2010/main" val="2430955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Throwing Exceptions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Use the throw keyword to throw an exception.</a:t>
            </a:r>
          </a:p>
          <a:p>
            <a:r>
              <a:rPr lang="en-US" dirty="0"/>
              <a:t>C# will halt execution of the current method, generate the exception you specify and transfer execution back to the method that called the current method.</a:t>
            </a:r>
          </a:p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834804" y="4398764"/>
            <a:ext cx="45223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throw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Exception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87494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to Place Exception Code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Typically catch blocks are written in the class that is presenting information to the user.</a:t>
            </a:r>
          </a:p>
          <a:p>
            <a:r>
              <a:rPr lang="en-US" dirty="0"/>
              <a:t>Library class may throw exceptions but the classes that call the library functions and that display data to the user are the correct place to place catch blocks!</a:t>
            </a:r>
          </a:p>
          <a:p>
            <a:r>
              <a:rPr lang="en-US" dirty="0"/>
              <a:t>This is typically Main in a console program or the Graphical User Interface class in a GUI application.</a:t>
            </a:r>
          </a:p>
        </p:txBody>
      </p:sp>
    </p:spTree>
    <p:extLst>
      <p:ext uri="{BB962C8B-B14F-4D97-AF65-F5344CB8AC3E}">
        <p14:creationId xmlns:p14="http://schemas.microsoft.com/office/powerpoint/2010/main" val="1180817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User-Defined Exception Classes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to create and throw User-Defined Exception Classes.</a:t>
            </a:r>
          </a:p>
        </p:txBody>
      </p:sp>
    </p:spTree>
    <p:extLst>
      <p:ext uri="{BB962C8B-B14F-4D97-AF65-F5344CB8AC3E}">
        <p14:creationId xmlns:p14="http://schemas.microsoft.com/office/powerpoint/2010/main" val="1319900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a User-Defined Exception Class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Write a class that inherits from an existing Exception class (Usually the base Exception class).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You must define your own constructors. All other properties and methods will be inherited from the base Exception class.</a:t>
            </a:r>
          </a:p>
          <a:p>
            <a:r>
              <a:rPr lang="en-US" dirty="0"/>
              <a:t>You can then use it just like any other Exception.</a:t>
            </a:r>
          </a:p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83474" y="2595020"/>
            <a:ext cx="10998926" cy="1823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marR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SSNFormatException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 err="1">
                <a:solidFill>
                  <a:srgbClr val="2B91AF"/>
                </a:solidFill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Exception</a:t>
            </a:r>
            <a:endParaRPr lang="en-US" sz="2400" dirty="0"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2400" dirty="0"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SSNFormatException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base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A31515"/>
                </a:solidFill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"Not a valid Social </a:t>
            </a:r>
            <a:r>
              <a:rPr lang="en-US" dirty="0" err="1">
                <a:solidFill>
                  <a:srgbClr val="A31515"/>
                </a:solidFill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Social</a:t>
            </a:r>
            <a:r>
              <a:rPr lang="en-US" dirty="0">
                <a:solidFill>
                  <a:srgbClr val="A31515"/>
                </a:solidFill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Security Number."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dirty="0"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  <a:endParaRPr lang="en-US" sz="2400" dirty="0"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endParaRPr lang="en-US" sz="2400" dirty="0"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  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534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Demo/Walkthrough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Demonstrate how to </a:t>
            </a:r>
            <a:r>
              <a:rPr lang="en-US"/>
              <a:t>throw exceptions.</a:t>
            </a:r>
          </a:p>
          <a:p>
            <a:r>
              <a:rPr lang="en-US" dirty="0"/>
              <a:t>Demonstrate how to create a user-defined exception class.</a:t>
            </a:r>
          </a:p>
        </p:txBody>
      </p:sp>
    </p:spTree>
    <p:extLst>
      <p:ext uri="{BB962C8B-B14F-4D97-AF65-F5344CB8AC3E}">
        <p14:creationId xmlns:p14="http://schemas.microsoft.com/office/powerpoint/2010/main" val="2860981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Catching Exceptions from Other Code</a:t>
            </a:r>
          </a:p>
          <a:p>
            <a:r>
              <a:rPr lang="en-US" dirty="0"/>
              <a:t>User-Defined Exception Classes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7235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pzVjXQSP3txl9tStYhIb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R9RHz8homAIDNvLlc10p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pzVjXQSP3txl9tStYhIb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R9RHz8homAIDNvLlc10p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pzVjXQSP3txl9tStYhIb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R9RHz8homAIDNvLlc10pT"/>
</p:tagLst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theme/theme1.xml><?xml version="1.0" encoding="utf-8"?>
<a:theme xmlns:a="http://schemas.openxmlformats.org/drawingml/2006/main" name="STEMulusTheme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 Black"/>
        <a:ea typeface=""/>
        <a:cs typeface=""/>
      </a:majorFont>
      <a:minorFont>
        <a:latin typeface="Arial Unicode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 anchorCtr="1">
        <a:normAutofit fontScale="85000" lnSpcReduction="10000"/>
      </a:bodyPr>
      <a:lstStyle>
        <a:defPPr>
          <a:defRPr sz="6000" dirty="0"/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TEMulusTheme" id="{7D2F087C-814B-478C-8874-D946BB7E8194}" vid="{40A4879B-240E-4393-A31F-DCAD88D9BDF3}"/>
    </a:ext>
  </a:extLst>
</a:theme>
</file>

<file path=ppt/theme/theme2.xml><?xml version="1.0" encoding="utf-8"?>
<a:theme xmlns:a="http://schemas.openxmlformats.org/drawingml/2006/main" name="GenericTheme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 Black"/>
        <a:ea typeface=""/>
        <a:cs typeface=""/>
      </a:majorFont>
      <a:minorFont>
        <a:latin typeface="Arial Unicode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>
        <a:normAutofit fontScale="47500" lnSpcReduction="20000"/>
      </a:bodyPr>
      <a:lstStyle>
        <a:defPPr algn="ctr">
          <a:defRPr sz="2800" dirty="0" smtClean="0"/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GenericTheme" id="{05FD65AE-DB87-4839-B04A-C3F3B9C91C6E}" vid="{73340265-D181-4240-AB7E-F31EC520ECCF}"/>
    </a:ext>
  </a:extLst>
</a:theme>
</file>

<file path=ppt/theme/theme3.xml><?xml version="1.0" encoding="utf-8"?>
<a:theme xmlns:a="http://schemas.openxmlformats.org/drawingml/2006/main" name="FibTheme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 Black"/>
        <a:ea typeface=""/>
        <a:cs typeface=""/>
      </a:majorFont>
      <a:minorFont>
        <a:latin typeface="Arial Unicode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>
        <a:normAutofit fontScale="47500" lnSpcReduction="20000"/>
      </a:bodyPr>
      <a:lstStyle>
        <a:defPPr algn="ctr">
          <a:defRPr sz="2800" dirty="0" smtClean="0"/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ibTheme" id="{42310378-7C67-4D39-BE8C-4B5D7B7C9646}" vid="{D62DC210-79D2-435F-90C7-822FFC9D4BD4}"/>
    </a:ext>
  </a:extLst>
</a:theme>
</file>

<file path=ppt/theme/theme4.xml><?xml version="1.0" encoding="utf-8"?>
<a:theme xmlns:a="http://schemas.openxmlformats.org/drawingml/2006/main" name="1_Fib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2060"/>
      </a:accent1>
      <a:accent2>
        <a:srgbClr val="8496B0"/>
      </a:accent2>
      <a:accent3>
        <a:srgbClr val="8496B0"/>
      </a:accent3>
      <a:accent4>
        <a:srgbClr val="ADB9CA"/>
      </a:accent4>
      <a:accent5>
        <a:srgbClr val="D6DCE4"/>
      </a:accent5>
      <a:accent6>
        <a:srgbClr val="D6DCE4"/>
      </a:accent6>
      <a:hlink>
        <a:srgbClr val="0070C0"/>
      </a:hlink>
      <a:folHlink>
        <a:srgbClr val="7030A0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bTheme" id="{FB228B94-9174-4A84-8B9C-56843C22FF37}" vid="{498E3D67-B2F1-4125-9069-AEB53E6EAC14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STEMulusTheme</Template>
  <TotalTime>8848</TotalTime>
  <Words>293</Words>
  <Application>Microsoft Office PowerPoint</Application>
  <PresentationFormat>Widescreen</PresentationFormat>
  <Paragraphs>49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9</vt:i4>
      </vt:variant>
    </vt:vector>
  </HeadingPairs>
  <TitlesOfParts>
    <vt:vector size="25" baseType="lpstr">
      <vt:lpstr>Arial Unicode MS</vt:lpstr>
      <vt:lpstr>Arial</vt:lpstr>
      <vt:lpstr>Arial Black</vt:lpstr>
      <vt:lpstr>Arial Narrow</vt:lpstr>
      <vt:lpstr>Calibri</vt:lpstr>
      <vt:lpstr>Calibri Light</vt:lpstr>
      <vt:lpstr>Cambria</vt:lpstr>
      <vt:lpstr>Consolas</vt:lpstr>
      <vt:lpstr>Edwardian Script ITC</vt:lpstr>
      <vt:lpstr>Times New Roman</vt:lpstr>
      <vt:lpstr>Webdings</vt:lpstr>
      <vt:lpstr>Wingdings</vt:lpstr>
      <vt:lpstr>STEMulusTheme</vt:lpstr>
      <vt:lpstr>GenericTheme</vt:lpstr>
      <vt:lpstr>FibTheme</vt:lpstr>
      <vt:lpstr>1_FibTheme</vt:lpstr>
      <vt:lpstr>Custom Exceptions</vt:lpstr>
      <vt:lpstr>Overview</vt:lpstr>
      <vt:lpstr>Catching Exceptions from Other Code</vt:lpstr>
      <vt:lpstr>Throwing Exceptions</vt:lpstr>
      <vt:lpstr>Where to Place Exception Code</vt:lpstr>
      <vt:lpstr>User-Defined Exception Classes</vt:lpstr>
      <vt:lpstr>Defining a User-Defined Exception Class</vt:lpstr>
      <vt:lpstr>Demo/Walkthrough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Robert Garner</cp:lastModifiedBy>
  <cp:revision>286</cp:revision>
  <dcterms:created xsi:type="dcterms:W3CDTF">2015-05-10T23:35:32Z</dcterms:created>
  <dcterms:modified xsi:type="dcterms:W3CDTF">2017-01-08T22:23:08Z</dcterms:modified>
</cp:coreProperties>
</file>