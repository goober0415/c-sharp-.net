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6" r:id="rId2"/>
    <p:sldMasterId id="2147483693" r:id="rId3"/>
    <p:sldMasterId id="2147483711" r:id="rId4"/>
    <p:sldMasterId id="2147483722" r:id="rId5"/>
  </p:sldMasterIdLst>
  <p:notesMasterIdLst>
    <p:notesMasterId r:id="rId19"/>
  </p:notesMasterIdLst>
  <p:sldIdLst>
    <p:sldId id="256" r:id="rId6"/>
    <p:sldId id="257" r:id="rId7"/>
    <p:sldId id="261" r:id="rId8"/>
    <p:sldId id="292" r:id="rId9"/>
    <p:sldId id="294" r:id="rId10"/>
    <p:sldId id="301" r:id="rId11"/>
    <p:sldId id="298" r:id="rId12"/>
    <p:sldId id="300" r:id="rId13"/>
    <p:sldId id="302" r:id="rId14"/>
    <p:sldId id="293" r:id="rId15"/>
    <p:sldId id="299" r:id="rId16"/>
    <p:sldId id="295" r:id="rId17"/>
    <p:sldId id="2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7C28778-2760-4EAD-AB0A-B2A64705858C}">
          <p14:sldIdLst>
            <p14:sldId id="256"/>
            <p14:sldId id="257"/>
          </p14:sldIdLst>
        </p14:section>
        <p14:section name="Defining Interfaces" id="{219397B9-848D-499E-A519-FE4799393DBB}">
          <p14:sldIdLst>
            <p14:sldId id="261"/>
            <p14:sldId id="292"/>
            <p14:sldId id="294"/>
          </p14:sldIdLst>
        </p14:section>
        <p14:section name="Interface Inheritance" id="{024F193B-AD14-4A4E-80F6-9F3E2C0E9333}">
          <p14:sldIdLst>
            <p14:sldId id="301"/>
            <p14:sldId id="298"/>
            <p14:sldId id="300"/>
          </p14:sldIdLst>
        </p14:section>
        <p14:section name="Why do we nee Interfaces?" id="{A775D12F-0701-4305-8FB4-4FF78E9235E6}">
          <p14:sldIdLst>
            <p14:sldId id="302"/>
            <p14:sldId id="293"/>
            <p14:sldId id="299"/>
          </p14:sldIdLst>
        </p14:section>
        <p14:section name="Demo" id="{BB104875-7835-4F01-BCC6-F41368D5DC03}">
          <p14:sldIdLst>
            <p14:sldId id="295"/>
          </p14:sldIdLst>
        </p14:section>
        <p14:section name="Summary" id="{484AEAC6-781C-43D9-8449-DDEAC50CEC6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70" autoAdjust="0"/>
    <p:restoredTop sz="86909" autoAdjust="0"/>
  </p:normalViewPr>
  <p:slideViewPr>
    <p:cSldViewPr snapToGrid="0">
      <p:cViewPr varScale="1">
        <p:scale>
          <a:sx n="71" d="100"/>
          <a:sy n="71" d="100"/>
        </p:scale>
        <p:origin x="792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AEDA-69F3-4BD8-A62F-AB69D1B5AE71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2D35B-DA1B-4438-A15B-857732987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0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 that</a:t>
            </a:r>
            <a:r>
              <a:rPr lang="en-US" baseline="0" dirty="0"/>
              <a:t> you will show how to write interfaces latter.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32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00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0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1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61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5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5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4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04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6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2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1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800" smtClean="0"/>
              <a:pPr eaLnBrk="1" hangingPunct="1"/>
              <a:t>‹#›</a:t>
            </a:fld>
            <a:endParaRPr lang="en-US" sz="180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708025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4000" dirty="0"/>
              <a:t>Instructor </a:t>
            </a:r>
            <a:r>
              <a:rPr lang="es-ES" sz="4000" dirty="0" err="1"/>
              <a:t>Name</a:t>
            </a:r>
            <a:r>
              <a:rPr lang="es-ES" sz="4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2" y="873126"/>
            <a:ext cx="4692649" cy="1323975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4000" dirty="0"/>
              <a:t>Instructor ID #:</a:t>
            </a:r>
          </a:p>
          <a:p>
            <a:pPr eaLnBrk="1" hangingPunct="1"/>
            <a:r>
              <a:rPr lang="en-US" sz="4000" dirty="0"/>
              <a:t>Class ID #:  </a:t>
            </a:r>
            <a:endParaRPr lang="es-ES" sz="4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1"/>
            <a:ext cx="4267515" cy="156966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600" b="1" dirty="0">
                <a:latin typeface="Edwardian Script ITC" pitchFamily="66" charset="0"/>
              </a:rPr>
              <a:t>Thank you!</a:t>
            </a:r>
            <a:endParaRPr lang="es-ES" sz="96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2125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1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4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588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41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44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81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79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0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1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1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1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72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1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422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052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ü"/>
              <a:defRPr/>
            </a:lvl1pPr>
            <a:lvl2pPr marL="742950" indent="-285750">
              <a:buFont typeface="Wingdings" panose="05000000000000000000" pitchFamily="2" charset="2"/>
              <a:buChar char="ü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  <a:lvl4pPr marL="1600200" indent="-228600">
              <a:buFont typeface="Wingdings" panose="05000000000000000000" pitchFamily="2" charset="2"/>
              <a:buChar char="ü"/>
              <a:defRPr/>
            </a:lvl4pPr>
            <a:lvl5pPr marL="2057400" indent="-22860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20709015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611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971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310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507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476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1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800" smtClean="0"/>
              <a:pPr eaLnBrk="1" hangingPunct="1"/>
              <a:t>‹#›</a:t>
            </a:fld>
            <a:endParaRPr lang="en-US" sz="180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708025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4000" dirty="0"/>
              <a:t>Instructor </a:t>
            </a:r>
            <a:r>
              <a:rPr lang="es-ES" sz="4000" dirty="0" err="1"/>
              <a:t>Name</a:t>
            </a:r>
            <a:r>
              <a:rPr lang="es-ES" sz="4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2" y="873126"/>
            <a:ext cx="4692649" cy="1323975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4000" dirty="0"/>
              <a:t>Instructor ID #:</a:t>
            </a:r>
          </a:p>
          <a:p>
            <a:pPr eaLnBrk="1" hangingPunct="1"/>
            <a:r>
              <a:rPr lang="en-US" sz="4000" dirty="0"/>
              <a:t>Class ID #:  </a:t>
            </a:r>
            <a:endParaRPr lang="es-ES" sz="4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1"/>
            <a:ext cx="4267515" cy="156966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600" b="1" dirty="0">
                <a:latin typeface="Edwardian Script ITC" pitchFamily="66" charset="0"/>
              </a:rPr>
              <a:t>Thank you!</a:t>
            </a:r>
            <a:endParaRPr lang="es-ES" sz="96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76231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1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4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164910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316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784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25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214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363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1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1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1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931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3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3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09117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10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ü"/>
              <a:defRPr/>
            </a:lvl1pPr>
            <a:lvl2pPr marL="557213" indent="-214313">
              <a:buFont typeface="Wingdings" panose="05000000000000000000" pitchFamily="2" charset="2"/>
              <a:buChar char="ü"/>
              <a:defRPr/>
            </a:lvl2pPr>
            <a:lvl3pPr marL="857250" indent="-171450">
              <a:buFont typeface="Wingdings" panose="05000000000000000000" pitchFamily="2" charset="2"/>
              <a:buChar char="ü"/>
              <a:defRPr/>
            </a:lvl3pPr>
            <a:lvl4pPr marL="1200150" indent="-171450">
              <a:buFont typeface="Wingdings" panose="05000000000000000000" pitchFamily="2" charset="2"/>
              <a:buChar char="ü"/>
              <a:defRPr/>
            </a:lvl4pPr>
            <a:lvl5pPr marL="1543050" indent="-17145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3300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13780031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780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417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206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789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15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3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350" smtClean="0"/>
              <a:pPr eaLnBrk="1" hangingPunct="1"/>
              <a:t>‹#›</a:t>
            </a:fld>
            <a:endParaRPr lang="en-US" sz="135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553998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3000" dirty="0"/>
              <a:t>Instructor </a:t>
            </a:r>
            <a:r>
              <a:rPr lang="es-ES" sz="3000" dirty="0" err="1"/>
              <a:t>Name</a:t>
            </a:r>
            <a:r>
              <a:rPr lang="es-ES" sz="3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3" y="873128"/>
            <a:ext cx="4692649" cy="1015663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000" dirty="0"/>
              <a:t>Instructor ID #:</a:t>
            </a:r>
          </a:p>
          <a:p>
            <a:pPr eaLnBrk="1" hangingPunct="1"/>
            <a:r>
              <a:rPr lang="en-US" sz="3000" dirty="0"/>
              <a:t>Class ID #:  </a:t>
            </a:r>
            <a:endParaRPr lang="es-ES" sz="3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3249608" cy="1200329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200" b="1" dirty="0">
                <a:latin typeface="Edwardian Script ITC" pitchFamily="66" charset="0"/>
              </a:rPr>
              <a:t>Thank you!</a:t>
            </a:r>
            <a:endParaRPr lang="es-ES" sz="72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73920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3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3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592359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018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8999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993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078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219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3"/>
            <a:ext cx="98552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3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3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865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26545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1125" dirty="0"/>
              <a:t>Go to </a:t>
            </a:r>
            <a:r>
              <a:rPr lang="en-US" sz="1125" dirty="0">
                <a:hlinkClick r:id="rId2"/>
              </a:rPr>
              <a:t>www.socrative.com</a:t>
            </a:r>
            <a:r>
              <a:rPr lang="en-US" sz="1125" dirty="0"/>
              <a:t> and log into &lt;instructor</a:t>
            </a:r>
            <a:r>
              <a:rPr lang="en-US" sz="1125" baseline="0" dirty="0"/>
              <a:t> account name&gt;</a:t>
            </a:r>
            <a:endParaRPr lang="en-US" sz="1125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7013210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5"/>
            <a:ext cx="10058400" cy="2593975"/>
          </a:xfrm>
        </p:spPr>
        <p:txBody>
          <a:bodyPr anchor="b"/>
          <a:lstStyle>
            <a:lvl1pPr>
              <a:defRPr sz="44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02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76998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0"/>
            <a:ext cx="10212916" cy="1168400"/>
          </a:xfrm>
        </p:spPr>
        <p:txBody>
          <a:bodyPr anchor="t"/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3"/>
            <a:ext cx="8180916" cy="16335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b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62672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800"/>
            </a:lvl4pPr>
            <a:lvl5pPr>
              <a:defRPr sz="180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800"/>
            </a:lvl4pPr>
            <a:lvl5pPr>
              <a:defRPr sz="180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0070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398962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6066392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3925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1379200" cy="594360"/>
          </a:xfrm>
        </p:spPr>
        <p:txBody>
          <a:bodyPr anchor="b"/>
          <a:lstStyle>
            <a:lvl1pPr algn="ctr">
              <a:defRPr sz="1238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2" y="6096000"/>
            <a:ext cx="11379201" cy="609600"/>
          </a:xfr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1379200" cy="494284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46947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474870" y="1584960"/>
            <a:ext cx="2438399" cy="487680"/>
          </a:xfrm>
          <a:prstGeom prst="rect">
            <a:avLst/>
          </a:prstGeom>
        </p:spPr>
        <p:txBody>
          <a:bodyPr/>
          <a:lstStyle/>
          <a:p>
            <a:fld id="{6F8B1E7F-8A42-40E4-9CF3-CF643FA4249D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10510429" y="3987800"/>
            <a:ext cx="2367281" cy="4876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fld id="{01E7E831-D999-4C39-9960-F100EE735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6610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4001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2000" dirty="0"/>
              <a:t>Go to </a:t>
            </a:r>
            <a:r>
              <a:rPr lang="en-US" sz="2000" dirty="0">
                <a:hlinkClick r:id="rId2"/>
              </a:rPr>
              <a:t>www.socrative.com</a:t>
            </a:r>
            <a:r>
              <a:rPr lang="en-US" sz="2000" dirty="0"/>
              <a:t> and log into &lt;instructor</a:t>
            </a:r>
            <a:r>
              <a:rPr lang="en-US" sz="2000" baseline="0" dirty="0"/>
              <a:t> account name&gt;</a:t>
            </a:r>
            <a:endParaRPr lang="en-US" sz="2000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787346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9532" y="679269"/>
            <a:ext cx="10010594" cy="4168018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9532" y="4847287"/>
            <a:ext cx="10010594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2800" cap="all">
                <a:solidFill>
                  <a:srgbClr val="F3C38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49355F89-2AAD-4B2E-AFCA-E33F03CE3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74E7F4F6-9FEB-46ED-9004-66D88282DD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6E98B10A-4B1C-4D5D-8848-C32D0A625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32FAB481-7C2D-4A00-93C0-15E86CFC7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074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>
            <a:lvl1pPr>
              <a:buClr>
                <a:srgbClr val="F3C380"/>
              </a:buClr>
              <a:defRPr sz="3600">
                <a:solidFill>
                  <a:srgbClr val="F3C380"/>
                </a:solidFill>
              </a:defRPr>
            </a:lvl1pPr>
            <a:lvl2pPr>
              <a:buClr>
                <a:srgbClr val="F3C380"/>
              </a:buClr>
              <a:defRPr sz="3200">
                <a:solidFill>
                  <a:srgbClr val="F3C380"/>
                </a:solidFill>
              </a:defRPr>
            </a:lvl2pPr>
            <a:lvl3pPr>
              <a:buClr>
                <a:srgbClr val="F3C380"/>
              </a:buClr>
              <a:defRPr sz="2800">
                <a:solidFill>
                  <a:srgbClr val="F3C380"/>
                </a:solidFill>
              </a:defRPr>
            </a:lvl3pPr>
            <a:lvl4pPr>
              <a:buClr>
                <a:srgbClr val="F3C380"/>
              </a:buClr>
              <a:defRPr sz="2400">
                <a:solidFill>
                  <a:srgbClr val="F3C380"/>
                </a:solidFill>
              </a:defRPr>
            </a:lvl4pPr>
            <a:lvl5pPr>
              <a:buClr>
                <a:srgbClr val="F3C380"/>
              </a:buClr>
              <a:defRPr sz="2400">
                <a:solidFill>
                  <a:srgbClr val="F3C3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449267AA-56AC-482C-ABDE-DBDB3ACF7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8AC9C278-3F41-423C-B4C5-763A6A872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6C081B7-7D60-4962-AAEA-5A91031C4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909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355" y="3308581"/>
            <a:ext cx="9669872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7355" y="4777381"/>
            <a:ext cx="966987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rgbClr val="F3C380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58FC4622-EA37-4F18-A796-70D9A7F32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DF568178-DD3E-43DC-B06B-052DD627CE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F0CD2B06-9966-4CFD-9953-707418793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2327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7356" y="2169779"/>
            <a:ext cx="4995334" cy="40524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3449" y="2169779"/>
            <a:ext cx="4995332" cy="405249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04D11519-4569-490D-9102-58C309F451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78E8F28-D86C-4F5B-9C20-CEE8B12E9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D26C7E0F-A7C2-422E-B336-68A1509B8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0306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04" y="2222749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7355" y="2866375"/>
            <a:ext cx="4996923" cy="33559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85037" y="2231216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85037" y="2866375"/>
            <a:ext cx="4995334" cy="33559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546FBD3F-1ADB-4731-A596-7A217E5B1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5C115F8-BA3E-495C-B700-A5EFC3E4D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75622574-9F7A-4AB6-940E-8BD78BE9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0272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686E1DC6-EB47-40D1-A045-48C1D8A54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2CDF8FE-3A13-48D2-B675-A9BC484CE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6C46956E-EAA5-49BB-A80A-2E57E2491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402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47FC059C-363B-441C-AA4A-ACB0E5E10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732AA09-BEEF-4273-9DA2-EDE802970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C6592BD-ACAA-4F09-9CE4-533E18930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0565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355" y="2048207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756" y="583474"/>
            <a:ext cx="6169026" cy="572153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7355" y="3419807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758A7760-AF92-41CD-BEB3-1BD04B822F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970FC32-07D9-402F-844A-E14782300C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2E2382E1-AE4B-4C39-87CD-08744533B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425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355" y="1574075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894" y="914400"/>
            <a:ext cx="3787180" cy="5277393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7355" y="2945675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B1A638DA-9403-4026-8D59-3ED440E1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AE9E2E97-EAE7-4386-88DC-7364DDD24368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A4C7D40-0DA4-4581-B9B2-A401DE3BD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A93F6ABE-5230-4F53-A99A-C98BD135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2275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8315" y="5185712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1" y="932111"/>
            <a:ext cx="9968142" cy="4057899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08315" y="5752450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241BFB6F-BF79-4CD7-BE6F-86CD4452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BE2BCCA7-2702-4592-9CF4-B58668C0C967}" type="datetime1">
              <a:rPr lang="en-US" smtClean="0"/>
              <a:t>29-Oct-24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C247CA8-785D-40BC-8645-EE538F1B0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r>
              <a:rPr lang="en-US"/>
              <a:t>Test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E1790A4D-8649-47FB-8F0C-B6A891E0F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32FAB481-7C2D-4A00-93C0-15E86CFC7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7115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56446" y="1600205"/>
            <a:ext cx="10425953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3806" y="727070"/>
            <a:ext cx="7201911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2400" dirty="0"/>
              <a:t>Go to </a:t>
            </a:r>
            <a:r>
              <a:rPr lang="en-US" sz="2400" dirty="0">
                <a:hlinkClick r:id="rId2"/>
              </a:rPr>
              <a:t>www.socrative.com</a:t>
            </a:r>
            <a:r>
              <a:rPr lang="en-US" sz="2400" dirty="0"/>
              <a:t> and log into CNMROBGARNER</a:t>
            </a:r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446" y="568088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59269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image" Target="../media/image8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stemulus_cnm_logos.jp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833242"/>
            <a:ext cx="10961801" cy="85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1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ts val="0"/>
        </a:spcBef>
        <a:spcAft>
          <a:spcPts val="1200"/>
        </a:spcAft>
        <a:buFont typeface="Webdings" pitchFamily="18" charset="2"/>
        <a:buChar char="4"/>
        <a:defRPr sz="3200">
          <a:solidFill>
            <a:srgbClr val="00499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ts val="0"/>
        </a:spcBef>
        <a:spcAft>
          <a:spcPts val="1200"/>
        </a:spcAft>
        <a:buChar char="–"/>
        <a:defRPr sz="2800">
          <a:solidFill>
            <a:srgbClr val="004990"/>
          </a:solidFill>
          <a:latin typeface="Arial" charset="0"/>
        </a:defRPr>
      </a:lvl2pPr>
      <a:lvl3pPr marL="1143000" indent="-228600" algn="l" rtl="0" eaLnBrk="1" fontAlgn="base" hangingPunct="1">
        <a:spcBef>
          <a:spcPts val="0"/>
        </a:spcBef>
        <a:spcAft>
          <a:spcPts val="1200"/>
        </a:spcAft>
        <a:buChar char="•"/>
        <a:defRPr sz="2400">
          <a:solidFill>
            <a:srgbClr val="004990"/>
          </a:solidFill>
          <a:latin typeface="Arial" charset="0"/>
        </a:defRPr>
      </a:lvl3pPr>
      <a:lvl4pPr marL="1600200" indent="-228600" algn="l" rtl="0" eaLnBrk="1" fontAlgn="base" hangingPunct="1">
        <a:spcBef>
          <a:spcPts val="0"/>
        </a:spcBef>
        <a:spcAft>
          <a:spcPts val="1200"/>
        </a:spcAft>
        <a:buChar char="–"/>
        <a:defRPr sz="2000">
          <a:solidFill>
            <a:srgbClr val="004990"/>
          </a:solidFill>
          <a:latin typeface="Arial Narrow" pitchFamily="34" charset="0"/>
        </a:defRPr>
      </a:lvl4pPr>
      <a:lvl5pPr marL="2057400" indent="-228600" algn="l" rtl="0" eaLnBrk="1" fontAlgn="base" hangingPunct="1">
        <a:spcBef>
          <a:spcPts val="0"/>
        </a:spcBef>
        <a:spcAft>
          <a:spcPts val="1200"/>
        </a:spcAft>
        <a:buChar char="»"/>
        <a:defRPr sz="2000">
          <a:solidFill>
            <a:srgbClr val="004990"/>
          </a:solidFill>
          <a:latin typeface="Arial Narrow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199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6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Slides based on material from:</a:t>
            </a:r>
            <a:r>
              <a:rPr lang="en-US" sz="1400" baseline="0" dirty="0"/>
              <a:t> </a:t>
            </a:r>
            <a:r>
              <a:rPr lang="en-US" sz="1400" u="sng" dirty="0"/>
              <a:t>Professional C# 5.0 and .NET 4.5.1.</a:t>
            </a:r>
            <a:r>
              <a:rPr lang="en-US" sz="1400" u="none" dirty="0"/>
              <a:t> Nagel,</a:t>
            </a:r>
            <a:r>
              <a:rPr lang="en-US" sz="140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22300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3200">
          <a:solidFill>
            <a:srgbClr val="00499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04990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04990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4990"/>
          </a:solidFill>
          <a:latin typeface="Arial Narrow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8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Slides based on material from:</a:t>
            </a:r>
            <a:r>
              <a:rPr lang="en-US" sz="1050" baseline="0" dirty="0"/>
              <a:t> </a:t>
            </a:r>
            <a:r>
              <a:rPr lang="en-US" sz="1050" u="sng" dirty="0"/>
              <a:t>Professional C# 5.0 and .NET 4.5.1.</a:t>
            </a:r>
            <a:r>
              <a:rPr lang="en-US" sz="1050" u="none" dirty="0"/>
              <a:t> Nagel,</a:t>
            </a:r>
            <a:r>
              <a:rPr lang="en-US" sz="105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349604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2400">
          <a:solidFill>
            <a:srgbClr val="004990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rgbClr val="004990"/>
          </a:solidFill>
          <a:latin typeface="Arial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rgbClr val="004990"/>
          </a:solidFill>
          <a:latin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rgbClr val="004990"/>
          </a:solidFill>
          <a:latin typeface="Arial Narrow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 l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10972800" cy="48006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4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</p:sldLayoutIdLst>
  <p:txStyles>
    <p:titleStyle>
      <a:lvl1pPr algn="l" defTabSz="514350" rtl="0" eaLnBrk="1" latinLnBrk="0" hangingPunct="1">
        <a:spcBef>
          <a:spcPct val="0"/>
        </a:spcBef>
        <a:buNone/>
        <a:defRPr sz="4000" kern="1200" cap="none" spc="-56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192881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56578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87439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977265" indent="-102870" algn="l" defTabSz="51435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788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080135" indent="-102870" algn="l" defTabSz="51435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183005" indent="-102870" algn="l" defTabSz="51435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1285875" indent="-102870" algn="l" defTabSz="51435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7355" y="635725"/>
            <a:ext cx="10131426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7356" y="2168192"/>
            <a:ext cx="10131425" cy="4054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BD914E-23B0-42EA-89BB-09F655B4DD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55" y="635725"/>
            <a:ext cx="675367" cy="56388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</p:pic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995BB38-0BAE-4458-8957-49FA7BE17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8C5A6663-5241-43B8-A2F8-60C014A26D93}" type="datetime1">
              <a:rPr lang="en-US" smtClean="0"/>
              <a:t>29-Oct-24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4255AF7-F0E3-402E-91A9-3C7F89AF4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r>
              <a:rPr lang="en-US"/>
              <a:t>Test</a:t>
            </a:r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20BDCD17-7EA4-45DF-AF71-3D13B2B1F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32FAB481-7C2D-4A00-93C0-15E86CFC7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81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 baseline="0">
          <a:ln w="3175" cmpd="sng">
            <a:noFill/>
          </a:ln>
          <a:solidFill>
            <a:srgbClr val="F3C380"/>
          </a:solidFill>
          <a:effectLst/>
          <a:latin typeface="Bauhaus 93" panose="04030905020B02020C02" pitchFamily="82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rgbClr val="F3C380"/>
        </a:buClr>
        <a:buSzPct val="100000"/>
        <a:buFont typeface="Arial"/>
        <a:buChar char="•"/>
        <a:defRPr sz="3600" kern="1200" cap="none">
          <a:solidFill>
            <a:srgbClr val="F3C380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rgbClr val="F3C380"/>
        </a:buClr>
        <a:buSzPct val="100000"/>
        <a:buFont typeface="Arial"/>
        <a:buChar char="•"/>
        <a:defRPr sz="3200" kern="1200" cap="none">
          <a:solidFill>
            <a:srgbClr val="F3C380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rgbClr val="F3C380"/>
        </a:buClr>
        <a:buSzPct val="100000"/>
        <a:buFont typeface="Arial"/>
        <a:buChar char="•"/>
        <a:defRPr sz="2800" kern="1200" cap="none">
          <a:solidFill>
            <a:srgbClr val="F3C380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rgbClr val="F3C380"/>
        </a:buClr>
        <a:buSzPct val="100000"/>
        <a:buFont typeface="Arial"/>
        <a:buChar char="•"/>
        <a:defRPr sz="2400" kern="1200" cap="none">
          <a:solidFill>
            <a:srgbClr val="F3C380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rgbClr val="F3C380"/>
        </a:buClr>
        <a:buSzPct val="100000"/>
        <a:buFont typeface="Arial"/>
        <a:buChar char="•"/>
        <a:defRPr sz="2400" kern="1200" cap="none">
          <a:solidFill>
            <a:srgbClr val="F3C380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Interfaces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7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 inheritance</a:t>
            </a:r>
          </a:p>
        </p:txBody>
      </p:sp>
    </p:spTree>
    <p:extLst>
      <p:ext uri="{BB962C8B-B14F-4D97-AF65-F5344CB8AC3E}">
        <p14:creationId xmlns:p14="http://schemas.microsoft.com/office/powerpoint/2010/main" val="1146768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define interfaces.</a:t>
            </a:r>
          </a:p>
        </p:txBody>
      </p:sp>
    </p:spTree>
    <p:extLst>
      <p:ext uri="{BB962C8B-B14F-4D97-AF65-F5344CB8AC3E}">
        <p14:creationId xmlns:p14="http://schemas.microsoft.com/office/powerpoint/2010/main" val="311360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Can not be instantiated!</a:t>
            </a:r>
          </a:p>
          <a:p>
            <a:r>
              <a:rPr lang="en-US" dirty="0"/>
              <a:t>Does not have constructors</a:t>
            </a:r>
          </a:p>
          <a:p>
            <a:r>
              <a:rPr lang="en-US" dirty="0"/>
              <a:t>Does not have fields</a:t>
            </a:r>
          </a:p>
          <a:p>
            <a:r>
              <a:rPr lang="en-US" dirty="0"/>
              <a:t>Contains only the method signatures of it’s members</a:t>
            </a:r>
          </a:p>
          <a:p>
            <a:r>
              <a:rPr lang="en-US" dirty="0"/>
              <a:t>Named with an I in their name (</a:t>
            </a:r>
            <a:r>
              <a:rPr lang="en-US" dirty="0" err="1"/>
              <a:t>Idisposable</a:t>
            </a:r>
            <a:r>
              <a:rPr lang="en-US" dirty="0"/>
              <a:t>, IEnumerable for example)</a:t>
            </a:r>
          </a:p>
        </p:txBody>
      </p:sp>
    </p:spTree>
    <p:extLst>
      <p:ext uri="{BB962C8B-B14F-4D97-AF65-F5344CB8AC3E}">
        <p14:creationId xmlns:p14="http://schemas.microsoft.com/office/powerpoint/2010/main" val="167269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Members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 permitted to declare modifiers on interface members </a:t>
            </a:r>
          </a:p>
          <a:p>
            <a:r>
              <a:rPr lang="en-US" dirty="0"/>
              <a:t>Always implicitly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</a:p>
          <a:p>
            <a:r>
              <a:rPr lang="en-US" dirty="0"/>
              <a:t>Can not be declared as virtual or static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69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Inheritance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implement (inherit from) an interface.</a:t>
            </a:r>
          </a:p>
        </p:txBody>
      </p:sp>
    </p:spTree>
    <p:extLst>
      <p:ext uri="{BB962C8B-B14F-4D97-AF65-F5344CB8AC3E}">
        <p14:creationId xmlns:p14="http://schemas.microsoft.com/office/powerpoint/2010/main" val="1139014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Derived class only inherits the method signatures from the base class.</a:t>
            </a:r>
          </a:p>
          <a:p>
            <a:pPr lvl="1"/>
            <a:r>
              <a:rPr lang="en-US" dirty="0"/>
              <a:t>The method signature is the method type, name </a:t>
            </a:r>
          </a:p>
          <a:p>
            <a:r>
              <a:rPr lang="en-US" dirty="0"/>
              <a:t>Derived class </a:t>
            </a:r>
            <a:r>
              <a:rPr lang="en-US" b="1" u="sng" dirty="0"/>
              <a:t>does not </a:t>
            </a:r>
            <a:r>
              <a:rPr lang="en-US" dirty="0"/>
              <a:t>inherit fields or the implementation code for the methods it inherits</a:t>
            </a:r>
          </a:p>
          <a:p>
            <a:r>
              <a:rPr lang="en-US" dirty="0"/>
              <a:t>Most useful when you want to specify that a group of classes implement certain functionality without specify how each one does specifically.</a:t>
            </a:r>
          </a:p>
        </p:txBody>
      </p:sp>
    </p:spTree>
    <p:extLst>
      <p:ext uri="{BB962C8B-B14F-4D97-AF65-F5344CB8AC3E}">
        <p14:creationId xmlns:p14="http://schemas.microsoft.com/office/powerpoint/2010/main" val="238170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355" y="635725"/>
            <a:ext cx="10131426" cy="1456267"/>
          </a:xfrm>
        </p:spPr>
        <p:txBody>
          <a:bodyPr/>
          <a:lstStyle/>
          <a:p>
            <a:r>
              <a:rPr lang="en-US" dirty="0"/>
              <a:t>Implementing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763" y="2168525"/>
            <a:ext cx="10131425" cy="204847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If a class also implements one or more interfaces list them after the base class (if any) and separate them by commas</a:t>
            </a:r>
          </a:p>
          <a:p>
            <a:r>
              <a:rPr lang="en-US" dirty="0"/>
              <a:t>You can only inherit from one base class but you can inherit from as many interfaces as you want.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318000"/>
            <a:ext cx="10883900" cy="132343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MyDerivedClass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MyBaseClass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IInterface1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IInterface2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etc. 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2743200" y="4978400"/>
            <a:ext cx="2844800" cy="1066800"/>
          </a:xfrm>
          <a:prstGeom prst="wedgeRoundRectCallout">
            <a:avLst>
              <a:gd name="adj1" fmla="val 35583"/>
              <a:gd name="adj2" fmla="val -75929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2800" dirty="0"/>
              <a:t>Only allowed one base class.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048500" y="4978400"/>
            <a:ext cx="3683000" cy="1066800"/>
          </a:xfrm>
          <a:prstGeom prst="wedgeRoundRectCallout">
            <a:avLst>
              <a:gd name="adj1" fmla="val -19417"/>
              <a:gd name="adj2" fmla="val -69977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2800" dirty="0"/>
              <a:t>Can have more than one interface.</a:t>
            </a:r>
          </a:p>
        </p:txBody>
      </p:sp>
    </p:spTree>
    <p:extLst>
      <p:ext uri="{BB962C8B-B14F-4D97-AF65-F5344CB8AC3E}">
        <p14:creationId xmlns:p14="http://schemas.microsoft.com/office/powerpoint/2010/main" val="41587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interfaces.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we have interfaces.</a:t>
            </a:r>
          </a:p>
        </p:txBody>
      </p:sp>
    </p:spTree>
    <p:extLst>
      <p:ext uri="{BB962C8B-B14F-4D97-AF65-F5344CB8AC3E}">
        <p14:creationId xmlns:p14="http://schemas.microsoft.com/office/powerpoint/2010/main" val="1560883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Think of an interface is a “contract” </a:t>
            </a:r>
          </a:p>
          <a:p>
            <a:r>
              <a:rPr lang="en-US" dirty="0"/>
              <a:t>If a class implements an interface it must implement the methods specified in the interface</a:t>
            </a:r>
          </a:p>
          <a:p>
            <a:r>
              <a:rPr lang="en-US" dirty="0"/>
              <a:t>If we write a function that takes an interface as an argument, that function can operate on any class that implements the interface. Including classes that are written later by other people!</a:t>
            </a:r>
          </a:p>
          <a:p>
            <a:r>
              <a:rPr lang="en-US" dirty="0"/>
              <a:t>This simplifies code re-use.</a:t>
            </a:r>
          </a:p>
        </p:txBody>
      </p:sp>
    </p:spTree>
    <p:extLst>
      <p:ext uri="{BB962C8B-B14F-4D97-AF65-F5344CB8AC3E}">
        <p14:creationId xmlns:p14="http://schemas.microsoft.com/office/powerpoint/2010/main" val="1891276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355" y="635725"/>
            <a:ext cx="10131426" cy="1456267"/>
          </a:xfrm>
        </p:spPr>
        <p:txBody>
          <a:bodyPr/>
          <a:lstStyle/>
          <a:p>
            <a:r>
              <a:rPr lang="en-US" dirty="0"/>
              <a:t>Multiple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763" y="2168525"/>
            <a:ext cx="5782475" cy="405447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Some languages implement multiple inheritance</a:t>
            </a:r>
          </a:p>
          <a:p>
            <a:r>
              <a:rPr lang="en-US" dirty="0"/>
              <a:t>C# does not!</a:t>
            </a:r>
          </a:p>
          <a:p>
            <a:r>
              <a:rPr lang="en-US" dirty="0"/>
              <a:t>Multiple inheritance can lead to the “diamond” problem.</a:t>
            </a:r>
          </a:p>
          <a:p>
            <a:r>
              <a:rPr lang="en-US" dirty="0"/>
              <a:t>If B and C override </a:t>
            </a:r>
            <a:r>
              <a:rPr lang="en-US" dirty="0" err="1"/>
              <a:t>ToString</a:t>
            </a:r>
            <a:r>
              <a:rPr lang="en-US" dirty="0"/>
              <a:t>() which </a:t>
            </a:r>
            <a:r>
              <a:rPr lang="en-US" dirty="0" err="1"/>
              <a:t>ToString</a:t>
            </a:r>
            <a:r>
              <a:rPr lang="en-US" dirty="0"/>
              <a:t> would </a:t>
            </a:r>
            <a:r>
              <a:rPr lang="en-US" dirty="0" err="1"/>
              <a:t>D.ToString</a:t>
            </a:r>
            <a:r>
              <a:rPr lang="en-US" dirty="0"/>
              <a:t>() reference? </a:t>
            </a:r>
          </a:p>
          <a:p>
            <a:r>
              <a:rPr lang="en-US" dirty="0"/>
              <a:t>(Answer this question after we learn to implement inheritance)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78687" y="1272208"/>
            <a:ext cx="1798982" cy="10237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2800" b="1" dirty="0"/>
              <a:t>A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7003774" y="3076160"/>
            <a:ext cx="4548808" cy="1023731"/>
            <a:chOff x="7003774" y="3026465"/>
            <a:chExt cx="4548808" cy="1023731"/>
          </a:xfrm>
        </p:grpSpPr>
        <p:sp>
          <p:nvSpPr>
            <p:cNvPr id="16" name="Rectangle 15"/>
            <p:cNvSpPr/>
            <p:nvPr/>
          </p:nvSpPr>
          <p:spPr>
            <a:xfrm>
              <a:off x="9753600" y="3026465"/>
              <a:ext cx="1798982" cy="1023731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003774" y="3026465"/>
              <a:ext cx="1798982" cy="1023731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2800" b="1" dirty="0"/>
                <a:t>B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8378687" y="4880112"/>
            <a:ext cx="1798982" cy="10237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2800" b="1" dirty="0"/>
              <a:t>D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8049414" y="2492144"/>
            <a:ext cx="2457529" cy="349110"/>
            <a:chOff x="8113126" y="2492144"/>
            <a:chExt cx="2457529" cy="349110"/>
          </a:xfrm>
        </p:grpSpPr>
        <p:sp>
          <p:nvSpPr>
            <p:cNvPr id="22" name="Right Arrow 21"/>
            <p:cNvSpPr/>
            <p:nvPr/>
          </p:nvSpPr>
          <p:spPr>
            <a:xfrm rot="18947019">
              <a:off x="8113126" y="2492144"/>
              <a:ext cx="734747" cy="34911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en-US" sz="2800" dirty="0"/>
            </a:p>
          </p:txBody>
        </p:sp>
        <p:sp>
          <p:nvSpPr>
            <p:cNvPr id="23" name="Right Arrow 22"/>
            <p:cNvSpPr/>
            <p:nvPr/>
          </p:nvSpPr>
          <p:spPr>
            <a:xfrm rot="2652981" flipH="1">
              <a:off x="9835908" y="2492144"/>
              <a:ext cx="734747" cy="34911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en-US" sz="280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8049414" y="4324257"/>
            <a:ext cx="2457529" cy="349110"/>
            <a:chOff x="8113126" y="2492144"/>
            <a:chExt cx="2457529" cy="349110"/>
          </a:xfrm>
        </p:grpSpPr>
        <p:sp>
          <p:nvSpPr>
            <p:cNvPr id="26" name="Right Arrow 25"/>
            <p:cNvSpPr/>
            <p:nvPr/>
          </p:nvSpPr>
          <p:spPr>
            <a:xfrm rot="2652981" flipH="1">
              <a:off x="8113126" y="2492144"/>
              <a:ext cx="734747" cy="34911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en-US" sz="2800" dirty="0"/>
            </a:p>
          </p:txBody>
        </p:sp>
        <p:sp>
          <p:nvSpPr>
            <p:cNvPr id="27" name="Right Arrow 26"/>
            <p:cNvSpPr/>
            <p:nvPr/>
          </p:nvSpPr>
          <p:spPr>
            <a:xfrm rot="18947019">
              <a:off x="9835908" y="2492144"/>
              <a:ext cx="734747" cy="34911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8101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Demo/Code Walkthrough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Demonstrate how to define interfaces.</a:t>
            </a:r>
          </a:p>
          <a:p>
            <a:r>
              <a:rPr lang="en-US" dirty="0"/>
              <a:t>Demonstrate how to implement (inherit from) an interface.</a:t>
            </a:r>
          </a:p>
        </p:txBody>
      </p:sp>
    </p:spTree>
    <p:extLst>
      <p:ext uri="{BB962C8B-B14F-4D97-AF65-F5344CB8AC3E}">
        <p14:creationId xmlns:p14="http://schemas.microsoft.com/office/powerpoint/2010/main" val="2652801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Classes</a:t>
            </a:r>
          </a:p>
          <a:p>
            <a:r>
              <a:rPr lang="en-US" dirty="0"/>
              <a:t>Interface inheritance</a:t>
            </a:r>
          </a:p>
        </p:txBody>
      </p:sp>
    </p:spTree>
    <p:extLst>
      <p:ext uri="{BB962C8B-B14F-4D97-AF65-F5344CB8AC3E}">
        <p14:creationId xmlns:p14="http://schemas.microsoft.com/office/powerpoint/2010/main" val="24394434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STEMulus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 anchorCtr="1">
        <a:normAutofit fontScale="85000" lnSpcReduction="10000"/>
      </a:bodyPr>
      <a:lstStyle>
        <a:defPPr>
          <a:defRPr sz="6000"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TEMulusTheme" id="{7D2F087C-814B-478C-8874-D946BB7E8194}" vid="{40A4879B-240E-4393-A31F-DCAD88D9BDF3}"/>
    </a:ext>
  </a:extLst>
</a:theme>
</file>

<file path=ppt/theme/theme2.xml><?xml version="1.0" encoding="utf-8"?>
<a:theme xmlns:a="http://schemas.openxmlformats.org/drawingml/2006/main" name="Generic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enericTheme" id="{05FD65AE-DB87-4839-B04A-C3F3B9C91C6E}" vid="{73340265-D181-4240-AB7E-F31EC520ECCF}"/>
    </a:ext>
  </a:extLst>
</a:theme>
</file>

<file path=ppt/theme/theme3.xml><?xml version="1.0" encoding="utf-8"?>
<a:theme xmlns:a="http://schemas.openxmlformats.org/drawingml/2006/main" name="Fib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bTheme" id="{42310378-7C67-4D39-BE8C-4B5D7B7C9646}" vid="{D62DC210-79D2-435F-90C7-822FFC9D4BD4}"/>
    </a:ext>
  </a:extLst>
</a:theme>
</file>

<file path=ppt/theme/theme4.xml><?xml version="1.0" encoding="utf-8"?>
<a:theme xmlns:a="http://schemas.openxmlformats.org/drawingml/2006/main" name="1_Fib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60"/>
      </a:accent1>
      <a:accent2>
        <a:srgbClr val="8496B0"/>
      </a:accent2>
      <a:accent3>
        <a:srgbClr val="8496B0"/>
      </a:accent3>
      <a:accent4>
        <a:srgbClr val="ADB9CA"/>
      </a:accent4>
      <a:accent5>
        <a:srgbClr val="D6DCE4"/>
      </a:accent5>
      <a:accent6>
        <a:srgbClr val="D6DCE4"/>
      </a:accent6>
      <a:hlink>
        <a:srgbClr val="0070C0"/>
      </a:hlink>
      <a:folHlink>
        <a:srgbClr val="7030A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bTheme" id="{FB228B94-9174-4A84-8B9C-56843C22FF37}" vid="{498E3D67-B2F1-4125-9069-AEB53E6EAC14}"/>
    </a:ext>
  </a:extLst>
</a:theme>
</file>

<file path=ppt/theme/theme5.xml><?xml version="1.0" encoding="utf-8"?>
<a:theme xmlns:a="http://schemas.openxmlformats.org/drawingml/2006/main" name="Celesti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BE53C589-A592-4478-913F-3F6771434B4B}" vid="{618F0CBF-9474-4206-AFBB-6DFFF9B6C378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STEMulusTheme</Template>
  <TotalTime>11814</TotalTime>
  <Words>389</Words>
  <Application>Microsoft Office PowerPoint</Application>
  <PresentationFormat>Widescreen</PresentationFormat>
  <Paragraphs>58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30" baseType="lpstr">
      <vt:lpstr>Arial</vt:lpstr>
      <vt:lpstr>Arial Black</vt:lpstr>
      <vt:lpstr>Arial Narrow</vt:lpstr>
      <vt:lpstr>Arial Unicode MS</vt:lpstr>
      <vt:lpstr>Bauhaus 93</vt:lpstr>
      <vt:lpstr>Calibri</vt:lpstr>
      <vt:lpstr>Cambria</vt:lpstr>
      <vt:lpstr>Consolas</vt:lpstr>
      <vt:lpstr>Courier New</vt:lpstr>
      <vt:lpstr>Edwardian Script ITC</vt:lpstr>
      <vt:lpstr>Webdings</vt:lpstr>
      <vt:lpstr>Wingdings</vt:lpstr>
      <vt:lpstr>STEMulusTheme</vt:lpstr>
      <vt:lpstr>GenericTheme</vt:lpstr>
      <vt:lpstr>FibTheme</vt:lpstr>
      <vt:lpstr>1_FibTheme</vt:lpstr>
      <vt:lpstr>Celestial</vt:lpstr>
      <vt:lpstr>Interfaces</vt:lpstr>
      <vt:lpstr>Overview</vt:lpstr>
      <vt:lpstr>Interfaces</vt:lpstr>
      <vt:lpstr>Interfaces</vt:lpstr>
      <vt:lpstr>Interface Members</vt:lpstr>
      <vt:lpstr>Interface Inheritance</vt:lpstr>
      <vt:lpstr>Interface Inheritance</vt:lpstr>
      <vt:lpstr>Implementing Interfaces</vt:lpstr>
      <vt:lpstr>Why do we need interfaces.</vt:lpstr>
      <vt:lpstr>Why?</vt:lpstr>
      <vt:lpstr>Multiple Inheritance</vt:lpstr>
      <vt:lpstr>Demo/Code Walkthrough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Rob Garner</cp:lastModifiedBy>
  <cp:revision>236</cp:revision>
  <dcterms:created xsi:type="dcterms:W3CDTF">2015-05-10T23:35:32Z</dcterms:created>
  <dcterms:modified xsi:type="dcterms:W3CDTF">2024-10-29T23:24:25Z</dcterms:modified>
</cp:coreProperties>
</file>