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6" r:id="rId2"/>
    <p:sldMasterId id="2147483693" r:id="rId3"/>
    <p:sldMasterId id="2147483711" r:id="rId4"/>
  </p:sldMasterIdLst>
  <p:notesMasterIdLst>
    <p:notesMasterId r:id="rId27"/>
  </p:notesMasterIdLst>
  <p:sldIdLst>
    <p:sldId id="256" r:id="rId5"/>
    <p:sldId id="257" r:id="rId6"/>
    <p:sldId id="265" r:id="rId7"/>
    <p:sldId id="264" r:id="rId8"/>
    <p:sldId id="296" r:id="rId9"/>
    <p:sldId id="266" r:id="rId10"/>
    <p:sldId id="269" r:id="rId11"/>
    <p:sldId id="302" r:id="rId12"/>
    <p:sldId id="272" r:id="rId13"/>
    <p:sldId id="273" r:id="rId14"/>
    <p:sldId id="274" r:id="rId15"/>
    <p:sldId id="308" r:id="rId16"/>
    <p:sldId id="309" r:id="rId17"/>
    <p:sldId id="312" r:id="rId18"/>
    <p:sldId id="277" r:id="rId19"/>
    <p:sldId id="313" r:id="rId20"/>
    <p:sldId id="275" r:id="rId21"/>
    <p:sldId id="315" r:id="rId22"/>
    <p:sldId id="279" r:id="rId23"/>
    <p:sldId id="280" r:id="rId24"/>
    <p:sldId id="316" r:id="rId25"/>
    <p:sldId id="26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47C28778-2760-4EAD-AB0A-B2A64705858C}">
          <p14:sldIdLst>
            <p14:sldId id="256"/>
            <p14:sldId id="257"/>
          </p14:sldIdLst>
        </p14:section>
        <p14:section name="What is inheritance?" id="{1B0706EA-1BD2-43AC-BD1D-8C2A027B13B8}">
          <p14:sldIdLst>
            <p14:sldId id="265"/>
            <p14:sldId id="264"/>
          </p14:sldIdLst>
        </p14:section>
        <p14:section name="Implementing Inheritance" id="{51811CA2-9C5E-4104-B6DD-2551279CE500}">
          <p14:sldIdLst>
            <p14:sldId id="296"/>
            <p14:sldId id="266"/>
            <p14:sldId id="269"/>
          </p14:sldIdLst>
        </p14:section>
        <p14:section name="Overriding Methods" id="{C753626A-2429-4BB3-A065-9216E4B61053}">
          <p14:sldIdLst>
            <p14:sldId id="302"/>
            <p14:sldId id="272"/>
            <p14:sldId id="273"/>
            <p14:sldId id="274"/>
          </p14:sldIdLst>
        </p14:section>
        <p14:section name="Polymorphism" id="{61C9E110-326B-42BA-B5A1-DC1E2ECCA161}">
          <p14:sldIdLst>
            <p14:sldId id="308"/>
            <p14:sldId id="309"/>
          </p14:sldIdLst>
        </p14:section>
        <p14:section name="Hiding Methods" id="{B805BEB3-3887-40F7-8A8E-9D629CE7A866}">
          <p14:sldIdLst>
            <p14:sldId id="312"/>
            <p14:sldId id="277"/>
          </p14:sldIdLst>
        </p14:section>
        <p14:section name="Virtual Properties" id="{5D5C6DB4-9F8C-43AE-A51A-78FE0D9B1414}">
          <p14:sldIdLst>
            <p14:sldId id="313"/>
            <p14:sldId id="275"/>
          </p14:sldIdLst>
        </p14:section>
        <p14:section name="Calling Base Class Methods" id="{56F9F336-26EA-4852-943E-C2A7671F090E}">
          <p14:sldIdLst>
            <p14:sldId id="315"/>
            <p14:sldId id="279"/>
            <p14:sldId id="280"/>
          </p14:sldIdLst>
        </p14:section>
        <p14:section name="Demo" id="{D418A089-B45D-4407-B245-758F817811B4}">
          <p14:sldIdLst>
            <p14:sldId id="316"/>
          </p14:sldIdLst>
        </p14:section>
        <p14:section name="Summary" id="{484AEAC6-781C-43D9-8449-DDEAC50CEC63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70" autoAdjust="0"/>
    <p:restoredTop sz="86957" autoAdjust="0"/>
  </p:normalViewPr>
  <p:slideViewPr>
    <p:cSldViewPr snapToGrid="0">
      <p:cViewPr>
        <p:scale>
          <a:sx n="50" d="100"/>
          <a:sy n="50" d="100"/>
        </p:scale>
        <p:origin x="556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113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28AEDA-69F3-4BD8-A62F-AB69D1B5AE71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92D35B-DA1B-4438-A15B-857732987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105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2D35B-DA1B-4438-A15B-85773298702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880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2D35B-DA1B-4438-A15B-85773298702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687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2D35B-DA1B-4438-A15B-85773298702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34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we say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2D35B-DA1B-4438-A15B-85773298702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1655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2D35B-DA1B-4438-A15B-85773298702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342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2D35B-DA1B-4438-A15B-85773298702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4701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“Inheritance</a:t>
            </a:r>
            <a:r>
              <a:rPr lang="en-US" baseline="0" dirty="0"/>
              <a:t> Syntax” portion of Inheritance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2D35B-DA1B-4438-A15B-85773298702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6101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2D35B-DA1B-4438-A15B-85773298702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408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47801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038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6" name="Picture 5" descr="CNM logo_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1"/>
            <a:ext cx="34036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611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550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255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43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04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860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625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609600" y="5943601"/>
            <a:ext cx="10972800" cy="7778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/>
            <a:fld id="{BEC4B462-DC2D-47D4-8944-F81C2113999E}" type="slidenum">
              <a:rPr lang="en-US" sz="1800" smtClean="0"/>
              <a:pPr eaLnBrk="1" hangingPunct="1"/>
              <a:t>‹#›</a:t>
            </a:fld>
            <a:endParaRPr lang="en-US" sz="180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4800" y="152401"/>
            <a:ext cx="5283200" cy="708025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ES" sz="4000" dirty="0"/>
              <a:t>Instructor </a:t>
            </a:r>
            <a:r>
              <a:rPr lang="es-ES" sz="4000" dirty="0" err="1"/>
              <a:t>Name</a:t>
            </a:r>
            <a:r>
              <a:rPr lang="es-ES" sz="4000" dirty="0"/>
              <a:t>: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285752" y="873126"/>
            <a:ext cx="4692649" cy="1323975"/>
          </a:xfrm>
          <a:prstGeom prst="rect">
            <a:avLst/>
          </a:prstGeom>
          <a:solidFill>
            <a:schemeClr val="bg1">
              <a:alpha val="6705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4000" dirty="0"/>
              <a:t>Instructor ID #:</a:t>
            </a:r>
          </a:p>
          <a:p>
            <a:pPr eaLnBrk="1" hangingPunct="1"/>
            <a:r>
              <a:rPr lang="en-US" sz="4000" dirty="0"/>
              <a:t>Class ID #:  </a:t>
            </a:r>
            <a:endParaRPr lang="es-ES" sz="4000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048000" y="4038601"/>
            <a:ext cx="4267515" cy="1569660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9600" b="1" dirty="0">
                <a:latin typeface="Edwardian Script ITC" pitchFamily="66" charset="0"/>
              </a:rPr>
              <a:t>Thank you!</a:t>
            </a:r>
            <a:endParaRPr lang="es-ES" sz="9600" b="1" dirty="0">
              <a:latin typeface="Edwardian Script ITC" pitchFamily="66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588000" y="3048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5080000" y="9906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860800" y="16002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2125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016000" y="4419601"/>
            <a:ext cx="103632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r>
              <a:rPr lang="en-US" sz="4000" kern="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1588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941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44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5817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795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003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7200" y="1600201"/>
            <a:ext cx="98552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3"/>
          <p:cNvSpPr>
            <a:spLocks noGrp="1"/>
          </p:cNvSpPr>
          <p:nvPr>
            <p:ph type="ftr" sz="quarter" idx="10"/>
            <p:custDataLst>
              <p:tags r:id="rId1"/>
            </p:custDataLst>
          </p:nvPr>
        </p:nvSpPr>
        <p:spPr>
          <a:xfrm>
            <a:off x="2336800" y="6324601"/>
            <a:ext cx="640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12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8636000" y="6400801"/>
            <a:ext cx="2844800" cy="365125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</a:defRPr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572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47801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038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6" name="Picture 5" descr="CNM logo_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1"/>
            <a:ext cx="34036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64228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4052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Che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ü"/>
              <a:defRPr/>
            </a:lvl1pPr>
            <a:lvl2pPr marL="742950" indent="-285750">
              <a:buFont typeface="Wingdings" panose="05000000000000000000" pitchFamily="2" charset="2"/>
              <a:buChar char="ü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  <a:lvl4pPr marL="1600200" indent="-228600">
              <a:buFont typeface="Wingdings" panose="05000000000000000000" pitchFamily="2" charset="2"/>
              <a:buChar char="ü"/>
              <a:defRPr/>
            </a:lvl4pPr>
            <a:lvl5pPr marL="2057400" indent="-228600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471948"/>
            <a:ext cx="10972800" cy="1128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lvl="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pPr lvl="0"/>
            <a:r>
              <a:rPr lang="en-US" dirty="0"/>
              <a:t>Quality Check Items</a:t>
            </a:r>
          </a:p>
        </p:txBody>
      </p:sp>
    </p:spTree>
    <p:extLst>
      <p:ext uri="{BB962C8B-B14F-4D97-AF65-F5344CB8AC3E}">
        <p14:creationId xmlns:p14="http://schemas.microsoft.com/office/powerpoint/2010/main" val="20709015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611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1971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7310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6507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476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609600" y="5943601"/>
            <a:ext cx="10972800" cy="77787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/>
            <a:fld id="{BEC4B462-DC2D-47D4-8944-F81C2113999E}" type="slidenum">
              <a:rPr lang="en-US" sz="1800" smtClean="0"/>
              <a:pPr eaLnBrk="1" hangingPunct="1"/>
              <a:t>‹#›</a:t>
            </a:fld>
            <a:endParaRPr lang="en-US" sz="180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4800" y="152401"/>
            <a:ext cx="5283200" cy="708025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ES" sz="4000" dirty="0"/>
              <a:t>Instructor </a:t>
            </a:r>
            <a:r>
              <a:rPr lang="es-ES" sz="4000" dirty="0" err="1"/>
              <a:t>Name</a:t>
            </a:r>
            <a:r>
              <a:rPr lang="es-ES" sz="4000" dirty="0"/>
              <a:t>: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285752" y="873126"/>
            <a:ext cx="4692649" cy="1323975"/>
          </a:xfrm>
          <a:prstGeom prst="rect">
            <a:avLst/>
          </a:prstGeom>
          <a:solidFill>
            <a:schemeClr val="bg1">
              <a:alpha val="67058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4000" dirty="0"/>
              <a:t>Instructor ID #:</a:t>
            </a:r>
          </a:p>
          <a:p>
            <a:pPr eaLnBrk="1" hangingPunct="1"/>
            <a:r>
              <a:rPr lang="en-US" sz="4000" dirty="0"/>
              <a:t>Class ID #:  </a:t>
            </a:r>
            <a:endParaRPr lang="es-ES" sz="4000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048000" y="4038601"/>
            <a:ext cx="4267515" cy="1569660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9600" b="1" dirty="0">
                <a:latin typeface="Edwardian Script ITC" pitchFamily="66" charset="0"/>
              </a:rPr>
              <a:t>Thank you!</a:t>
            </a:r>
            <a:endParaRPr lang="es-ES" sz="9600" b="1" dirty="0">
              <a:latin typeface="Edwardian Script ITC" pitchFamily="66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588000" y="3048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5080000" y="9906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860800" y="16002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76231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016000" y="4419601"/>
            <a:ext cx="103632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r>
              <a:rPr lang="en-US" sz="4000" kern="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4164910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316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4784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125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214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363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7200" y="1600201"/>
            <a:ext cx="98552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3"/>
          <p:cNvSpPr>
            <a:spLocks noGrp="1"/>
          </p:cNvSpPr>
          <p:nvPr>
            <p:ph type="ftr" sz="quarter" idx="10"/>
            <p:custDataLst>
              <p:tags r:id="rId1"/>
            </p:custDataLst>
          </p:nvPr>
        </p:nvSpPr>
        <p:spPr>
          <a:xfrm>
            <a:off x="2336800" y="6324601"/>
            <a:ext cx="640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12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8636000" y="6400801"/>
            <a:ext cx="2844800" cy="365125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</a:defRPr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931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47803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038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6" name="Picture 5" descr="CNM logo_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3"/>
            <a:ext cx="34036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91681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0408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Che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57175" indent="-257175">
              <a:buFont typeface="Wingdings" panose="05000000000000000000" pitchFamily="2" charset="2"/>
              <a:buChar char="ü"/>
              <a:defRPr/>
            </a:lvl1pPr>
            <a:lvl2pPr marL="557213" indent="-214313">
              <a:buFont typeface="Wingdings" panose="05000000000000000000" pitchFamily="2" charset="2"/>
              <a:buChar char="ü"/>
              <a:defRPr/>
            </a:lvl2pPr>
            <a:lvl3pPr marL="857250" indent="-171450">
              <a:buFont typeface="Wingdings" panose="05000000000000000000" pitchFamily="2" charset="2"/>
              <a:buChar char="ü"/>
              <a:defRPr/>
            </a:lvl3pPr>
            <a:lvl4pPr marL="1200150" indent="-171450">
              <a:buFont typeface="Wingdings" panose="05000000000000000000" pitchFamily="2" charset="2"/>
              <a:buChar char="ü"/>
              <a:defRPr/>
            </a:lvl4pPr>
            <a:lvl5pPr marL="1543050" indent="-171450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471948"/>
            <a:ext cx="10972800" cy="1128250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lvl="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pPr lvl="0"/>
            <a:r>
              <a:rPr lang="en-US" sz="3300" dirty="0"/>
              <a:t>Quality Check Items</a:t>
            </a:r>
          </a:p>
        </p:txBody>
      </p:sp>
    </p:spTree>
    <p:extLst>
      <p:ext uri="{BB962C8B-B14F-4D97-AF65-F5344CB8AC3E}">
        <p14:creationId xmlns:p14="http://schemas.microsoft.com/office/powerpoint/2010/main" val="42644314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6144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25808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241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235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05027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609600" y="5943603"/>
            <a:ext cx="10972800" cy="7778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/>
            <a:fld id="{BEC4B462-DC2D-47D4-8944-F81C2113999E}" type="slidenum">
              <a:rPr lang="en-US" sz="1350" smtClean="0"/>
              <a:pPr eaLnBrk="1" hangingPunct="1"/>
              <a:t>‹#›</a:t>
            </a:fld>
            <a:endParaRPr lang="en-US" sz="135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4800" y="152401"/>
            <a:ext cx="5283200" cy="553998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ES" sz="3000" dirty="0"/>
              <a:t>Instructor </a:t>
            </a:r>
            <a:r>
              <a:rPr lang="es-ES" sz="3000" dirty="0" err="1"/>
              <a:t>Name</a:t>
            </a:r>
            <a:r>
              <a:rPr lang="es-ES" sz="3000" dirty="0"/>
              <a:t>: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285753" y="873128"/>
            <a:ext cx="4692649" cy="1015663"/>
          </a:xfrm>
          <a:prstGeom prst="rect">
            <a:avLst/>
          </a:prstGeom>
          <a:solidFill>
            <a:schemeClr val="bg1">
              <a:alpha val="6705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3000" dirty="0"/>
              <a:t>Instructor ID #:</a:t>
            </a:r>
          </a:p>
          <a:p>
            <a:pPr eaLnBrk="1" hangingPunct="1"/>
            <a:r>
              <a:rPr lang="en-US" sz="3000" dirty="0"/>
              <a:t>Class ID #:  </a:t>
            </a:r>
            <a:endParaRPr lang="es-ES" sz="3000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048000" y="4038603"/>
            <a:ext cx="3249608" cy="1200329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7200" b="1" dirty="0">
                <a:latin typeface="Edwardian Script ITC" pitchFamily="66" charset="0"/>
              </a:rPr>
              <a:t>Thank you!</a:t>
            </a:r>
            <a:endParaRPr lang="es-ES" sz="7200" b="1" dirty="0">
              <a:latin typeface="Edwardian Script ITC" pitchFamily="66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588000" y="3048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5080000" y="9906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860800" y="16002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292357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016000" y="4419603"/>
            <a:ext cx="103632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r>
              <a:rPr lang="en-US" sz="3000" kern="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6534031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0930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4758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348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56753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52161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7200" y="1600203"/>
            <a:ext cx="98552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3"/>
          <p:cNvSpPr>
            <a:spLocks noGrp="1"/>
          </p:cNvSpPr>
          <p:nvPr>
            <p:ph type="ftr" sz="quarter" idx="10"/>
            <p:custDataLst>
              <p:tags r:id="rId1"/>
            </p:custDataLst>
          </p:nvPr>
        </p:nvSpPr>
        <p:spPr>
          <a:xfrm>
            <a:off x="2336800" y="6324603"/>
            <a:ext cx="640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12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8636000" y="6400803"/>
            <a:ext cx="2844800" cy="365125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</a:defRPr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5611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ocr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1600205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3789" y="627745"/>
            <a:ext cx="7588075" cy="26545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1125" dirty="0"/>
              <a:t>Go to </a:t>
            </a:r>
            <a:r>
              <a:rPr lang="en-US" sz="1125" dirty="0">
                <a:hlinkClick r:id="rId2"/>
              </a:rPr>
              <a:t>www.socrative.com</a:t>
            </a:r>
            <a:r>
              <a:rPr lang="en-US" sz="1125" dirty="0"/>
              <a:t> and log into &lt;instructor</a:t>
            </a:r>
            <a:r>
              <a:rPr lang="en-US" sz="1125" baseline="0" dirty="0"/>
              <a:t> account name&gt;</a:t>
            </a:r>
            <a:endParaRPr lang="en-US" sz="1125" dirty="0"/>
          </a:p>
        </p:txBody>
      </p:sp>
      <p:pic>
        <p:nvPicPr>
          <p:cNvPr id="1026" name="Picture 2" descr="https://socrative-production-static-web.s3.amazonaws.com/img/logo_new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33" y="412103"/>
            <a:ext cx="2922411" cy="7767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350773049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5"/>
            <a:ext cx="10058400" cy="2593975"/>
          </a:xfrm>
        </p:spPr>
        <p:txBody>
          <a:bodyPr anchor="b"/>
          <a:lstStyle>
            <a:lvl1pPr>
              <a:defRPr sz="44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06515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3200"/>
            </a:lvl1pPr>
            <a:lvl2pPr>
              <a:defRPr sz="32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29138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7" y="5486400"/>
            <a:ext cx="10212916" cy="1168400"/>
          </a:xfrm>
        </p:spPr>
        <p:txBody>
          <a:bodyPr anchor="t"/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7" y="3852863"/>
            <a:ext cx="8180916" cy="163353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 anchor="b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655537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5364480" cy="4590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1800"/>
            </a:lvl4pPr>
            <a:lvl5pPr>
              <a:defRPr sz="1800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524000"/>
            <a:ext cx="5364480" cy="4590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1800"/>
            </a:lvl4pPr>
            <a:lvl5pPr>
              <a:defRPr sz="1800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59417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70038"/>
            <a:ext cx="5364480" cy="639762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09800"/>
            <a:ext cx="5364480" cy="3951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1570038"/>
            <a:ext cx="5364480" cy="639762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2209800"/>
            <a:ext cx="5364480" cy="3951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907965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66827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4474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1379200" cy="594360"/>
          </a:xfrm>
        </p:spPr>
        <p:txBody>
          <a:bodyPr anchor="b"/>
          <a:lstStyle>
            <a:lvl1pPr algn="ctr">
              <a:defRPr sz="1238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2" y="6096000"/>
            <a:ext cx="11379201" cy="609600"/>
          </a:xfr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1379200" cy="494284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198583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10363200" cy="1981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 rot="16200000">
            <a:off x="10474870" y="1584960"/>
            <a:ext cx="2438399" cy="487680"/>
          </a:xfrm>
          <a:prstGeom prst="rect">
            <a:avLst/>
          </a:prstGeom>
        </p:spPr>
        <p:txBody>
          <a:bodyPr/>
          <a:lstStyle/>
          <a:p>
            <a:fld id="{6F8B1E7F-8A42-40E4-9CF3-CF643FA4249D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10510429" y="3987800"/>
            <a:ext cx="2367281" cy="48768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fld id="{01E7E831-D999-4C39-9960-F100EE735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09115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cr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1600205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3789" y="627745"/>
            <a:ext cx="7588075" cy="4001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2000" dirty="0"/>
              <a:t>Go to </a:t>
            </a:r>
            <a:r>
              <a:rPr lang="en-US" sz="2000" dirty="0">
                <a:hlinkClick r:id="rId2"/>
              </a:rPr>
              <a:t>www.socrative.com</a:t>
            </a:r>
            <a:r>
              <a:rPr lang="en-US" sz="2000" dirty="0"/>
              <a:t> and log into &lt;instructor</a:t>
            </a:r>
            <a:r>
              <a:rPr lang="en-US" sz="2000" baseline="0" dirty="0"/>
              <a:t> account name&gt;</a:t>
            </a:r>
            <a:endParaRPr lang="en-US" sz="2000" dirty="0"/>
          </a:p>
        </p:txBody>
      </p:sp>
      <p:pic>
        <p:nvPicPr>
          <p:cNvPr id="1026" name="Picture 2" descr="https://socrative-production-static-web.s3.amazonaws.com/img/logo_new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33" y="412103"/>
            <a:ext cx="2922411" cy="7767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3299868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stemulus_cnm_logos.jpg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833242"/>
            <a:ext cx="10961801" cy="851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310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9pPr>
    </p:titleStyle>
    <p:bodyStyle>
      <a:lvl1pPr marL="342900" indent="-342900" algn="l" rtl="0" eaLnBrk="1" fontAlgn="base" hangingPunct="1">
        <a:spcBef>
          <a:spcPts val="0"/>
        </a:spcBef>
        <a:spcAft>
          <a:spcPts val="1200"/>
        </a:spcAft>
        <a:buFont typeface="Webdings" pitchFamily="18" charset="2"/>
        <a:buChar char="4"/>
        <a:defRPr sz="3200">
          <a:solidFill>
            <a:srgbClr val="004990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ts val="0"/>
        </a:spcBef>
        <a:spcAft>
          <a:spcPts val="1200"/>
        </a:spcAft>
        <a:buChar char="–"/>
        <a:defRPr sz="2800">
          <a:solidFill>
            <a:srgbClr val="004990"/>
          </a:solidFill>
          <a:latin typeface="Arial" charset="0"/>
        </a:defRPr>
      </a:lvl2pPr>
      <a:lvl3pPr marL="1143000" indent="-228600" algn="l" rtl="0" eaLnBrk="1" fontAlgn="base" hangingPunct="1">
        <a:spcBef>
          <a:spcPts val="0"/>
        </a:spcBef>
        <a:spcAft>
          <a:spcPts val="1200"/>
        </a:spcAft>
        <a:buChar char="•"/>
        <a:defRPr sz="2400">
          <a:solidFill>
            <a:srgbClr val="004990"/>
          </a:solidFill>
          <a:latin typeface="Arial" charset="0"/>
        </a:defRPr>
      </a:lvl3pPr>
      <a:lvl4pPr marL="1600200" indent="-228600" algn="l" rtl="0" eaLnBrk="1" fontAlgn="base" hangingPunct="1">
        <a:spcBef>
          <a:spcPts val="0"/>
        </a:spcBef>
        <a:spcAft>
          <a:spcPts val="1200"/>
        </a:spcAft>
        <a:buChar char="–"/>
        <a:defRPr sz="2000">
          <a:solidFill>
            <a:srgbClr val="004990"/>
          </a:solidFill>
          <a:latin typeface="Arial Narrow" pitchFamily="34" charset="0"/>
        </a:defRPr>
      </a:lvl4pPr>
      <a:lvl5pPr marL="2057400" indent="-228600" algn="l" rtl="0" eaLnBrk="1" fontAlgn="base" hangingPunct="1">
        <a:spcBef>
          <a:spcPts val="0"/>
        </a:spcBef>
        <a:spcAft>
          <a:spcPts val="1200"/>
        </a:spcAft>
        <a:buChar char="»"/>
        <a:defRPr sz="2000">
          <a:solidFill>
            <a:srgbClr val="004990"/>
          </a:solidFill>
          <a:latin typeface="Arial Narrow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199"/>
            <a:ext cx="10972800" cy="449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6211956"/>
            <a:ext cx="10972800" cy="455827"/>
          </a:xfrm>
          <a:prstGeom prst="rect">
            <a:avLst/>
          </a:prstGeom>
          <a:solidFill>
            <a:srgbClr val="3E3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Slides based on material from:</a:t>
            </a:r>
            <a:r>
              <a:rPr lang="en-US" sz="1400" baseline="0" dirty="0"/>
              <a:t> </a:t>
            </a:r>
            <a:r>
              <a:rPr lang="en-US" sz="1400" u="sng" dirty="0"/>
              <a:t>Professional C# 5.0 and .NET 4.5.1.</a:t>
            </a:r>
            <a:r>
              <a:rPr lang="en-US" sz="1400" u="none" dirty="0"/>
              <a:t> Nagel,</a:t>
            </a:r>
            <a:r>
              <a:rPr lang="en-US" sz="1400" dirty="0"/>
              <a:t> Christian; Glynn, Jay; Skinner, Morgan (2014-02-19). Wiley. </a:t>
            </a:r>
          </a:p>
        </p:txBody>
      </p:sp>
    </p:spTree>
    <p:extLst>
      <p:ext uri="{BB962C8B-B14F-4D97-AF65-F5344CB8AC3E}">
        <p14:creationId xmlns:p14="http://schemas.microsoft.com/office/powerpoint/2010/main" val="2230036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Webdings" pitchFamily="18" charset="2"/>
        <a:buChar char="4"/>
        <a:defRPr sz="3200">
          <a:solidFill>
            <a:srgbClr val="004990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rgbClr val="004990"/>
          </a:solidFill>
          <a:latin typeface="Arial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004990"/>
          </a:solidFill>
          <a:latin typeface="Arial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04990"/>
          </a:solidFill>
          <a:latin typeface="Arial Narrow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49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6211958"/>
            <a:ext cx="10972800" cy="455827"/>
          </a:xfrm>
          <a:prstGeom prst="rect">
            <a:avLst/>
          </a:prstGeom>
          <a:solidFill>
            <a:srgbClr val="3E3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Slides based on material from:</a:t>
            </a:r>
            <a:r>
              <a:rPr lang="en-US" sz="1050" baseline="0" dirty="0"/>
              <a:t> </a:t>
            </a:r>
            <a:r>
              <a:rPr lang="en-US" sz="1050" u="sng" dirty="0"/>
              <a:t>Professional C# 5.0 and .NET 4.5.1.</a:t>
            </a:r>
            <a:r>
              <a:rPr lang="en-US" sz="1050" u="none" dirty="0"/>
              <a:t> Nagel,</a:t>
            </a:r>
            <a:r>
              <a:rPr lang="en-US" sz="1050" dirty="0"/>
              <a:t> Christian; Glynn, Jay; Skinner, Morgan (2014-02-19). Wiley. </a:t>
            </a:r>
          </a:p>
        </p:txBody>
      </p:sp>
    </p:spTree>
    <p:extLst>
      <p:ext uri="{BB962C8B-B14F-4D97-AF65-F5344CB8AC3E}">
        <p14:creationId xmlns:p14="http://schemas.microsoft.com/office/powerpoint/2010/main" val="1636344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Webdings" pitchFamily="18" charset="2"/>
        <a:buChar char="4"/>
        <a:defRPr sz="2400">
          <a:solidFill>
            <a:srgbClr val="004990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sz="2100">
          <a:solidFill>
            <a:srgbClr val="004990"/>
          </a:solidFill>
          <a:latin typeface="Arial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rgbClr val="004990"/>
          </a:solidFill>
          <a:latin typeface="Arial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rgbClr val="004990"/>
          </a:solidFill>
          <a:latin typeface="Arial Narrow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 l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10972800" cy="48006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902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</p:sldLayoutIdLst>
  <p:txStyles>
    <p:titleStyle>
      <a:lvl1pPr algn="l" defTabSz="514350" rtl="0" eaLnBrk="1" latinLnBrk="0" hangingPunct="1">
        <a:spcBef>
          <a:spcPct val="0"/>
        </a:spcBef>
        <a:buNone/>
        <a:defRPr sz="4000" kern="1200" cap="none" spc="-56" baseline="0">
          <a:ln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</p:titleStyle>
    <p:bodyStyle>
      <a:lvl1pPr marL="192881" indent="-128588" algn="l" defTabSz="51435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8588" algn="l" defTabSz="51435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565785" indent="-128588" algn="l" defTabSz="51435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indent="-128588" algn="l" defTabSz="51435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874395" indent="-128588" algn="l" defTabSz="51435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977265" indent="-102870" algn="l" defTabSz="51435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788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080135" indent="-102870" algn="l" defTabSz="51435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7pPr>
      <a:lvl8pPr marL="1183005" indent="-102870" algn="l" defTabSz="51435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8pPr>
      <a:lvl9pPr marL="1285875" indent="-102870" algn="l" defTabSz="51435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21168"/>
            <a:ext cx="10363200" cy="1470025"/>
          </a:xfrm>
        </p:spPr>
        <p:txBody>
          <a:bodyPr/>
          <a:lstStyle/>
          <a:p>
            <a:r>
              <a:rPr lang="en-US" dirty="0"/>
              <a:t>Inheritance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677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inheritance?</a:t>
            </a:r>
          </a:p>
          <a:p>
            <a:r>
              <a:rPr lang="en-US" dirty="0"/>
              <a:t>Implementation inheritance</a:t>
            </a:r>
          </a:p>
          <a:p>
            <a:r>
              <a:rPr lang="en-US" dirty="0"/>
              <a:t>Overriding Methods</a:t>
            </a:r>
          </a:p>
          <a:p>
            <a:r>
              <a:rPr lang="en-US" dirty="0"/>
              <a:t>Polymorphism</a:t>
            </a:r>
          </a:p>
          <a:p>
            <a:r>
              <a:rPr lang="en-US" dirty="0"/>
              <a:t>Hiding Methods</a:t>
            </a:r>
          </a:p>
          <a:p>
            <a:r>
              <a:rPr lang="en-US" dirty="0"/>
              <a:t>Virtual Properties</a:t>
            </a:r>
          </a:p>
          <a:p>
            <a:r>
              <a:rPr lang="en-US" dirty="0"/>
              <a:t>Calling Base Class Methods</a:t>
            </a:r>
          </a:p>
        </p:txBody>
      </p:sp>
    </p:spTree>
    <p:extLst>
      <p:ext uri="{BB962C8B-B14F-4D97-AF65-F5344CB8AC3E}">
        <p14:creationId xmlns:p14="http://schemas.microsoft.com/office/powerpoint/2010/main" val="1146768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inheritance?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inheritance is.</a:t>
            </a:r>
          </a:p>
        </p:txBody>
      </p:sp>
    </p:spTree>
    <p:extLst>
      <p:ext uri="{BB962C8B-B14F-4D97-AF65-F5344CB8AC3E}">
        <p14:creationId xmlns:p14="http://schemas.microsoft.com/office/powerpoint/2010/main" val="1221515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Inheritance?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199"/>
            <a:ext cx="10972800" cy="168965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ability to create a new class by reusing the fields, properties and methods from an existing class.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00B0F0"/>
                </a:solidFill>
              </a:rPr>
              <a:t>child</a:t>
            </a:r>
            <a:r>
              <a:rPr lang="en-US" dirty="0"/>
              <a:t> class inherits from a </a:t>
            </a:r>
            <a:r>
              <a:rPr lang="en-US" dirty="0">
                <a:solidFill>
                  <a:srgbClr val="00B0F0"/>
                </a:solidFill>
              </a:rPr>
              <a:t>parent</a:t>
            </a:r>
            <a:r>
              <a:rPr lang="en-US" dirty="0"/>
              <a:t> class.</a:t>
            </a:r>
          </a:p>
          <a:p>
            <a:r>
              <a:rPr lang="en-US" dirty="0"/>
              <a:t>Also stated as a </a:t>
            </a:r>
            <a:r>
              <a:rPr lang="en-US" dirty="0">
                <a:solidFill>
                  <a:srgbClr val="00B0F0"/>
                </a:solidFill>
              </a:rPr>
              <a:t>derived</a:t>
            </a:r>
            <a:r>
              <a:rPr lang="en-US" dirty="0"/>
              <a:t> class inherits from a </a:t>
            </a:r>
            <a:r>
              <a:rPr lang="en-US" dirty="0">
                <a:solidFill>
                  <a:srgbClr val="00B0F0"/>
                </a:solidFill>
              </a:rPr>
              <a:t>base</a:t>
            </a:r>
            <a:r>
              <a:rPr lang="en-US" dirty="0"/>
              <a:t> class. </a:t>
            </a:r>
          </a:p>
          <a:p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1231900" y="3231634"/>
            <a:ext cx="9302222" cy="2670552"/>
            <a:chOff x="1231900" y="3231634"/>
            <a:chExt cx="9302222" cy="2670552"/>
          </a:xfrm>
        </p:grpSpPr>
        <p:sp>
          <p:nvSpPr>
            <p:cNvPr id="4" name="Rectangle 3"/>
            <p:cNvSpPr/>
            <p:nvPr/>
          </p:nvSpPr>
          <p:spPr>
            <a:xfrm>
              <a:off x="1231900" y="3606800"/>
              <a:ext cx="2400300" cy="8509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r>
                <a:rPr lang="en-US" sz="2400" dirty="0" err="1"/>
                <a:t>int</a:t>
              </a:r>
              <a:r>
                <a:rPr lang="en-US" sz="2400" dirty="0"/>
                <a:t> num1</a:t>
              </a:r>
            </a:p>
            <a:p>
              <a:r>
                <a:rPr lang="en-US" sz="2400" dirty="0" err="1"/>
                <a:t>int</a:t>
              </a:r>
              <a:r>
                <a:rPr lang="en-US" sz="2400" dirty="0"/>
                <a:t> num2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231900" y="4457700"/>
              <a:ext cx="2400300" cy="1444486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>
              <a:noAutofit/>
            </a:bodyPr>
            <a:lstStyle/>
            <a:p>
              <a:r>
                <a:rPr lang="en-US" sz="2400" dirty="0" err="1"/>
                <a:t>int</a:t>
              </a:r>
              <a:r>
                <a:rPr lang="en-US" sz="2400" dirty="0"/>
                <a:t> sum()</a:t>
              </a:r>
            </a:p>
            <a:p>
              <a:r>
                <a:rPr lang="en-US" sz="2400" dirty="0" err="1"/>
                <a:t>int</a:t>
              </a:r>
              <a:r>
                <a:rPr lang="en-US" sz="2400" dirty="0"/>
                <a:t> sub()</a:t>
              </a:r>
            </a:p>
            <a:p>
              <a:endParaRPr lang="en-US" sz="2400" dirty="0"/>
            </a:p>
            <a:p>
              <a:endParaRPr lang="en-US" sz="2400" dirty="0" err="1"/>
            </a:p>
          </p:txBody>
        </p:sp>
        <p:sp>
          <p:nvSpPr>
            <p:cNvPr id="6" name="Rectangle 5"/>
            <p:cNvSpPr/>
            <p:nvPr/>
          </p:nvSpPr>
          <p:spPr>
            <a:xfrm>
              <a:off x="4635500" y="3606800"/>
              <a:ext cx="2400300" cy="8509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endParaRPr lang="en-US" sz="2400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635500" y="4457700"/>
              <a:ext cx="2400300" cy="1444486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>
              <a:noAutofit/>
            </a:bodyPr>
            <a:lstStyle/>
            <a:p>
              <a:endParaRPr lang="en-US" sz="2400" dirty="0"/>
            </a:p>
            <a:p>
              <a:endParaRPr lang="en-US" sz="2400" dirty="0"/>
            </a:p>
            <a:p>
              <a:r>
                <a:rPr lang="en-US" sz="2400" dirty="0" err="1"/>
                <a:t>int</a:t>
              </a:r>
              <a:r>
                <a:rPr lang="en-US" sz="2400" dirty="0"/>
                <a:t> </a:t>
              </a:r>
              <a:r>
                <a:rPr lang="en-US" sz="2400" dirty="0" err="1"/>
                <a:t>mul</a:t>
              </a:r>
              <a:r>
                <a:rPr lang="en-US" sz="2400" dirty="0"/>
                <a:t>()</a:t>
              </a:r>
            </a:p>
            <a:p>
              <a:r>
                <a:rPr lang="en-US" sz="2400" dirty="0" err="1"/>
                <a:t>int</a:t>
              </a:r>
              <a:r>
                <a:rPr lang="en-US" sz="2400" dirty="0"/>
                <a:t> div()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8039100" y="3606800"/>
              <a:ext cx="2400300" cy="85090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r>
                <a:rPr lang="en-US" sz="2400" dirty="0" err="1"/>
                <a:t>int</a:t>
              </a:r>
              <a:r>
                <a:rPr lang="en-US" sz="2400" dirty="0"/>
                <a:t> num1</a:t>
              </a:r>
            </a:p>
            <a:p>
              <a:r>
                <a:rPr lang="en-US" sz="2400" dirty="0" err="1"/>
                <a:t>int</a:t>
              </a:r>
              <a:r>
                <a:rPr lang="en-US" sz="2400" dirty="0"/>
                <a:t> num2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8039100" y="4457700"/>
              <a:ext cx="2400300" cy="1444486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>
              <a:noAutofit/>
            </a:bodyPr>
            <a:lstStyle/>
            <a:p>
              <a:r>
                <a:rPr lang="en-US" sz="2400" dirty="0" err="1"/>
                <a:t>int</a:t>
              </a:r>
              <a:r>
                <a:rPr lang="en-US" sz="2400" dirty="0"/>
                <a:t> sum()</a:t>
              </a:r>
            </a:p>
            <a:p>
              <a:r>
                <a:rPr lang="en-US" sz="2400" dirty="0" err="1"/>
                <a:t>int</a:t>
              </a:r>
              <a:r>
                <a:rPr lang="en-US" sz="2400" dirty="0"/>
                <a:t> sub()</a:t>
              </a:r>
            </a:p>
            <a:p>
              <a:r>
                <a:rPr lang="en-US" sz="2400" dirty="0" err="1"/>
                <a:t>int</a:t>
              </a:r>
              <a:r>
                <a:rPr lang="en-US" sz="2400" dirty="0"/>
                <a:t> </a:t>
              </a:r>
              <a:r>
                <a:rPr lang="en-US" sz="2400" dirty="0" err="1"/>
                <a:t>mul</a:t>
              </a:r>
              <a:r>
                <a:rPr lang="en-US" sz="2400" dirty="0"/>
                <a:t>()</a:t>
              </a:r>
            </a:p>
            <a:p>
              <a:r>
                <a:rPr lang="en-US" sz="2400" dirty="0" err="1"/>
                <a:t>int</a:t>
              </a:r>
              <a:r>
                <a:rPr lang="en-US" sz="2400" dirty="0"/>
                <a:t> div()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651000" y="3237468"/>
              <a:ext cx="11828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class Math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563507" y="3237468"/>
              <a:ext cx="23855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class </a:t>
              </a:r>
              <a:r>
                <a:rPr lang="en-US" dirty="0" err="1">
                  <a:solidFill>
                    <a:schemeClr val="bg1"/>
                  </a:solidFill>
                </a:rPr>
                <a:t>BetterMath</a:t>
              </a:r>
              <a:r>
                <a:rPr lang="en-US" dirty="0">
                  <a:solidFill>
                    <a:schemeClr val="bg1"/>
                  </a:solidFill>
                </a:rPr>
                <a:t>: Math</a:t>
              </a:r>
            </a:p>
          </p:txBody>
        </p:sp>
        <p:sp>
          <p:nvSpPr>
            <p:cNvPr id="14" name="Right Arrow 13"/>
            <p:cNvSpPr/>
            <p:nvPr/>
          </p:nvSpPr>
          <p:spPr>
            <a:xfrm flipH="1">
              <a:off x="3657600" y="4576970"/>
              <a:ext cx="945046" cy="54610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47500" lnSpcReduction="20000"/>
            </a:bodyPr>
            <a:lstStyle/>
            <a:p>
              <a:pPr algn="ctr"/>
              <a:r>
                <a:rPr lang="en-US" sz="2800" dirty="0"/>
                <a:t>Inherits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635893" y="3231634"/>
              <a:ext cx="28982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Capability of combined class.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0609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inheritance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to declare a class that inherits from another. </a:t>
            </a:r>
          </a:p>
        </p:txBody>
      </p:sp>
    </p:spTree>
    <p:extLst>
      <p:ext uri="{BB962C8B-B14F-4D97-AF65-F5344CB8AC3E}">
        <p14:creationId xmlns:p14="http://schemas.microsoft.com/office/powerpoint/2010/main" val="3798801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derived class inherits all the base class fields, properties and methods from the base class.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Most useful when:</a:t>
            </a:r>
          </a:p>
          <a:p>
            <a:pPr lvl="1"/>
            <a:r>
              <a:rPr lang="en-US" dirty="0"/>
              <a:t>You want to </a:t>
            </a:r>
            <a:r>
              <a:rPr lang="en-US" dirty="0">
                <a:solidFill>
                  <a:srgbClr val="00B0F0"/>
                </a:solidFill>
              </a:rPr>
              <a:t>extend</a:t>
            </a:r>
            <a:r>
              <a:rPr lang="en-US" dirty="0"/>
              <a:t> an existing classes functionality </a:t>
            </a:r>
          </a:p>
          <a:p>
            <a:pPr lvl="1"/>
            <a:r>
              <a:rPr lang="en-US" dirty="0"/>
              <a:t>You want to </a:t>
            </a:r>
            <a:r>
              <a:rPr lang="en-US" dirty="0">
                <a:solidFill>
                  <a:srgbClr val="00B0F0"/>
                </a:solidFill>
              </a:rPr>
              <a:t>re-use</a:t>
            </a:r>
            <a:r>
              <a:rPr lang="en-US" dirty="0"/>
              <a:t> functionality between multiple classes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726" y="2512000"/>
            <a:ext cx="6768548" cy="205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286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Syntax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09600" y="1656018"/>
            <a:ext cx="5483087" cy="449248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 the : operator to inherit from a base class</a:t>
            </a:r>
          </a:p>
          <a:p>
            <a:r>
              <a:rPr lang="en-US" dirty="0"/>
              <a:t>In this example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MyDerivedClass</a:t>
            </a:r>
            <a:r>
              <a:rPr lang="en-US" dirty="0"/>
              <a:t> inherits from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MyBaseClass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r>
              <a:rPr lang="en-US" dirty="0"/>
              <a:t>The child class called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MyDerivedClass</a:t>
            </a:r>
            <a:r>
              <a:rPr lang="en-US" dirty="0"/>
              <a:t> will have all the fields, properties and methods that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MyBaseClass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/>
              <a:t> has plus it’s own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258340" y="1656018"/>
            <a:ext cx="5324060" cy="45243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MyDerivedClass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MyBaseClass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functions and data members here 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853225" y="1720858"/>
            <a:ext cx="212988" cy="228600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55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Overriding Methods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how to override methods.</a:t>
            </a:r>
          </a:p>
        </p:txBody>
      </p:sp>
    </p:spTree>
    <p:extLst>
      <p:ext uri="{BB962C8B-B14F-4D97-AF65-F5344CB8AC3E}">
        <p14:creationId xmlns:p14="http://schemas.microsoft.com/office/powerpoint/2010/main" val="1590913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Overriding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use overriding to change the implementation of a base class method in the derived class.</a:t>
            </a:r>
          </a:p>
          <a:p>
            <a:r>
              <a:rPr lang="en-US" dirty="0"/>
              <a:t>Often used when we want a method to behave differently when called from a derived class.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932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199"/>
            <a:ext cx="10502900" cy="4492487"/>
          </a:xfrm>
        </p:spPr>
        <p:txBody>
          <a:bodyPr/>
          <a:lstStyle/>
          <a:p>
            <a:r>
              <a:rPr lang="en-US" dirty="0"/>
              <a:t>In order to override a method in a base class, that method must have been declared using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en-US" dirty="0"/>
              <a:t> keyword.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850900" y="3139439"/>
            <a:ext cx="100584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 class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MyBaseClass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virtual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VirtualMethod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"This method is virtual and defined in </a:t>
            </a:r>
            <a:r>
              <a:rPr lang="en-US" sz="20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MyBaseClass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2459567" y="3809930"/>
            <a:ext cx="1037155" cy="260420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242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199"/>
            <a:ext cx="10972800" cy="1828801"/>
          </a:xfrm>
        </p:spPr>
        <p:txBody>
          <a:bodyPr/>
          <a:lstStyle/>
          <a:p>
            <a:r>
              <a:rPr lang="en-US" dirty="0"/>
              <a:t>To override the base class method in the derived class use the override keyword.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1170" y="3568899"/>
            <a:ext cx="10471230" cy="203132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MyDerivedClass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MyBaseClass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IInterface1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IInterface2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override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VirtualMethod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"This method is an override defined in 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MyDerivedClass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56526" y="4150823"/>
            <a:ext cx="1061720" cy="284162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613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polymorphism.</a:t>
            </a:r>
          </a:p>
        </p:txBody>
      </p:sp>
    </p:spTree>
    <p:extLst>
      <p:ext uri="{BB962C8B-B14F-4D97-AF65-F5344CB8AC3E}">
        <p14:creationId xmlns:p14="http://schemas.microsoft.com/office/powerpoint/2010/main" val="431726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Liskov's</a:t>
            </a:r>
            <a:r>
              <a:rPr lang="en-US" dirty="0"/>
              <a:t> Substitution Principle(LSP):</a:t>
            </a:r>
          </a:p>
          <a:p>
            <a:pPr marL="0" indent="0" algn="ctr">
              <a:buNone/>
            </a:pPr>
            <a:r>
              <a:rPr lang="en-US" dirty="0"/>
              <a:t> “Derived types must be completely substitutable for their base types.”</a:t>
            </a:r>
          </a:p>
          <a:p>
            <a:r>
              <a:rPr lang="en-US" dirty="0"/>
              <a:t>You can assign a derived class object into a variable declared as any base class type.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869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Hiding methods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differences between hiding and overriding. </a:t>
            </a:r>
          </a:p>
        </p:txBody>
      </p:sp>
    </p:spTree>
    <p:extLst>
      <p:ext uri="{BB962C8B-B14F-4D97-AF65-F5344CB8AC3E}">
        <p14:creationId xmlns:p14="http://schemas.microsoft.com/office/powerpoint/2010/main" val="1598178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Hiding Methods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method is declared with the same name in the derived class as the base we say that the derived class method is "hiding“ the derived class method. </a:t>
            </a:r>
          </a:p>
          <a:p>
            <a:r>
              <a:rPr lang="en-US" u="sng" dirty="0"/>
              <a:t>This is not the same as overriding! </a:t>
            </a:r>
          </a:p>
          <a:p>
            <a:r>
              <a:rPr lang="en-US" dirty="0"/>
              <a:t>For a method to override, the base class method must be declared as virtual and the derived class method must be declared using the override keyword.</a:t>
            </a:r>
          </a:p>
        </p:txBody>
      </p:sp>
    </p:spTree>
    <p:extLst>
      <p:ext uri="{BB962C8B-B14F-4D97-AF65-F5344CB8AC3E}">
        <p14:creationId xmlns:p14="http://schemas.microsoft.com/office/powerpoint/2010/main" val="1921273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Properties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how to override properties.</a:t>
            </a:r>
          </a:p>
        </p:txBody>
      </p:sp>
    </p:spTree>
    <p:extLst>
      <p:ext uri="{BB962C8B-B14F-4D97-AF65-F5344CB8AC3E}">
        <p14:creationId xmlns:p14="http://schemas.microsoft.com/office/powerpoint/2010/main" val="1013003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199"/>
            <a:ext cx="5277633" cy="4492487"/>
          </a:xfrm>
        </p:spPr>
        <p:txBody>
          <a:bodyPr/>
          <a:lstStyle/>
          <a:p>
            <a:r>
              <a:rPr lang="en-US" dirty="0"/>
              <a:t>Properties are essentially methods.</a:t>
            </a:r>
          </a:p>
          <a:p>
            <a:r>
              <a:rPr lang="en-US" dirty="0"/>
              <a:t>You can also declare a property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en-US" dirty="0"/>
              <a:t> so that it can be overridden in a derived class.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76709" y="1600199"/>
            <a:ext cx="5309450" cy="45243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virtual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 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 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7305948" y="2373258"/>
            <a:ext cx="1241151" cy="340310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6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Base Class Methods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to call base class methods.</a:t>
            </a:r>
          </a:p>
        </p:txBody>
      </p:sp>
    </p:spTree>
    <p:extLst>
      <p:ext uri="{BB962C8B-B14F-4D97-AF65-F5344CB8AC3E}">
        <p14:creationId xmlns:p14="http://schemas.microsoft.com/office/powerpoint/2010/main" val="2726680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Base Class Methods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call base class methods from the derived class by using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  <a:r>
              <a:rPr lang="en-US" dirty="0"/>
              <a:t> keyword.</a:t>
            </a:r>
          </a:p>
          <a:p>
            <a:r>
              <a:rPr lang="en-US" dirty="0"/>
              <a:t>Syntax:</a:t>
            </a: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417962" y="3582265"/>
            <a:ext cx="499688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base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.&lt;</a:t>
            </a:r>
            <a:r>
              <a:rPr lang="en-US" sz="3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MethodName</a:t>
            </a:r>
            <a:r>
              <a:rPr lang="en-US" sz="3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&gt;()</a:t>
            </a:r>
            <a:endParaRPr lang="en-US" sz="3600" dirty="0"/>
          </a:p>
        </p:txBody>
      </p:sp>
      <p:sp>
        <p:nvSpPr>
          <p:cNvPr id="8" name="Rounded Rectangular Callout 7"/>
          <p:cNvSpPr/>
          <p:nvPr/>
        </p:nvSpPr>
        <p:spPr>
          <a:xfrm>
            <a:off x="1769166" y="4641575"/>
            <a:ext cx="3051314" cy="1003852"/>
          </a:xfrm>
          <a:prstGeom prst="wedgeRoundRectCallout">
            <a:avLst>
              <a:gd name="adj1" fmla="val 35884"/>
              <a:gd name="adj2" fmla="val -97304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2400" dirty="0"/>
              <a:t>Keyword “base” refers to the base class.</a:t>
            </a:r>
          </a:p>
        </p:txBody>
      </p:sp>
      <p:sp>
        <p:nvSpPr>
          <p:cNvPr id="10" name="Rounded Rectangular Callout 9"/>
          <p:cNvSpPr/>
          <p:nvPr/>
        </p:nvSpPr>
        <p:spPr>
          <a:xfrm>
            <a:off x="5867401" y="4654826"/>
            <a:ext cx="2663687" cy="1013791"/>
          </a:xfrm>
          <a:prstGeom prst="wedgeRoundRectCallout">
            <a:avLst>
              <a:gd name="adj1" fmla="val -43221"/>
              <a:gd name="adj2" fmla="val -90442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sz="2800" dirty="0"/>
              <a:t>Name of method in base class.</a:t>
            </a:r>
          </a:p>
        </p:txBody>
      </p:sp>
    </p:spTree>
    <p:extLst>
      <p:ext uri="{BB962C8B-B14F-4D97-AF65-F5344CB8AC3E}">
        <p14:creationId xmlns:p14="http://schemas.microsoft.com/office/powerpoint/2010/main" val="1550882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Base Class </a:t>
            </a:r>
            <a:r>
              <a:rPr lang="en-US" dirty="0" err="1"/>
              <a:t>Mehods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199"/>
            <a:ext cx="4368800" cy="449248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Base class method in this instance is declared as virtual.</a:t>
            </a:r>
          </a:p>
          <a:p>
            <a:r>
              <a:rPr lang="en-US" dirty="0"/>
              <a:t>Derived class method overrides base class method.</a:t>
            </a:r>
          </a:p>
          <a:p>
            <a:r>
              <a:rPr lang="en-US" dirty="0"/>
              <a:t>Calling the base class method allows us to reuse the base class’ functionality.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21300" y="1600199"/>
            <a:ext cx="5811078" cy="45243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CustomerAccount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virtual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decimal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CalculatePrice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implementation return 0.0M; 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GoldAccount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CustomerAccount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override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decimal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CalculatePrice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base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.CalculatePrice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* 0.9M;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8021431" y="2400442"/>
            <a:ext cx="1620078" cy="2634976"/>
            <a:chOff x="8796131" y="2383880"/>
            <a:chExt cx="1620078" cy="2634976"/>
          </a:xfrm>
        </p:grpSpPr>
        <p:sp>
          <p:nvSpPr>
            <p:cNvPr id="5" name="Right Arrow 4"/>
            <p:cNvSpPr/>
            <p:nvPr/>
          </p:nvSpPr>
          <p:spPr>
            <a:xfrm rot="17566001">
              <a:off x="8143447" y="3589173"/>
              <a:ext cx="2634976" cy="224390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en-US" sz="28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796131" y="3110948"/>
              <a:ext cx="1620078" cy="646331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Calls base class method!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6742327" y="2182925"/>
            <a:ext cx="951278" cy="284162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775091" y="4382430"/>
            <a:ext cx="1060810" cy="284162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309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Demo/Code Walkthrough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963087" y="2107580"/>
            <a:ext cx="8180916" cy="337882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Demonstrate how to declare a class that inherits from another. </a:t>
            </a:r>
          </a:p>
          <a:p>
            <a:r>
              <a:rPr lang="en-US" dirty="0"/>
              <a:t>Demonstrate calling base class methods. </a:t>
            </a:r>
          </a:p>
          <a:p>
            <a:r>
              <a:rPr lang="en-US" dirty="0"/>
              <a:t>Demonstrate how to declare and override virtual methods.</a:t>
            </a:r>
          </a:p>
          <a:p>
            <a:r>
              <a:rPr lang="en-US" dirty="0"/>
              <a:t>Demonstrate polymorphism.</a:t>
            </a:r>
          </a:p>
          <a:p>
            <a:r>
              <a:rPr lang="en-US" dirty="0"/>
              <a:t>Demonstrate differences between hiding and overriding. </a:t>
            </a:r>
          </a:p>
          <a:p>
            <a:r>
              <a:rPr lang="en-US" dirty="0"/>
              <a:t>Demonstrate how to define virtual properties. </a:t>
            </a:r>
          </a:p>
        </p:txBody>
      </p:sp>
    </p:spTree>
    <p:extLst>
      <p:ext uri="{BB962C8B-B14F-4D97-AF65-F5344CB8AC3E}">
        <p14:creationId xmlns:p14="http://schemas.microsoft.com/office/powerpoint/2010/main" val="5258751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inheritance?</a:t>
            </a:r>
          </a:p>
          <a:p>
            <a:r>
              <a:rPr lang="en-US" dirty="0"/>
              <a:t>Implementation inheritance</a:t>
            </a:r>
          </a:p>
          <a:p>
            <a:r>
              <a:rPr lang="en-US" dirty="0"/>
              <a:t>Overriding Methods</a:t>
            </a:r>
          </a:p>
          <a:p>
            <a:r>
              <a:rPr lang="en-US" dirty="0"/>
              <a:t>Polymorphism</a:t>
            </a:r>
          </a:p>
          <a:p>
            <a:r>
              <a:rPr lang="en-US" dirty="0"/>
              <a:t>Hiding Methods</a:t>
            </a:r>
          </a:p>
          <a:p>
            <a:r>
              <a:rPr lang="en-US" dirty="0"/>
              <a:t>Virtual Properties</a:t>
            </a:r>
          </a:p>
          <a:p>
            <a:r>
              <a:rPr lang="en-US" dirty="0"/>
              <a:t>Calling Base Class Methods</a:t>
            </a:r>
          </a:p>
        </p:txBody>
      </p:sp>
    </p:spTree>
    <p:extLst>
      <p:ext uri="{BB962C8B-B14F-4D97-AF65-F5344CB8AC3E}">
        <p14:creationId xmlns:p14="http://schemas.microsoft.com/office/powerpoint/2010/main" val="24394434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pzVjXQSP3txl9tStYhIb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R9RHz8homAIDNvLlc10p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pzVjXQSP3txl9tStYhIb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R9RHz8homAIDNvLlc10p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pzVjXQSP3txl9tStYhIb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R9RHz8homAIDNvLlc10pT"/>
</p:tagLst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STEMulusThem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 Black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 anchorCtr="1">
        <a:normAutofit fontScale="85000" lnSpcReduction="10000"/>
      </a:bodyPr>
      <a:lstStyle>
        <a:defPPr>
          <a:defRPr sz="6000" dirty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TEMulusTheme" id="{7D2F087C-814B-478C-8874-D946BB7E8194}" vid="{40A4879B-240E-4393-A31F-DCAD88D9BDF3}"/>
    </a:ext>
  </a:extLst>
</a:theme>
</file>

<file path=ppt/theme/theme2.xml><?xml version="1.0" encoding="utf-8"?>
<a:theme xmlns:a="http://schemas.openxmlformats.org/drawingml/2006/main" name="GenericThem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 Black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normAutofit fontScale="47500" lnSpcReduction="20000"/>
      </a:bodyPr>
      <a:lstStyle>
        <a:defPPr algn="ctr">
          <a:defRPr sz="2800" dirty="0" smtClean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GenericTheme" id="{05FD65AE-DB87-4839-B04A-C3F3B9C91C6E}" vid="{73340265-D181-4240-AB7E-F31EC520ECCF}"/>
    </a:ext>
  </a:extLst>
</a:theme>
</file>

<file path=ppt/theme/theme3.xml><?xml version="1.0" encoding="utf-8"?>
<a:theme xmlns:a="http://schemas.openxmlformats.org/drawingml/2006/main" name="FibThem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 Black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normAutofit fontScale="47500" lnSpcReduction="20000"/>
      </a:bodyPr>
      <a:lstStyle>
        <a:defPPr algn="ctr">
          <a:defRPr sz="2800" dirty="0" smtClean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ibTheme" id="{42310378-7C67-4D39-BE8C-4B5D7B7C9646}" vid="{D62DC210-79D2-435F-90C7-822FFC9D4BD4}"/>
    </a:ext>
  </a:extLst>
</a:theme>
</file>

<file path=ppt/theme/theme4.xml><?xml version="1.0" encoding="utf-8"?>
<a:theme xmlns:a="http://schemas.openxmlformats.org/drawingml/2006/main" name="1_Fib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2060"/>
      </a:accent1>
      <a:accent2>
        <a:srgbClr val="8496B0"/>
      </a:accent2>
      <a:accent3>
        <a:srgbClr val="8496B0"/>
      </a:accent3>
      <a:accent4>
        <a:srgbClr val="ADB9CA"/>
      </a:accent4>
      <a:accent5>
        <a:srgbClr val="D6DCE4"/>
      </a:accent5>
      <a:accent6>
        <a:srgbClr val="D6DCE4"/>
      </a:accent6>
      <a:hlink>
        <a:srgbClr val="0070C0"/>
      </a:hlink>
      <a:folHlink>
        <a:srgbClr val="7030A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bTheme" id="{FB228B94-9174-4A84-8B9C-56843C22FF37}" vid="{498E3D67-B2F1-4125-9069-AEB53E6EAC1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STEMulusTheme</Template>
  <TotalTime>11836</TotalTime>
  <Words>768</Words>
  <Application>Microsoft Office PowerPoint</Application>
  <PresentationFormat>Widescreen</PresentationFormat>
  <Paragraphs>165</Paragraphs>
  <Slides>22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22</vt:i4>
      </vt:variant>
    </vt:vector>
  </HeadingPairs>
  <TitlesOfParts>
    <vt:vector size="37" baseType="lpstr">
      <vt:lpstr>Arial Unicode MS</vt:lpstr>
      <vt:lpstr>Arial</vt:lpstr>
      <vt:lpstr>Arial Black</vt:lpstr>
      <vt:lpstr>Arial Narrow</vt:lpstr>
      <vt:lpstr>Calibri</vt:lpstr>
      <vt:lpstr>Cambria</vt:lpstr>
      <vt:lpstr>Consolas</vt:lpstr>
      <vt:lpstr>Courier New</vt:lpstr>
      <vt:lpstr>Edwardian Script ITC</vt:lpstr>
      <vt:lpstr>Webdings</vt:lpstr>
      <vt:lpstr>Wingdings</vt:lpstr>
      <vt:lpstr>STEMulusTheme</vt:lpstr>
      <vt:lpstr>GenericTheme</vt:lpstr>
      <vt:lpstr>FibTheme</vt:lpstr>
      <vt:lpstr>1_FibTheme</vt:lpstr>
      <vt:lpstr>Inheritance</vt:lpstr>
      <vt:lpstr>Overview</vt:lpstr>
      <vt:lpstr>What is inheritance?</vt:lpstr>
      <vt:lpstr>What is Inheritance?</vt:lpstr>
      <vt:lpstr>Implementation inheritance</vt:lpstr>
      <vt:lpstr>Implementation Inheritance</vt:lpstr>
      <vt:lpstr>Inheritance Syntax</vt:lpstr>
      <vt:lpstr>Overriding Methods</vt:lpstr>
      <vt:lpstr>Overriding Methods</vt:lpstr>
      <vt:lpstr>Virtual Methods</vt:lpstr>
      <vt:lpstr>Virtual Methods</vt:lpstr>
      <vt:lpstr>Polymorphism</vt:lpstr>
      <vt:lpstr>Polymorphism</vt:lpstr>
      <vt:lpstr>Hiding methods</vt:lpstr>
      <vt:lpstr>Hiding Methods </vt:lpstr>
      <vt:lpstr>Virtual Properties</vt:lpstr>
      <vt:lpstr>Virtual Properties</vt:lpstr>
      <vt:lpstr>Calling Base Class Methods</vt:lpstr>
      <vt:lpstr>Calling Base Class Methods</vt:lpstr>
      <vt:lpstr>Calling Base Class Mehods</vt:lpstr>
      <vt:lpstr>Demo/Code Walkthrough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Robert Garner</cp:lastModifiedBy>
  <cp:revision>236</cp:revision>
  <dcterms:created xsi:type="dcterms:W3CDTF">2015-05-10T23:35:32Z</dcterms:created>
  <dcterms:modified xsi:type="dcterms:W3CDTF">2017-01-05T03:11:10Z</dcterms:modified>
</cp:coreProperties>
</file>